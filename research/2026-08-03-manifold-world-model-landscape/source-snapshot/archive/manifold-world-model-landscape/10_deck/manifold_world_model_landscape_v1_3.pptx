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8c3b0f9af411d" /><Relationship Type="http://schemas.openxmlformats.org/officeDocument/2006/relationships/extended-properties" Target="/docProps/app.xml" Id="R9edebdbc06ed4842" /><Relationship Type="http://schemas.openxmlformats.org/officeDocument/2006/relationships/officeDocument" Target="/ppt/presentation.xml" Id="Raeb19682fa30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e8b02844c40c8"/>
  </p:sldMasterIdLst>
  <p:notesMasterIdLst>
    <p:notesMasterId xmlns:r="http://schemas.openxmlformats.org/officeDocument/2006/relationships" r:id="R7e564170993a4bbe"/>
  </p:notesMasterIdLst>
  <p:sldIdLst>
    <p:sldId xmlns:r="http://schemas.openxmlformats.org/officeDocument/2006/relationships" id="256" r:id="R321b0c2a748a4dce"/>
    <p:sldId xmlns:r="http://schemas.openxmlformats.org/officeDocument/2006/relationships" id="257" r:id="R2172df63492f4e20"/>
    <p:sldId xmlns:r="http://schemas.openxmlformats.org/officeDocument/2006/relationships" id="258" r:id="R0f1b88529a3741e6"/>
    <p:sldId xmlns:r="http://schemas.openxmlformats.org/officeDocument/2006/relationships" id="259" r:id="R53e69707a9a44156"/>
    <p:sldId xmlns:r="http://schemas.openxmlformats.org/officeDocument/2006/relationships" id="260" r:id="R901304b44a544539"/>
    <p:sldId xmlns:r="http://schemas.openxmlformats.org/officeDocument/2006/relationships" id="261" r:id="R4760d2a22e044da6"/>
    <p:sldId xmlns:r="http://schemas.openxmlformats.org/officeDocument/2006/relationships" id="262" r:id="R3b088d1cd2e74fde"/>
    <p:sldId xmlns:r="http://schemas.openxmlformats.org/officeDocument/2006/relationships" id="263" r:id="Rfb62fec09cc14a25"/>
    <p:sldId xmlns:r="http://schemas.openxmlformats.org/officeDocument/2006/relationships" id="264" r:id="R50972192fe434160"/>
    <p:sldId xmlns:r="http://schemas.openxmlformats.org/officeDocument/2006/relationships" id="265" r:id="R7880d4c2cd1342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3eb223aa6641c6" /><Relationship Type="http://schemas.openxmlformats.org/officeDocument/2006/relationships/slideMaster" Target="/ppt/slideMasters/slideMaster1.xml" Id="R7e5e8b02844c40c8" /><Relationship Type="http://schemas.openxmlformats.org/officeDocument/2006/relationships/notesMaster" Target="/ppt/notesMasters/notesMaster1.xml" Id="R7e564170993a4bbe" /><Relationship Type="http://schemas.openxmlformats.org/officeDocument/2006/relationships/presProps" Target="/ppt/presProps.xml" Id="R218b5a8d2964471e" /><Relationship Type="http://schemas.openxmlformats.org/officeDocument/2006/relationships/tableStyles" Target="/ppt/tableStyles.xml" Id="R50be1c4b8ef54791" /><Relationship Type="http://schemas.openxmlformats.org/officeDocument/2006/relationships/slide" Target="/ppt/slides/slide1.xml" Id="R321b0c2a748a4dce" /><Relationship Type="http://schemas.openxmlformats.org/officeDocument/2006/relationships/slide" Target="/ppt/slides/slide2.xml" Id="R2172df63492f4e20" /><Relationship Type="http://schemas.openxmlformats.org/officeDocument/2006/relationships/slide" Target="/ppt/slides/slide3.xml" Id="R0f1b88529a3741e6" /><Relationship Type="http://schemas.openxmlformats.org/officeDocument/2006/relationships/slide" Target="/ppt/slides/slide4.xml" Id="R53e69707a9a44156" /><Relationship Type="http://schemas.openxmlformats.org/officeDocument/2006/relationships/slide" Target="/ppt/slides/slide5.xml" Id="R901304b44a544539" /><Relationship Type="http://schemas.openxmlformats.org/officeDocument/2006/relationships/slide" Target="/ppt/slides/slide6.xml" Id="R4760d2a22e044da6" /><Relationship Type="http://schemas.openxmlformats.org/officeDocument/2006/relationships/slide" Target="/ppt/slides/slide7.xml" Id="R3b088d1cd2e74fde" /><Relationship Type="http://schemas.openxmlformats.org/officeDocument/2006/relationships/slide" Target="/ppt/slides/slide8.xml" Id="Rfb62fec09cc14a25" /><Relationship Type="http://schemas.openxmlformats.org/officeDocument/2006/relationships/slide" Target="/ppt/slides/slide9.xml" Id="R50972192fe434160" /><Relationship Type="http://schemas.openxmlformats.org/officeDocument/2006/relationships/slide" Target="/ppt/slides/slide10.xml" Id="R7880d4c2cd1342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ef219ce95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92e1b59ab4a12" /><Relationship Type="http://schemas.openxmlformats.org/officeDocument/2006/relationships/notesMaster" Target="/ppt/notesMasters/notesMaster1.xml" Id="Rb70bdcd48bfb42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ac9fd1ed1c4ae0" /><Relationship Type="http://schemas.openxmlformats.org/officeDocument/2006/relationships/notesMaster" Target="/ppt/notesMasters/notesMaster1.xml" Id="Rdb69fddf237d49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b47807ba9c40af" /><Relationship Type="http://schemas.openxmlformats.org/officeDocument/2006/relationships/notesMaster" Target="/ppt/notesMasters/notesMaster1.xml" Id="Ra15773fb908a4c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4296d82b34fcd" /><Relationship Type="http://schemas.openxmlformats.org/officeDocument/2006/relationships/notesMaster" Target="/ppt/notesMasters/notesMaster1.xml" Id="Ra8698253a1cb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c4ec93df934ea9" /><Relationship Type="http://schemas.openxmlformats.org/officeDocument/2006/relationships/notesMaster" Target="/ppt/notesMasters/notesMaster1.xml" Id="R9f4eac33ce4b4c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873e436864bbd" /><Relationship Type="http://schemas.openxmlformats.org/officeDocument/2006/relationships/notesMaster" Target="/ppt/notesMasters/notesMaster1.xml" Id="Raa28e35fcd3b4f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ed43e5dd68449c" /><Relationship Type="http://schemas.openxmlformats.org/officeDocument/2006/relationships/notesMaster" Target="/ppt/notesMasters/notesMaster1.xml" Id="R5aa4ca64f865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e39ddf31a4c41" /><Relationship Type="http://schemas.openxmlformats.org/officeDocument/2006/relationships/notesMaster" Target="/ppt/notesMasters/notesMaster1.xml" Id="Ra0d0cac89883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f29b736aa14194" /><Relationship Type="http://schemas.openxmlformats.org/officeDocument/2006/relationships/notesMaster" Target="/ppt/notesMasters/notesMaster1.xml" Id="R93c3ef7e8e6f4b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f850ce9690435b" /><Relationship Type="http://schemas.openxmlformats.org/officeDocument/2006/relationships/notesMaster" Target="/ppt/notesMasters/notesMaster1.xml" Id="R9516257488c848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7e32c058d4e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7eda0ef73b4ced" /><Relationship Type="http://schemas.openxmlformats.org/officeDocument/2006/relationships/slideLayout" Target="/ppt/slideLayouts/slideLayout1.xml" Id="R788221f14a3b43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221f14a3b43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864d393744d82" /><Relationship Type="http://schemas.openxmlformats.org/officeDocument/2006/relationships/notesSlide" Target="/ppt/notesSlides/notesSlide1.xml" Id="R60969ab27b21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ce4619a5a419d" /><Relationship Type="http://schemas.openxmlformats.org/officeDocument/2006/relationships/notesSlide" Target="/ppt/notesSlides/notesSlide2.xml" Id="R0513ebc225224f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622f89af543f4" /><Relationship Type="http://schemas.openxmlformats.org/officeDocument/2006/relationships/notesSlide" Target="/ppt/notesSlides/notesSlide3.xml" Id="Rbc03d16b75ba4a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6fd98412b4839" /><Relationship Type="http://schemas.openxmlformats.org/officeDocument/2006/relationships/notesSlide" Target="/ppt/notesSlides/notesSlide4.xml" Id="Rd9d5a0e4fd6349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3076aa42b4360" /><Relationship Type="http://schemas.openxmlformats.org/officeDocument/2006/relationships/notesSlide" Target="/ppt/notesSlides/notesSlide5.xml" Id="R954b55e3909944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7f78be1e349e7" /><Relationship Type="http://schemas.openxmlformats.org/officeDocument/2006/relationships/notesSlide" Target="/ppt/notesSlides/notesSlide6.xml" Id="R10538246900c45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07dc3fe1c475e" /><Relationship Type="http://schemas.openxmlformats.org/officeDocument/2006/relationships/notesSlide" Target="/ppt/notesSlides/notesSlide7.xml" Id="R34b001e57baa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f2b7b49c744bc" /><Relationship Type="http://schemas.openxmlformats.org/officeDocument/2006/relationships/notesSlide" Target="/ppt/notesSlides/notesSlide8.xml" Id="Rd4379b9c815347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99f01cad04e7d" /><Relationship Type="http://schemas.openxmlformats.org/officeDocument/2006/relationships/notesSlide" Target="/ppt/notesSlides/notesSlide9.xml" Id="R34a5f10a206a41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35a933ef5443a" /><Relationship Type="http://schemas.openxmlformats.org/officeDocument/2006/relationships/notesSlide" Target="/ppt/notesSlides/notesSlide10.xml" Id="Rb36423b9c19a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-report">
            <a:extLst xmlns:a="http://schemas.openxmlformats.org/drawingml/2006/main">
              <a:ext uri="{FF2B5EF4-FFF2-40B4-BE49-F238E27FC236}">
                <a16:creationId xmlns:a16="http://schemas.microsoft.com/office/drawing/2014/main" id="{B8DFEF75-4F37-4A72-8867-ED386B42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158240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MANIFOLD · 非中国世界模型竞争格局</a:t>
            </a:r>
          </a:p>
        </p:txBody>
      </p:sp>
      <p:sp>
        <p:nvSpPr>
          <p:cNvPr id="2" name="p1-date">
            <a:extLst xmlns:a="http://schemas.openxmlformats.org/drawingml/2006/main">
              <a:ext uri="{FF2B5EF4-FFF2-40B4-BE49-F238E27FC236}">
                <a16:creationId xmlns:a16="http://schemas.microsoft.com/office/drawing/2014/main" id="{D2455435-B50F-48E3-AC14-EC8F8B6A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"/>
            <a:ext cx="342900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五类重点路径 · 12–24 个月</a:t>
            </a:r>
          </a:p>
        </p:txBody>
      </p:sp>
      <p:sp>
        <p:nvSpPr>
          <p:cNvPr id="3" name="p1-top-rule">
            <a:extLst xmlns:a="http://schemas.openxmlformats.org/drawingml/2006/main">
              <a:ext uri="{FF2B5EF4-FFF2-40B4-BE49-F238E27FC236}">
                <a16:creationId xmlns:a16="http://schemas.microsoft.com/office/drawing/2014/main" id="{29F25E9B-4645-4F21-93BF-FD18DB7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" name="p1-answer-tag">
            <a:extLst xmlns:a="http://schemas.openxmlformats.org/drawingml/2006/main">
              <a:ext uri="{FF2B5EF4-FFF2-40B4-BE49-F238E27FC236}">
                <a16:creationId xmlns:a16="http://schemas.microsoft.com/office/drawing/2014/main" id="{7D203D80-E663-4874-B23C-A3143B87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1582400" cy="592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EXECUTIVE ANSWER</a:t>
            </a:r>
          </a:p>
        </p:txBody>
      </p:sp>
      <p:sp>
        <p:nvSpPr>
          <p:cNvPr id="5" name="p1-title">
            <a:extLst xmlns:a="http://schemas.openxmlformats.org/drawingml/2006/main">
              <a:ext uri="{FF2B5EF4-FFF2-40B4-BE49-F238E27FC236}">
                <a16:creationId xmlns:a16="http://schemas.microsoft.com/office/drawing/2014/main" id="{95E81F3E-A411-4954-8BDE-9017FE1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582400" cy="560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海外世界模型已经从模型演示
走向三种交付方式</a:t>
            </a:r>
          </a:p>
        </p:txBody>
      </p:sp>
      <p:sp>
        <p:nvSpPr>
          <p:cNvPr id="6" name="p1-answer">
            <a:extLst xmlns:a="http://schemas.openxmlformats.org/drawingml/2006/main">
              <a:ext uri="{FF2B5EF4-FFF2-40B4-BE49-F238E27FC236}">
                <a16:creationId xmlns:a16="http://schemas.microsoft.com/office/drawing/2014/main" id="{A33F1A9C-9418-4853-8DAB-030B09EC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158240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公开计价接口、申请制入口和可下载 / 自托管组件已经出现；
但还没有公开证据证明任何一家进入客户确认的付费生产阶段。</a:t>
            </a:r>
          </a:p>
        </p:txBody>
      </p:sp>
      <p:sp>
        <p:nvSpPr>
          <p:cNvPr id="7" name="p1-band-0">
            <a:extLst xmlns:a="http://schemas.openxmlformats.org/drawingml/2006/main">
              <a:ext uri="{FF2B5EF4-FFF2-40B4-BE49-F238E27FC236}">
                <a16:creationId xmlns:a16="http://schemas.microsoft.com/office/drawing/2014/main" id="{C426D391-57C2-4686-8CA3-990B081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8" name="p1-band-mark-0">
            <a:extLst xmlns:a="http://schemas.openxmlformats.org/drawingml/2006/main">
              <a:ext uri="{FF2B5EF4-FFF2-40B4-BE49-F238E27FC236}">
                <a16:creationId xmlns:a16="http://schemas.microsoft.com/office/drawing/2014/main" id="{8F99E1EA-3C63-4C28-8F4B-DF8B0BD5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9" name="p1-band-head-0">
            <a:extLst xmlns:a="http://schemas.openxmlformats.org/drawingml/2006/main">
              <a:ext uri="{FF2B5EF4-FFF2-40B4-BE49-F238E27FC236}">
                <a16:creationId xmlns:a16="http://schemas.microsoft.com/office/drawing/2014/main" id="{62A95EF2-E11C-4414-9731-CA70F893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13157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三种路径
已经可见</a:t>
            </a:r>
          </a:p>
        </p:txBody>
      </p:sp>
      <p:sp>
        <p:nvSpPr>
          <p:cNvPr id="10" name="p1-band-body-0">
            <a:extLst xmlns:a="http://schemas.openxmlformats.org/drawingml/2006/main">
              <a:ext uri="{FF2B5EF4-FFF2-40B4-BE49-F238E27FC236}">
                <a16:creationId xmlns:a16="http://schemas.microsoft.com/office/drawing/2014/main" id="{32DF6D41-CAD0-483F-8465-A3F54D1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13157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按秒调用、申请访问、
自托管已经出现；
交付物不再只是模型演示。</a:t>
            </a:r>
          </a:p>
        </p:txBody>
      </p:sp>
      <p:sp>
        <p:nvSpPr>
          <p:cNvPr id="11" name="p1-band-1">
            <a:extLst xmlns:a="http://schemas.openxmlformats.org/drawingml/2006/main">
              <a:ext uri="{FF2B5EF4-FFF2-40B4-BE49-F238E27FC236}">
                <a16:creationId xmlns:a16="http://schemas.microsoft.com/office/drawing/2014/main" id="{406A361E-512B-4313-8CAA-A115B1EC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2" name="p1-band-mark-1">
            <a:extLst xmlns:a="http://schemas.openxmlformats.org/drawingml/2006/main">
              <a:ext uri="{FF2B5EF4-FFF2-40B4-BE49-F238E27FC236}">
                <a16:creationId xmlns:a16="http://schemas.microsoft.com/office/drawing/2014/main" id="{1B4CEE0D-6979-4854-831C-0CD481B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3" name="p1-band-head-1">
            <a:extLst xmlns:a="http://schemas.openxmlformats.org/drawingml/2006/main">
              <a:ext uri="{FF2B5EF4-FFF2-40B4-BE49-F238E27FC236}">
                <a16:creationId xmlns:a16="http://schemas.microsoft.com/office/drawing/2014/main" id="{42E1B51F-6012-4672-BB13-59CDB29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91050"/>
            <a:ext cx="76962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真正要比较的
是交付链</a:t>
            </a:r>
          </a:p>
        </p:txBody>
      </p:sp>
      <p:sp>
        <p:nvSpPr>
          <p:cNvPr id="14" name="p1-band-body-1">
            <a:extLst xmlns:a="http://schemas.openxmlformats.org/drawingml/2006/main">
              <a:ext uri="{FF2B5EF4-FFF2-40B4-BE49-F238E27FC236}">
                <a16:creationId xmlns:a16="http://schemas.microsoft.com/office/drawing/2014/main" id="{F3F687DC-06BC-499E-970B-3A6BDAD6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19700"/>
            <a:ext cx="76962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接口、运行时、部署方式
与权利边界共同决定：
能力能否真正落地。</a:t>
            </a:r>
          </a:p>
        </p:txBody>
      </p:sp>
      <p:sp>
        <p:nvSpPr>
          <p:cNvPr id="15" name="p1-band-2">
            <a:extLst xmlns:a="http://schemas.openxmlformats.org/drawingml/2006/main">
              <a:ext uri="{FF2B5EF4-FFF2-40B4-BE49-F238E27FC236}">
                <a16:creationId xmlns:a16="http://schemas.microsoft.com/office/drawing/2014/main" id="{FCB05742-566C-49D7-AC7A-1BCAC74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16" name="p1-band-mark-2">
            <a:extLst xmlns:a="http://schemas.openxmlformats.org/drawingml/2006/main">
              <a:ext uri="{FF2B5EF4-FFF2-40B4-BE49-F238E27FC236}">
                <a16:creationId xmlns:a16="http://schemas.microsoft.com/office/drawing/2014/main" id="{5F2D726E-59D0-4F71-851A-E3F25EBE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7" name="p1-band-head-2">
            <a:extLst xmlns:a="http://schemas.openxmlformats.org/drawingml/2006/main">
              <a:ext uri="{FF2B5EF4-FFF2-40B4-BE49-F238E27FC236}">
                <a16:creationId xmlns:a16="http://schemas.microsoft.com/office/drawing/2014/main" id="{905EF459-953D-46B1-9327-9350BD85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40767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公开证据仍
停在早期</a:t>
            </a:r>
          </a:p>
        </p:txBody>
      </p:sp>
      <p:sp>
        <p:nvSpPr>
          <p:cNvPr id="18" name="p1-band-body-2">
            <a:extLst xmlns:a="http://schemas.openxmlformats.org/drawingml/2006/main">
              <a:ext uri="{FF2B5EF4-FFF2-40B4-BE49-F238E27FC236}">
                <a16:creationId xmlns:a16="http://schemas.microsoft.com/office/drawing/2014/main" id="{D5E00F77-E96B-454B-B5A6-D2066B11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40767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现有案例多为供应商
或伙伴自报；客户第一方
生产采用仍未出现。</a:t>
            </a:r>
          </a:p>
        </p:txBody>
      </p:sp>
      <p:sp>
        <p:nvSpPr>
          <p:cNvPr id="19" name="p1-footer-rule">
            <a:extLst xmlns:a="http://schemas.openxmlformats.org/drawingml/2006/main">
              <a:ext uri="{FF2B5EF4-FFF2-40B4-BE49-F238E27FC236}">
                <a16:creationId xmlns:a16="http://schemas.microsoft.com/office/drawing/2014/main" id="{98E4EEC1-1A87-45A3-9EEB-A076E7D4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0" name="p1-footer-source">
            <a:extLst xmlns:a="http://schemas.openxmlformats.org/drawingml/2006/main">
              <a:ext uri="{FF2B5EF4-FFF2-40B4-BE49-F238E27FC236}">
                <a16:creationId xmlns:a16="http://schemas.microsoft.com/office/drawing/2014/main" id="{BBFA4C0E-02C9-488E-B7ED-C12035E7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公开来源：官方产品、API、价格、条款、公司/伙伴自报及独立体验</a:t>
            </a:r>
          </a:p>
        </p:txBody>
      </p:sp>
      <p:sp>
        <p:nvSpPr>
          <p:cNvPr id="21" name="p1-footer-page">
            <a:extLst xmlns:a="http://schemas.openxmlformats.org/drawingml/2006/main">
              <a:ext uri="{FF2B5EF4-FFF2-40B4-BE49-F238E27FC236}">
                <a16:creationId xmlns:a16="http://schemas.microsoft.com/office/drawing/2014/main" id="{5BB1F3C1-BB32-4058-9236-54EEB87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01</a:t>
            </a:r>
          </a:p>
        </p:txBody>
      </p:sp>
    </p:spTree>
    <p:extLst>
      <p:ext uri="{BB962C8B-B14F-4D97-AF65-F5344CB8AC3E}">
        <p14:creationId xmlns:p14="http://schemas.microsoft.com/office/powerpoint/2010/main" val="311581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2-eyebrow">
            <a:extLst xmlns:a="http://schemas.openxmlformats.org/drawingml/2006/main">
              <a:ext uri="{FF2B5EF4-FFF2-40B4-BE49-F238E27FC236}">
                <a16:creationId xmlns:a16="http://schemas.microsoft.com/office/drawing/2014/main" id="{FD9A58A2-56D1-4A21-92C6-3B035272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STRATEGIC LANDSCAPE</a:t>
            </a:r>
          </a:p>
        </p:txBody>
      </p:sp>
      <p:sp>
        <p:nvSpPr>
          <p:cNvPr id="2" name="p2-title">
            <a:extLst xmlns:a="http://schemas.openxmlformats.org/drawingml/2006/main">
              <a:ext uri="{FF2B5EF4-FFF2-40B4-BE49-F238E27FC236}">
                <a16:creationId xmlns:a16="http://schemas.microsoft.com/office/drawing/2014/main" id="{5EE9E6F4-55A1-4D5E-BF9E-C6B26D8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海外玩家分成三类世界形态，落点取决于任务与获得方式</a:t>
            </a:r>
          </a:p>
        </p:txBody>
      </p:sp>
      <p:sp>
        <p:nvSpPr>
          <p:cNvPr id="3" name="p2-subtitle">
            <a:extLst xmlns:a="http://schemas.openxmlformats.org/drawingml/2006/main">
              <a:ext uri="{FF2B5EF4-FFF2-40B4-BE49-F238E27FC236}">
                <a16:creationId xmlns:a16="http://schemas.microsoft.com/office/drawing/2014/main" id="{A87C1901-10F4-4C8E-9C6E-D5649DD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1582400" cy="58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公司名单在第一行，获得方式或关键限制在第二行；粗体色线为固定五席，○为观察对象。</a:t>
            </a:r>
          </a:p>
        </p:txBody>
      </p:sp>
      <p:sp>
        <p:nvSpPr>
          <p:cNvPr id="4" name="p2-col-bg-0">
            <a:extLst xmlns:a="http://schemas.openxmlformats.org/drawingml/2006/main">
              <a:ext uri="{FF2B5EF4-FFF2-40B4-BE49-F238E27FC236}">
                <a16:creationId xmlns:a16="http://schemas.microsoft.com/office/drawing/2014/main" id="{12D2DEFE-FD07-4F83-9EA3-07A3C11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1907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5" name="p2-col-accent-0">
            <a:extLst xmlns:a="http://schemas.openxmlformats.org/drawingml/2006/main">
              <a:ext uri="{FF2B5EF4-FFF2-40B4-BE49-F238E27FC236}">
                <a16:creationId xmlns:a16="http://schemas.microsoft.com/office/drawing/2014/main" id="{B40A7468-2768-44D1-BAD6-60B9F278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6" name="p2-col-head-0">
            <a:extLst xmlns:a="http://schemas.openxmlformats.org/drawingml/2006/main">
              <a:ext uri="{FF2B5EF4-FFF2-40B4-BE49-F238E27FC236}">
                <a16:creationId xmlns:a16="http://schemas.microsoft.com/office/drawing/2014/main" id="{79B74341-6067-4C42-91CD-B2CDA5C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141095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主要任务 /
交付位置</a:t>
            </a:r>
          </a:p>
        </p:txBody>
      </p:sp>
      <p:sp>
        <p:nvSpPr>
          <p:cNvPr id="7" name="p2-col-bg-1">
            <a:extLst xmlns:a="http://schemas.openxmlformats.org/drawingml/2006/main">
              <a:ext uri="{FF2B5EF4-FFF2-40B4-BE49-F238E27FC236}">
                <a16:creationId xmlns:a16="http://schemas.microsoft.com/office/drawing/2014/main" id="{08C8AD4D-DC65-4996-95B8-F9DDD85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27432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8" name="p2-col-accent-1">
            <a:extLst xmlns:a="http://schemas.openxmlformats.org/drawingml/2006/main">
              <a:ext uri="{FF2B5EF4-FFF2-40B4-BE49-F238E27FC236}">
                <a16:creationId xmlns:a16="http://schemas.microsoft.com/office/drawing/2014/main" id="{D6E9FCA6-BA73-4DBA-8E82-30E5FBFE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2743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9" name="p2-col-head-1">
            <a:extLst xmlns:a="http://schemas.openxmlformats.org/drawingml/2006/main">
              <a:ext uri="{FF2B5EF4-FFF2-40B4-BE49-F238E27FC236}">
                <a16:creationId xmlns:a16="http://schemas.microsoft.com/office/drawing/2014/main" id="{47E49351-999D-439C-B92D-1D74BFF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38300"/>
            <a:ext cx="922020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持久空间世界</a:t>
            </a:r>
          </a:p>
        </p:txBody>
      </p:sp>
      <p:sp>
        <p:nvSpPr>
          <p:cNvPr id="10" name="p2-col-bg-2">
            <a:extLst xmlns:a="http://schemas.openxmlformats.org/drawingml/2006/main">
              <a:ext uri="{FF2B5EF4-FFF2-40B4-BE49-F238E27FC236}">
                <a16:creationId xmlns:a16="http://schemas.microsoft.com/office/drawing/2014/main" id="{6D195830-2366-41BC-8310-AB6F7AA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31051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1" name="p2-col-accent-2">
            <a:extLst xmlns:a="http://schemas.openxmlformats.org/drawingml/2006/main">
              <a:ext uri="{FF2B5EF4-FFF2-40B4-BE49-F238E27FC236}">
                <a16:creationId xmlns:a16="http://schemas.microsoft.com/office/drawing/2014/main" id="{581EF923-CFBD-4911-9EF8-E2E4A73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2" name="p2-col-head-2">
            <a:extLst xmlns:a="http://schemas.openxmlformats.org/drawingml/2006/main">
              <a:ext uri="{FF2B5EF4-FFF2-40B4-BE49-F238E27FC236}">
                <a16:creationId xmlns:a16="http://schemas.microsoft.com/office/drawing/2014/main" id="{7E49793E-C604-4250-B95E-99364F38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38300"/>
            <a:ext cx="647700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实时交互世界流</a:t>
            </a:r>
          </a:p>
        </p:txBody>
      </p:sp>
      <p:sp>
        <p:nvSpPr>
          <p:cNvPr id="13" name="p2-col-bg-3">
            <a:extLst xmlns:a="http://schemas.openxmlformats.org/drawingml/2006/main">
              <a:ext uri="{FF2B5EF4-FFF2-40B4-BE49-F238E27FC236}">
                <a16:creationId xmlns:a16="http://schemas.microsoft.com/office/drawing/2014/main" id="{C8A38183-1221-4965-9769-E8B0093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29337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14" name="p2-col-accent-3">
            <a:extLst xmlns:a="http://schemas.openxmlformats.org/drawingml/2006/main">
              <a:ext uri="{FF2B5EF4-FFF2-40B4-BE49-F238E27FC236}">
                <a16:creationId xmlns:a16="http://schemas.microsoft.com/office/drawing/2014/main" id="{A0E576AB-4AB0-46BE-9715-C9C036A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2933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5" name="p2-col-head-3">
            <a:extLst xmlns:a="http://schemas.openxmlformats.org/drawingml/2006/main">
              <a:ext uri="{FF2B5EF4-FFF2-40B4-BE49-F238E27FC236}">
                <a16:creationId xmlns:a16="http://schemas.microsoft.com/office/drawing/2014/main" id="{52165649-2912-4B45-BA79-27A2823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38300"/>
            <a:ext cx="337185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动作条件物理智能组件</a:t>
            </a:r>
          </a:p>
        </p:txBody>
      </p:sp>
      <p:sp>
        <p:nvSpPr>
          <p:cNvPr id="16" name="p2-row-num-0">
            <a:extLst xmlns:a="http://schemas.openxmlformats.org/drawingml/2006/main">
              <a:ext uri="{FF2B5EF4-FFF2-40B4-BE49-F238E27FC236}">
                <a16:creationId xmlns:a16="http://schemas.microsoft.com/office/drawing/2014/main" id="{631894D2-D7BE-45CE-8657-BE84F4A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1410950" cy="459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17" name="p2-row-label-0">
            <a:extLst xmlns:a="http://schemas.openxmlformats.org/drawingml/2006/main">
              <a:ext uri="{FF2B5EF4-FFF2-40B4-BE49-F238E27FC236}">
                <a16:creationId xmlns:a16="http://schemas.microsoft.com/office/drawing/2014/main" id="{3C1A804A-127A-47A1-9F97-8ABCF7A4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10991850" cy="46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内容与探索</a:t>
            </a:r>
          </a:p>
        </p:txBody>
      </p:sp>
      <p:sp>
        <p:nvSpPr>
          <p:cNvPr id="18" name="p2-row-num-1">
            <a:extLst xmlns:a="http://schemas.openxmlformats.org/drawingml/2006/main">
              <a:ext uri="{FF2B5EF4-FFF2-40B4-BE49-F238E27FC236}">
                <a16:creationId xmlns:a16="http://schemas.microsoft.com/office/drawing/2014/main" id="{FA8AE78D-BA5D-4EC2-92F0-E8C1B9D9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14109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19" name="p2-row-label-1">
            <a:extLst xmlns:a="http://schemas.openxmlformats.org/drawingml/2006/main">
              <a:ext uri="{FF2B5EF4-FFF2-40B4-BE49-F238E27FC236}">
                <a16:creationId xmlns:a16="http://schemas.microsoft.com/office/drawing/2014/main" id="{ED3861FC-5782-4639-8019-6CC42F67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099185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开发者世界 /
仿真基础设施</a:t>
            </a:r>
          </a:p>
        </p:txBody>
      </p:sp>
      <p:sp>
        <p:nvSpPr>
          <p:cNvPr id="20" name="p2-row-num-2">
            <a:extLst xmlns:a="http://schemas.openxmlformats.org/drawingml/2006/main">
              <a:ext uri="{FF2B5EF4-FFF2-40B4-BE49-F238E27FC236}">
                <a16:creationId xmlns:a16="http://schemas.microsoft.com/office/drawing/2014/main" id="{8037F84E-5BC0-4BED-BE25-6773E52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14109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21" name="p2-row-label-2">
            <a:extLst xmlns:a="http://schemas.openxmlformats.org/drawingml/2006/main">
              <a:ext uri="{FF2B5EF4-FFF2-40B4-BE49-F238E27FC236}">
                <a16:creationId xmlns:a16="http://schemas.microsoft.com/office/drawing/2014/main" id="{9C8BB50B-3C9D-49D3-BB15-55A50F9D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109918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机器人规划
与控制</a:t>
            </a:r>
          </a:p>
        </p:txBody>
      </p:sp>
      <p:sp>
        <p:nvSpPr>
          <p:cNvPr id="22" name="p2-world-labs-mark">
            <a:extLst xmlns:a="http://schemas.openxmlformats.org/drawingml/2006/main">
              <a:ext uri="{FF2B5EF4-FFF2-40B4-BE49-F238E27FC236}">
                <a16:creationId xmlns:a16="http://schemas.microsoft.com/office/drawing/2014/main" id="{60332CA5-A4F8-4B87-956C-0165F158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3" name="p2-world-labs-name">
            <a:extLst xmlns:a="http://schemas.openxmlformats.org/drawingml/2006/main">
              <a:ext uri="{FF2B5EF4-FFF2-40B4-BE49-F238E27FC236}">
                <a16:creationId xmlns:a16="http://schemas.microsoft.com/office/drawing/2014/main" id="{C39B3CE2-1F24-40D8-8DE1-2535FDD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8953500" cy="424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24" name="p2-world-labs-detail">
            <a:extLst xmlns:a="http://schemas.openxmlformats.org/drawingml/2006/main">
              <a:ext uri="{FF2B5EF4-FFF2-40B4-BE49-F238E27FC236}">
                <a16:creationId xmlns:a16="http://schemas.microsoft.com/office/drawing/2014/main" id="{7B1003AD-DB28-4382-AF67-C8C23CFF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89535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25" name="p2-runway-mark">
            <a:extLst xmlns:a="http://schemas.openxmlformats.org/drawingml/2006/main">
              <a:ext uri="{FF2B5EF4-FFF2-40B4-BE49-F238E27FC236}">
                <a16:creationId xmlns:a16="http://schemas.microsoft.com/office/drawing/2014/main" id="{6B9C434D-7368-4B91-B2DD-1DE1B573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6" name="p2-runway-name">
            <a:extLst xmlns:a="http://schemas.openxmlformats.org/drawingml/2006/main">
              <a:ext uri="{FF2B5EF4-FFF2-40B4-BE49-F238E27FC236}">
                <a16:creationId xmlns:a16="http://schemas.microsoft.com/office/drawing/2014/main" id="{319B3C62-B6B4-4154-83F6-F9200458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6210300" cy="470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27" name="p2-runway-detail">
            <a:extLst xmlns:a="http://schemas.openxmlformats.org/drawingml/2006/main">
              <a:ext uri="{FF2B5EF4-FFF2-40B4-BE49-F238E27FC236}">
                <a16:creationId xmlns:a16="http://schemas.microsoft.com/office/drawing/2014/main" id="{8A035B9D-CECA-4B36-9BE2-15A68511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62103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申请制入口；Robotics 单列</a:t>
            </a:r>
          </a:p>
        </p:txBody>
      </p:sp>
      <p:sp>
        <p:nvSpPr>
          <p:cNvPr id="28" name="p2-genie-circle">
            <a:extLst xmlns:a="http://schemas.openxmlformats.org/drawingml/2006/main">
              <a:ext uri="{FF2B5EF4-FFF2-40B4-BE49-F238E27FC236}">
                <a16:creationId xmlns:a16="http://schemas.microsoft.com/office/drawing/2014/main" id="{E202B6FE-A8DA-44A8-84B9-ED61F68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6477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29" name="p2-genie-name">
            <a:extLst xmlns:a="http://schemas.openxmlformats.org/drawingml/2006/main">
              <a:ext uri="{FF2B5EF4-FFF2-40B4-BE49-F238E27FC236}">
                <a16:creationId xmlns:a16="http://schemas.microsoft.com/office/drawing/2014/main" id="{55CC8DE6-BEFA-4EC1-8EEA-503288C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62103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Genie 3</a:t>
            </a:r>
          </a:p>
        </p:txBody>
      </p:sp>
      <p:sp>
        <p:nvSpPr>
          <p:cNvPr id="30" name="p2-genie-detail">
            <a:extLst xmlns:a="http://schemas.openxmlformats.org/drawingml/2006/main">
              <a:ext uri="{FF2B5EF4-FFF2-40B4-BE49-F238E27FC236}">
                <a16:creationId xmlns:a16="http://schemas.microsoft.com/office/drawing/2014/main" id="{4E055C94-CC7F-4358-A7B0-AAA0951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621030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封闭原型</a:t>
            </a:r>
          </a:p>
        </p:txBody>
      </p:sp>
      <p:sp>
        <p:nvSpPr>
          <p:cNvPr id="31" name="p2-overworld-circle">
            <a:extLst xmlns:a="http://schemas.openxmlformats.org/drawingml/2006/main">
              <a:ext uri="{FF2B5EF4-FFF2-40B4-BE49-F238E27FC236}">
                <a16:creationId xmlns:a16="http://schemas.microsoft.com/office/drawing/2014/main" id="{70D72C11-BD71-4AFE-841E-CEDD998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6477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32" name="p2-overworld-name">
            <a:extLst xmlns:a="http://schemas.openxmlformats.org/drawingml/2006/main">
              <a:ext uri="{FF2B5EF4-FFF2-40B4-BE49-F238E27FC236}">
                <a16:creationId xmlns:a16="http://schemas.microsoft.com/office/drawing/2014/main" id="{DCC219C0-617C-4FA1-8100-746FCA06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62103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Overworld（地域条件）</a:t>
            </a:r>
          </a:p>
        </p:txBody>
      </p:sp>
      <p:sp>
        <p:nvSpPr>
          <p:cNvPr id="33" name="p2-overworld-detail">
            <a:extLst xmlns:a="http://schemas.openxmlformats.org/drawingml/2006/main">
              <a:ext uri="{FF2B5EF4-FFF2-40B4-BE49-F238E27FC236}">
                <a16:creationId xmlns:a16="http://schemas.microsoft.com/office/drawing/2014/main" id="{54991B6A-F0DF-4419-A2AB-BF7DC5B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6210300" cy="3448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开放权重</a:t>
            </a:r>
          </a:p>
        </p:txBody>
      </p:sp>
      <p:sp>
        <p:nvSpPr>
          <p:cNvPr id="34" name="p2-empty-r1-c4">
            <a:extLst xmlns:a="http://schemas.openxmlformats.org/drawingml/2006/main">
              <a:ext uri="{FF2B5EF4-FFF2-40B4-BE49-F238E27FC236}">
                <a16:creationId xmlns:a16="http://schemas.microsoft.com/office/drawing/2014/main" id="{30E279F2-5BD9-4B9A-BE57-12996583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33147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35" name="p2-empty-r2-c2">
            <a:extLst xmlns:a="http://schemas.openxmlformats.org/drawingml/2006/main">
              <a:ext uri="{FF2B5EF4-FFF2-40B4-BE49-F238E27FC236}">
                <a16:creationId xmlns:a16="http://schemas.microsoft.com/office/drawing/2014/main" id="{0FE25E4F-F277-49B8-88A4-B7685683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916305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36" name="p2-odyssey-mark">
            <a:extLst xmlns:a="http://schemas.openxmlformats.org/drawingml/2006/main">
              <a:ext uri="{FF2B5EF4-FFF2-40B4-BE49-F238E27FC236}">
                <a16:creationId xmlns:a16="http://schemas.microsoft.com/office/drawing/2014/main" id="{3091927F-5C9C-4A7E-A634-FE95BC65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37" name="p2-odyssey-name">
            <a:extLst xmlns:a="http://schemas.openxmlformats.org/drawingml/2006/main">
              <a:ext uri="{FF2B5EF4-FFF2-40B4-BE49-F238E27FC236}">
                <a16:creationId xmlns:a16="http://schemas.microsoft.com/office/drawing/2014/main" id="{F3D0F809-7FCD-4FFB-9262-75339D3A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3800"/>
            <a:ext cx="621030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38" name="p2-odyssey-detail">
            <a:extLst xmlns:a="http://schemas.openxmlformats.org/drawingml/2006/main">
              <a:ext uri="{FF2B5EF4-FFF2-40B4-BE49-F238E27FC236}">
                <a16:creationId xmlns:a16="http://schemas.microsoft.com/office/drawing/2014/main" id="{D4823693-0FA2-464C-85F4-3548BC71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62103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文档入口；账户未独立确认</a:t>
            </a:r>
          </a:p>
        </p:txBody>
      </p:sp>
      <p:sp>
        <p:nvSpPr>
          <p:cNvPr id="39" name="p2-decart-mark">
            <a:extLst xmlns:a="http://schemas.openxmlformats.org/drawingml/2006/main">
              <a:ext uri="{FF2B5EF4-FFF2-40B4-BE49-F238E27FC236}">
                <a16:creationId xmlns:a16="http://schemas.microsoft.com/office/drawing/2014/main" id="{7397392D-445C-4693-B9E9-29DFF3B6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40" name="p2-decart-name">
            <a:extLst xmlns:a="http://schemas.openxmlformats.org/drawingml/2006/main">
              <a:ext uri="{FF2B5EF4-FFF2-40B4-BE49-F238E27FC236}">
                <a16:creationId xmlns:a16="http://schemas.microsoft.com/office/drawing/2014/main" id="{5A0F5884-16BD-4AE1-A86A-84C28C0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62103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41" name="p2-decart-detail">
            <a:extLst xmlns:a="http://schemas.openxmlformats.org/drawingml/2006/main">
              <a:ext uri="{FF2B5EF4-FFF2-40B4-BE49-F238E27FC236}">
                <a16:creationId xmlns:a16="http://schemas.microsoft.com/office/drawing/2014/main" id="{29FE737B-9746-4EEA-8C30-AC8F6895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29150"/>
            <a:ext cx="6210300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42" name="p2-cosmos-mark">
            <a:extLst xmlns:a="http://schemas.openxmlformats.org/drawingml/2006/main">
              <a:ext uri="{FF2B5EF4-FFF2-40B4-BE49-F238E27FC236}">
                <a16:creationId xmlns:a16="http://schemas.microsoft.com/office/drawing/2014/main" id="{34A79C7A-70EE-4BE3-847B-FC87C37C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3" name="p2-cosmos-name">
            <a:extLst xmlns:a="http://schemas.openxmlformats.org/drawingml/2006/main">
              <a:ext uri="{FF2B5EF4-FFF2-40B4-BE49-F238E27FC236}">
                <a16:creationId xmlns:a16="http://schemas.microsoft.com/office/drawing/2014/main" id="{51651417-91D2-4F88-9711-270B6EC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310515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44" name="p2-cosmos-detail">
            <a:extLst xmlns:a="http://schemas.openxmlformats.org/drawingml/2006/main">
              <a:ext uri="{FF2B5EF4-FFF2-40B4-BE49-F238E27FC236}">
                <a16:creationId xmlns:a16="http://schemas.microsoft.com/office/drawing/2014/main" id="{8D7EAA56-F0FA-4C82-92D6-294E7463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310515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可下载 / 自托管</a:t>
            </a:r>
          </a:p>
        </p:txBody>
      </p:sp>
      <p:sp>
        <p:nvSpPr>
          <p:cNvPr id="45" name="p2-mira-circle">
            <a:extLst xmlns:a="http://schemas.openxmlformats.org/drawingml/2006/main">
              <a:ext uri="{FF2B5EF4-FFF2-40B4-BE49-F238E27FC236}">
                <a16:creationId xmlns:a16="http://schemas.microsoft.com/office/drawing/2014/main" id="{424107F5-F086-473A-85FD-83DD4AE1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43400"/>
            <a:ext cx="33718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46" name="p2-mira-name">
            <a:extLst xmlns:a="http://schemas.openxmlformats.org/drawingml/2006/main">
              <a:ext uri="{FF2B5EF4-FFF2-40B4-BE49-F238E27FC236}">
                <a16:creationId xmlns:a16="http://schemas.microsoft.com/office/drawing/2014/main" id="{A044D3EE-49E8-419A-9B00-FB0777B7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31051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MIRA</a:t>
            </a:r>
          </a:p>
        </p:txBody>
      </p:sp>
      <p:sp>
        <p:nvSpPr>
          <p:cNvPr id="47" name="p2-mira-detail">
            <a:extLst xmlns:a="http://schemas.openxmlformats.org/drawingml/2006/main">
              <a:ext uri="{FF2B5EF4-FFF2-40B4-BE49-F238E27FC236}">
                <a16:creationId xmlns:a16="http://schemas.microsoft.com/office/drawing/2014/main" id="{EA773D2A-9C27-4C23-B733-17E02F35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10100"/>
            <a:ext cx="310515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外部入口未核</a:t>
            </a:r>
          </a:p>
        </p:txBody>
      </p:sp>
      <p:sp>
        <p:nvSpPr>
          <p:cNvPr id="48" name="p2-empty-r3-c2">
            <a:extLst xmlns:a="http://schemas.openxmlformats.org/drawingml/2006/main">
              <a:ext uri="{FF2B5EF4-FFF2-40B4-BE49-F238E27FC236}">
                <a16:creationId xmlns:a16="http://schemas.microsoft.com/office/drawing/2014/main" id="{394B9333-1A1F-4A29-80CB-9ABB0913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19700"/>
            <a:ext cx="91630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49" name="p2-empty-r3-c3">
            <a:extLst xmlns:a="http://schemas.openxmlformats.org/drawingml/2006/main">
              <a:ext uri="{FF2B5EF4-FFF2-40B4-BE49-F238E27FC236}">
                <a16:creationId xmlns:a16="http://schemas.microsoft.com/office/drawing/2014/main" id="{3F978C37-047D-4984-9A98-189B45C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64198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—</a:t>
            </a:r>
          </a:p>
        </p:txBody>
      </p:sp>
      <p:sp>
        <p:nvSpPr>
          <p:cNvPr id="50" name="p2-meta-circle">
            <a:extLst xmlns:a="http://schemas.openxmlformats.org/drawingml/2006/main">
              <a:ext uri="{FF2B5EF4-FFF2-40B4-BE49-F238E27FC236}">
                <a16:creationId xmlns:a16="http://schemas.microsoft.com/office/drawing/2014/main" id="{21B3A58E-5623-4314-B6D4-A3275B8B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67300"/>
            <a:ext cx="33718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51" name="p2-meta-name">
            <a:extLst xmlns:a="http://schemas.openxmlformats.org/drawingml/2006/main">
              <a:ext uri="{FF2B5EF4-FFF2-40B4-BE49-F238E27FC236}">
                <a16:creationId xmlns:a16="http://schemas.microsoft.com/office/drawing/2014/main" id="{DD53EC9F-E02C-496B-91E4-09C58237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67300"/>
            <a:ext cx="31051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52" name="p2-meta-detail">
            <a:extLst xmlns:a="http://schemas.openxmlformats.org/drawingml/2006/main">
              <a:ext uri="{FF2B5EF4-FFF2-40B4-BE49-F238E27FC236}">
                <a16:creationId xmlns:a16="http://schemas.microsoft.com/office/drawing/2014/main" id="{376B6D32-1738-4A11-A142-F9E5369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34000"/>
            <a:ext cx="31051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checkpoint 可下载；许可待核</a:t>
            </a:r>
          </a:p>
        </p:txBody>
      </p:sp>
      <p:sp>
        <p:nvSpPr>
          <p:cNvPr id="53" name="p2-v-0">
            <a:extLst xmlns:a="http://schemas.openxmlformats.org/drawingml/2006/main">
              <a:ext uri="{FF2B5EF4-FFF2-40B4-BE49-F238E27FC236}">
                <a16:creationId xmlns:a16="http://schemas.microsoft.com/office/drawing/2014/main" id="{B071576C-620D-4316-ADF5-C50BDCB5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4" name="p2-v-1">
            <a:extLst xmlns:a="http://schemas.openxmlformats.org/drawingml/2006/main">
              <a:ext uri="{FF2B5EF4-FFF2-40B4-BE49-F238E27FC236}">
                <a16:creationId xmlns:a16="http://schemas.microsoft.com/office/drawing/2014/main" id="{EC72E105-0E56-4351-9A83-BEEC1D8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5" name="p2-v-2">
            <a:extLst xmlns:a="http://schemas.openxmlformats.org/drawingml/2006/main">
              <a:ext uri="{FF2B5EF4-FFF2-40B4-BE49-F238E27FC236}">
                <a16:creationId xmlns:a16="http://schemas.microsoft.com/office/drawing/2014/main" id="{34D039CD-7DCC-4866-9FA7-5EE90E35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049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6" name="p2-h-0">
            <a:extLst xmlns:a="http://schemas.openxmlformats.org/drawingml/2006/main">
              <a:ext uri="{FF2B5EF4-FFF2-40B4-BE49-F238E27FC236}">
                <a16:creationId xmlns:a16="http://schemas.microsoft.com/office/drawing/2014/main" id="{AA7D06B7-5D51-464B-9E73-DFD1AC6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7" name="p2-h-1">
            <a:extLst xmlns:a="http://schemas.openxmlformats.org/drawingml/2006/main">
              <a:ext uri="{FF2B5EF4-FFF2-40B4-BE49-F238E27FC236}">
                <a16:creationId xmlns:a16="http://schemas.microsoft.com/office/drawing/2014/main" id="{26F8342B-18ED-4DA1-A0A1-A1D61F28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8" name="p2-h-2">
            <a:extLst xmlns:a="http://schemas.openxmlformats.org/drawingml/2006/main">
              <a:ext uri="{FF2B5EF4-FFF2-40B4-BE49-F238E27FC236}">
                <a16:creationId xmlns:a16="http://schemas.microsoft.com/office/drawing/2014/main" id="{0D7CCECF-14AC-43E5-A69C-98EE2F5D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59" name="p2-table-bottom">
            <a:extLst xmlns:a="http://schemas.openxmlformats.org/drawingml/2006/main">
              <a:ext uri="{FF2B5EF4-FFF2-40B4-BE49-F238E27FC236}">
                <a16:creationId xmlns:a16="http://schemas.microsoft.com/office/drawing/2014/main" id="{F4485EBE-524A-4F97-9676-AF998E69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60" name="p2-ami-bg">
            <a:extLst xmlns:a="http://schemas.openxmlformats.org/drawingml/2006/main">
              <a:ext uri="{FF2B5EF4-FFF2-40B4-BE49-F238E27FC236}">
                <a16:creationId xmlns:a16="http://schemas.microsoft.com/office/drawing/2014/main" id="{E046F19E-1958-4247-B0B4-D059C04B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6"/>
          </a:solidFill>
        </p:spPr>
      </p:sp>
      <p:sp>
        <p:nvSpPr>
          <p:cNvPr id="61" name="p2-ami-accent">
            <a:extLst xmlns:a="http://schemas.openxmlformats.org/drawingml/2006/main">
              <a:ext uri="{FF2B5EF4-FFF2-40B4-BE49-F238E27FC236}">
                <a16:creationId xmlns:a16="http://schemas.microsoft.com/office/drawing/2014/main" id="{68CDEFF0-A543-4C8E-BCE0-48504167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755"/>
          </a:solidFill>
        </p:spPr>
      </p:sp>
      <p:sp>
        <p:nvSpPr>
          <p:cNvPr id="62" name="p2-ami-name">
            <a:extLst xmlns:a="http://schemas.openxmlformats.org/drawingml/2006/main">
              <a:ext uri="{FF2B5EF4-FFF2-40B4-BE49-F238E27FC236}">
                <a16:creationId xmlns:a16="http://schemas.microsoft.com/office/drawing/2014/main" id="{F6C6D1EF-2D34-4190-AD99-91E105F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14109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A48755"/>
                </a:solidFill>
                <a:latin typeface="Noto Sans SC"/>
                <a:ea typeface="Noto Sans SC"/>
                <a:cs typeface="Noto Sans SC"/>
              </a:defRPr>
            </a:pPr>
            <a:r>
              <a:t>早期信号 · AMI Labs</a:t>
            </a:r>
          </a:p>
        </p:txBody>
      </p:sp>
      <p:sp>
        <p:nvSpPr>
          <p:cNvPr id="63" name="p2-ami-detail">
            <a:extLst xmlns:a="http://schemas.openxmlformats.org/drawingml/2006/main">
              <a:ext uri="{FF2B5EF4-FFF2-40B4-BE49-F238E27FC236}">
                <a16:creationId xmlns:a16="http://schemas.microsoft.com/office/drawing/2014/main" id="{923DA13C-A1B8-4A10-AC40-CD72B45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86450"/>
            <a:ext cx="85534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暂不归入三类世界形态；自有技术资产与外部入口待核</a:t>
            </a:r>
          </a:p>
        </p:txBody>
      </p:sp>
      <p:sp>
        <p:nvSpPr>
          <p:cNvPr id="64" name="p2-scope">
            <a:extLst xmlns:a="http://schemas.openxmlformats.org/drawingml/2006/main">
              <a:ext uri="{FF2B5EF4-FFF2-40B4-BE49-F238E27FC236}">
                <a16:creationId xmlns:a16="http://schemas.microsoft.com/office/drawing/2014/main" id="{E4BCDE08-8923-4BDD-B6F5-A7C8776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582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5/4/1；中国大陆公司与类别外路线不作节点；Manifold 只作公开锚点。</a:t>
            </a:r>
          </a:p>
        </p:txBody>
      </p:sp>
      <p:sp>
        <p:nvSpPr>
          <p:cNvPr id="65" name="p2-footer-rule">
            <a:extLst xmlns:a="http://schemas.openxmlformats.org/drawingml/2006/main">
              <a:ext uri="{FF2B5EF4-FFF2-40B4-BE49-F238E27FC236}">
                <a16:creationId xmlns:a16="http://schemas.microsoft.com/office/drawing/2014/main" id="{D5B0AC0E-97A8-4925-976F-5A8B0701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66" name="p2-footer-source">
            <a:extLst xmlns:a="http://schemas.openxmlformats.org/drawingml/2006/main">
              <a:ext uri="{FF2B5EF4-FFF2-40B4-BE49-F238E27FC236}">
                <a16:creationId xmlns:a16="http://schemas.microsoft.com/office/drawing/2014/main" id="{A63775A0-E73E-4E77-96F6-78B7E390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来源：官方项目、产品、代码仓库、开发者资料及公司/地域资料</a:t>
            </a:r>
          </a:p>
        </p:txBody>
      </p:sp>
      <p:sp>
        <p:nvSpPr>
          <p:cNvPr id="67" name="p2-footer-page">
            <a:extLst xmlns:a="http://schemas.openxmlformats.org/drawingml/2006/main">
              <a:ext uri="{FF2B5EF4-FFF2-40B4-BE49-F238E27FC236}">
                <a16:creationId xmlns:a16="http://schemas.microsoft.com/office/drawing/2014/main" id="{EE816BA5-0855-4DC3-A3B4-1E31F267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02</a:t>
            </a:r>
          </a:p>
        </p:txBody>
      </p:sp>
    </p:spTree>
    <p:extLst>
      <p:ext uri="{BB962C8B-B14F-4D97-AF65-F5344CB8AC3E}">
        <p14:creationId xmlns:p14="http://schemas.microsoft.com/office/powerpoint/2010/main" val="1601892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3-eyebrow">
            <a:extLst xmlns:a="http://schemas.openxmlformats.org/drawingml/2006/main">
              <a:ext uri="{FF2B5EF4-FFF2-40B4-BE49-F238E27FC236}">
                <a16:creationId xmlns:a16="http://schemas.microsoft.com/office/drawing/2014/main" id="{601E02DF-A2DE-4BB1-885F-251408AA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FIVE PATHS · NO RANKING</a:t>
            </a:r>
          </a:p>
        </p:txBody>
      </p:sp>
      <p:sp>
        <p:nvSpPr>
          <p:cNvPr id="2" name="p3-title">
            <a:extLst xmlns:a="http://schemas.openxmlformats.org/drawingml/2006/main">
              <a:ext uri="{FF2B5EF4-FFF2-40B4-BE49-F238E27FC236}">
                <a16:creationId xmlns:a16="http://schemas.microsoft.com/office/drawing/2014/main" id="{3F2BB901-D8B5-4B9A-85D6-5153193C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五席走五条路，差异在产品形态和证据成熟度</a:t>
            </a:r>
          </a:p>
        </p:txBody>
      </p:sp>
      <p:sp>
        <p:nvSpPr>
          <p:cNvPr id="3" name="p3-subtitle">
            <a:extLst xmlns:a="http://schemas.openxmlformats.org/drawingml/2006/main">
              <a:ext uri="{FF2B5EF4-FFF2-40B4-BE49-F238E27FC236}">
                <a16:creationId xmlns:a16="http://schemas.microsoft.com/office/drawing/2014/main" id="{398FEED1-C83F-41A2-BFA4-2C1073B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582400" cy="588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固定五席体现路线互补，不构成能力、公司或商业成熟度排名。</a:t>
            </a:r>
          </a:p>
        </p:txBody>
      </p:sp>
      <p:sp>
        <p:nvSpPr>
          <p:cNvPr id="4" name="p3-header-bg">
            <a:extLst xmlns:a="http://schemas.openxmlformats.org/drawingml/2006/main">
              <a:ext uri="{FF2B5EF4-FFF2-40B4-BE49-F238E27FC236}">
                <a16:creationId xmlns:a16="http://schemas.microsoft.com/office/drawing/2014/main" id="{41901A94-2A3A-4F2A-B7EB-BBCB9DD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5" name="p3-header-accent-0">
            <a:extLst xmlns:a="http://schemas.openxmlformats.org/drawingml/2006/main">
              <a:ext uri="{FF2B5EF4-FFF2-40B4-BE49-F238E27FC236}">
                <a16:creationId xmlns:a16="http://schemas.microsoft.com/office/drawing/2014/main" id="{4D6F09FD-88BB-4E7B-8589-6111989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6" name="p3-header-0">
            <a:extLst xmlns:a="http://schemas.openxmlformats.org/drawingml/2006/main">
              <a:ext uri="{FF2B5EF4-FFF2-40B4-BE49-F238E27FC236}">
                <a16:creationId xmlns:a16="http://schemas.microsoft.com/office/drawing/2014/main" id="{322EC7BC-ECAD-472B-90E4-5545AD9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146810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比较维度</a:t>
            </a:r>
          </a:p>
        </p:txBody>
      </p:sp>
      <p:sp>
        <p:nvSpPr>
          <p:cNvPr id="7" name="p3-header-accent-1">
            <a:extLst xmlns:a="http://schemas.openxmlformats.org/drawingml/2006/main">
              <a:ext uri="{FF2B5EF4-FFF2-40B4-BE49-F238E27FC236}">
                <a16:creationId xmlns:a16="http://schemas.microsoft.com/office/drawing/2014/main" id="{4F627221-7E7F-4CF7-997A-BE3A3DF4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8" name="p3-header-1">
            <a:extLst xmlns:a="http://schemas.openxmlformats.org/drawingml/2006/main">
              <a:ext uri="{FF2B5EF4-FFF2-40B4-BE49-F238E27FC236}">
                <a16:creationId xmlns:a16="http://schemas.microsoft.com/office/drawing/2014/main" id="{7A2551FA-FB5E-400D-AE3D-D3F0345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66850"/>
            <a:ext cx="1015365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9" name="p3-header-accent-2">
            <a:extLst xmlns:a="http://schemas.openxmlformats.org/drawingml/2006/main">
              <a:ext uri="{FF2B5EF4-FFF2-40B4-BE49-F238E27FC236}">
                <a16:creationId xmlns:a16="http://schemas.microsoft.com/office/drawing/2014/main" id="{B685B9F4-4C76-4BE2-BBF9-E3D54FF9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0" name="p3-header-2">
            <a:extLst xmlns:a="http://schemas.openxmlformats.org/drawingml/2006/main">
              <a:ext uri="{FF2B5EF4-FFF2-40B4-BE49-F238E27FC236}">
                <a16:creationId xmlns:a16="http://schemas.microsoft.com/office/drawing/2014/main" id="{0E17A3CB-5A14-4479-A794-E3A07F6A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466850"/>
            <a:ext cx="822198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11" name="p3-header-accent-3">
            <a:extLst xmlns:a="http://schemas.openxmlformats.org/drawingml/2006/main">
              <a:ext uri="{FF2B5EF4-FFF2-40B4-BE49-F238E27FC236}">
                <a16:creationId xmlns:a16="http://schemas.microsoft.com/office/drawing/2014/main" id="{ED3855AD-56A8-484C-84D7-8A2392AC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2" name="p3-header-3">
            <a:extLst xmlns:a="http://schemas.openxmlformats.org/drawingml/2006/main">
              <a:ext uri="{FF2B5EF4-FFF2-40B4-BE49-F238E27FC236}">
                <a16:creationId xmlns:a16="http://schemas.microsoft.com/office/drawing/2014/main" id="{BB240183-AD9D-4F7E-9B1F-33C91CF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466850"/>
            <a:ext cx="629031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13" name="p3-header-accent-4">
            <a:extLst xmlns:a="http://schemas.openxmlformats.org/drawingml/2006/main">
              <a:ext uri="{FF2B5EF4-FFF2-40B4-BE49-F238E27FC236}">
                <a16:creationId xmlns:a16="http://schemas.microsoft.com/office/drawing/2014/main" id="{687C0EB4-BA70-4508-A718-366F90D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4" name="p3-header-4">
            <a:extLst xmlns:a="http://schemas.openxmlformats.org/drawingml/2006/main">
              <a:ext uri="{FF2B5EF4-FFF2-40B4-BE49-F238E27FC236}">
                <a16:creationId xmlns:a16="http://schemas.microsoft.com/office/drawing/2014/main" id="{ED5EA2CD-B308-408A-AADD-91E319D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466850"/>
            <a:ext cx="435864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15" name="p3-header-accent-5">
            <a:extLst xmlns:a="http://schemas.openxmlformats.org/drawingml/2006/main">
              <a:ext uri="{FF2B5EF4-FFF2-40B4-BE49-F238E27FC236}">
                <a16:creationId xmlns:a16="http://schemas.microsoft.com/office/drawing/2014/main" id="{23A34E5D-2215-4EC2-83E1-E4C0F71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6" name="p3-header-5">
            <a:extLst xmlns:a="http://schemas.openxmlformats.org/drawingml/2006/main">
              <a:ext uri="{FF2B5EF4-FFF2-40B4-BE49-F238E27FC236}">
                <a16:creationId xmlns:a16="http://schemas.microsoft.com/office/drawing/2014/main" id="{6C1B86CB-560C-45C2-9F04-AF142B1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466850"/>
            <a:ext cx="242697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17" name="p3-row-bg-0">
            <a:extLst xmlns:a="http://schemas.openxmlformats.org/drawingml/2006/main">
              <a:ext uri="{FF2B5EF4-FFF2-40B4-BE49-F238E27FC236}">
                <a16:creationId xmlns:a16="http://schemas.microsoft.com/office/drawing/2014/main" id="{243987C4-0EC5-4D07-A506-FEF97F0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8" name="p3-rowhead-0">
            <a:extLst xmlns:a="http://schemas.openxmlformats.org/drawingml/2006/main">
              <a:ext uri="{FF2B5EF4-FFF2-40B4-BE49-F238E27FC236}">
                <a16:creationId xmlns:a16="http://schemas.microsoft.com/office/drawing/2014/main" id="{EDD541F1-C3BE-4EBC-9ED2-75350C1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146810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技术证据</a:t>
            </a:r>
          </a:p>
        </p:txBody>
      </p:sp>
      <p:sp>
        <p:nvSpPr>
          <p:cNvPr id="19" name="p3-cell-0-0">
            <a:extLst xmlns:a="http://schemas.openxmlformats.org/drawingml/2006/main">
              <a:ext uri="{FF2B5EF4-FFF2-40B4-BE49-F238E27FC236}">
                <a16:creationId xmlns:a16="http://schemas.microsoft.com/office/drawing/2014/main" id="{B41CFD34-9EC5-4186-8928-D8F3CF96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1015365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位姿条件导航与
空间记忆；动态物体
仍待证</a:t>
            </a:r>
          </a:p>
        </p:txBody>
      </p:sp>
      <p:sp>
        <p:nvSpPr>
          <p:cNvPr id="20" name="p3-cell-0-1">
            <a:extLst xmlns:a="http://schemas.openxmlformats.org/drawingml/2006/main">
              <a:ext uri="{FF2B5EF4-FFF2-40B4-BE49-F238E27FC236}">
                <a16:creationId xmlns:a16="http://schemas.microsoft.com/office/drawing/2014/main" id="{D7843719-1B32-4CA5-A501-506D6C23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905000"/>
            <a:ext cx="822198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历史帧和动作条件
未来；长时稳定性
未独立验证</a:t>
            </a:r>
          </a:p>
        </p:txBody>
      </p:sp>
      <p:sp>
        <p:nvSpPr>
          <p:cNvPr id="21" name="p3-cell-0-2">
            <a:extLst xmlns:a="http://schemas.openxmlformats.org/drawingml/2006/main">
              <a:ext uri="{FF2B5EF4-FFF2-40B4-BE49-F238E27FC236}">
                <a16:creationId xmlns:a16="http://schemas.microsoft.com/office/drawing/2014/main" id="{48731E52-04D9-47F5-8941-6F0BC337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905000"/>
            <a:ext cx="629031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 支持导航
条件未来；Robotics
证据单列</a:t>
            </a:r>
          </a:p>
        </p:txBody>
      </p:sp>
      <p:sp>
        <p:nvSpPr>
          <p:cNvPr id="22" name="p3-cell-0-3">
            <a:extLst xmlns:a="http://schemas.openxmlformats.org/drawingml/2006/main">
              <a:ext uri="{FF2B5EF4-FFF2-40B4-BE49-F238E27FC236}">
                <a16:creationId xmlns:a16="http://schemas.microsoft.com/office/drawing/2014/main" id="{80446A25-9434-4F61-91FD-8574C66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905000"/>
            <a:ext cx="435864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油门/转向驱动
三向后续视图；
动作域较窄</a:t>
            </a:r>
          </a:p>
        </p:txBody>
      </p:sp>
      <p:sp>
        <p:nvSpPr>
          <p:cNvPr id="23" name="p3-cell-0-4">
            <a:extLst xmlns:a="http://schemas.openxmlformats.org/drawingml/2006/main">
              <a:ext uri="{FF2B5EF4-FFF2-40B4-BE49-F238E27FC236}">
                <a16:creationId xmlns:a16="http://schemas.microsoft.com/office/drawing/2014/main" id="{8BF30FA9-50CA-4072-8A1B-80D7A1B7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905000"/>
            <a:ext cx="242697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动作条件前向预测；
漂移、几何和碰撞
仍有限</a:t>
            </a:r>
          </a:p>
        </p:txBody>
      </p:sp>
      <p:sp>
        <p:nvSpPr>
          <p:cNvPr id="24" name="p3-row-bg-1">
            <a:extLst xmlns:a="http://schemas.openxmlformats.org/drawingml/2006/main">
              <a:ext uri="{FF2B5EF4-FFF2-40B4-BE49-F238E27FC236}">
                <a16:creationId xmlns:a16="http://schemas.microsoft.com/office/drawing/2014/main" id="{5300DCDC-E036-435D-8D72-51AAE100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25" name="p3-rowhead-1">
            <a:extLst xmlns:a="http://schemas.openxmlformats.org/drawingml/2006/main">
              <a:ext uri="{FF2B5EF4-FFF2-40B4-BE49-F238E27FC236}">
                <a16:creationId xmlns:a16="http://schemas.microsoft.com/office/drawing/2014/main" id="{E43C1CD2-280B-4F27-848B-5EC1BAD5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146810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外部
可获得性</a:t>
            </a:r>
          </a:p>
        </p:txBody>
      </p:sp>
      <p:sp>
        <p:nvSpPr>
          <p:cNvPr id="26" name="p3-cell-1-0">
            <a:extLst xmlns:a="http://schemas.openxmlformats.org/drawingml/2006/main">
              <a:ext uri="{FF2B5EF4-FFF2-40B4-BE49-F238E27FC236}">
                <a16:creationId xmlns:a16="http://schemas.microsoft.com/office/drawing/2014/main" id="{DD907340-FFD7-4489-8C68-E6313C25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28950"/>
            <a:ext cx="1015365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公开计价的
专有世界接口</a:t>
            </a:r>
          </a:p>
        </p:txBody>
      </p:sp>
      <p:sp>
        <p:nvSpPr>
          <p:cNvPr id="27" name="p3-cell-1-1">
            <a:extLst xmlns:a="http://schemas.openxmlformats.org/drawingml/2006/main">
              <a:ext uri="{FF2B5EF4-FFF2-40B4-BE49-F238E27FC236}">
                <a16:creationId xmlns:a16="http://schemas.microsoft.com/office/drawing/2014/main" id="{321DF6D8-B28F-4583-8735-EBEF45E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3028950"/>
            <a:ext cx="822198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厂商文档化
原型接口；实际账户
未确认</a:t>
            </a:r>
          </a:p>
        </p:txBody>
      </p:sp>
      <p:sp>
        <p:nvSpPr>
          <p:cNvPr id="28" name="p3-cell-1-2">
            <a:extLst xmlns:a="http://schemas.openxmlformats.org/drawingml/2006/main">
              <a:ext uri="{FF2B5EF4-FFF2-40B4-BE49-F238E27FC236}">
                <a16:creationId xmlns:a16="http://schemas.microsoft.com/office/drawing/2014/main" id="{8401C123-FADB-4004-ACD4-99D1167D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3028950"/>
            <a:ext cx="629031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 申请制；
Robotics 需洽谈</a:t>
            </a:r>
          </a:p>
        </p:txBody>
      </p:sp>
      <p:sp>
        <p:nvSpPr>
          <p:cNvPr id="29" name="p3-cell-1-3">
            <a:extLst xmlns:a="http://schemas.openxmlformats.org/drawingml/2006/main">
              <a:ext uri="{FF2B5EF4-FFF2-40B4-BE49-F238E27FC236}">
                <a16:creationId xmlns:a16="http://schemas.microsoft.com/office/drawing/2014/main" id="{97A1D13C-BE5F-43B1-9EE5-8ED7AA29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028950"/>
            <a:ext cx="435864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公开账户、按秒
计费的预览接口</a:t>
            </a:r>
          </a:p>
        </p:txBody>
      </p:sp>
      <p:sp>
        <p:nvSpPr>
          <p:cNvPr id="30" name="p3-cell-1-4">
            <a:extLst xmlns:a="http://schemas.openxmlformats.org/drawingml/2006/main">
              <a:ext uri="{FF2B5EF4-FFF2-40B4-BE49-F238E27FC236}">
                <a16:creationId xmlns:a16="http://schemas.microsoft.com/office/drawing/2014/main" id="{A62EB30A-83A9-4A49-8E98-AD93DC8A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3028950"/>
            <a:ext cx="242697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模型材料可下载
并可自托管；
Generator NIM 1.0.0
只含文生/图生视频</a:t>
            </a:r>
          </a:p>
        </p:txBody>
      </p:sp>
      <p:sp>
        <p:nvSpPr>
          <p:cNvPr id="31" name="p3-row-bg-2">
            <a:extLst xmlns:a="http://schemas.openxmlformats.org/drawingml/2006/main">
              <a:ext uri="{FF2B5EF4-FFF2-40B4-BE49-F238E27FC236}">
                <a16:creationId xmlns:a16="http://schemas.microsoft.com/office/drawing/2014/main" id="{69E76E89-EE62-4175-82C3-34F4F81C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2" name="p3-rowhead-2">
            <a:extLst xmlns:a="http://schemas.openxmlformats.org/drawingml/2006/main">
              <a:ext uri="{FF2B5EF4-FFF2-40B4-BE49-F238E27FC236}">
                <a16:creationId xmlns:a16="http://schemas.microsoft.com/office/drawing/2014/main" id="{AF0D00D9-20CE-4CEC-BAE9-54196FB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14681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商业采用
上限</a:t>
            </a:r>
          </a:p>
        </p:txBody>
      </p:sp>
      <p:sp>
        <p:nvSpPr>
          <p:cNvPr id="33" name="p3-cell-2-0">
            <a:extLst xmlns:a="http://schemas.openxmlformats.org/drawingml/2006/main">
              <a:ext uri="{FF2B5EF4-FFF2-40B4-BE49-F238E27FC236}">
                <a16:creationId xmlns:a16="http://schemas.microsoft.com/office/drawing/2014/main" id="{2F3B7998-AD21-4C01-B1C9-D6F97341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62450"/>
            <a:ext cx="1015365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供应商托管原型；
无客户第一方
生产证据</a:t>
            </a:r>
          </a:p>
        </p:txBody>
      </p:sp>
      <p:sp>
        <p:nvSpPr>
          <p:cNvPr id="34" name="p3-cell-2-1">
            <a:extLst xmlns:a="http://schemas.openxmlformats.org/drawingml/2006/main">
              <a:ext uri="{FF2B5EF4-FFF2-40B4-BE49-F238E27FC236}">
                <a16:creationId xmlns:a16="http://schemas.microsoft.com/office/drawing/2014/main" id="{0F3AA078-B003-4F08-B086-E5F46A2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4362450"/>
            <a:ext cx="822198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合同框架与
自报云合作；
无具名采用证据</a:t>
            </a:r>
          </a:p>
        </p:txBody>
      </p:sp>
      <p:sp>
        <p:nvSpPr>
          <p:cNvPr id="35" name="p3-cell-2-2">
            <a:extLst xmlns:a="http://schemas.openxmlformats.org/drawingml/2006/main">
              <a:ext uri="{FF2B5EF4-FFF2-40B4-BE49-F238E27FC236}">
                <a16:creationId xmlns:a16="http://schemas.microsoft.com/office/drawing/2014/main" id="{890FD652-8E46-4ED3-9E9E-8DAA7E8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4362450"/>
            <a:ext cx="629031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公司自报合作；
无伙伴侧
部署证据</a:t>
            </a:r>
          </a:p>
        </p:txBody>
      </p:sp>
      <p:sp>
        <p:nvSpPr>
          <p:cNvPr id="36" name="p3-cell-2-3">
            <a:extLst xmlns:a="http://schemas.openxmlformats.org/drawingml/2006/main">
              <a:ext uri="{FF2B5EF4-FFF2-40B4-BE49-F238E27FC236}">
                <a16:creationId xmlns:a16="http://schemas.microsoft.com/office/drawing/2014/main" id="{FCB9B1F2-A06E-419D-9B41-878472B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4362450"/>
            <a:ext cx="435864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有价格与独立体验；
无付费客户或
生产证据</a:t>
            </a:r>
          </a:p>
        </p:txBody>
      </p:sp>
      <p:sp>
        <p:nvSpPr>
          <p:cNvPr id="37" name="p3-cell-2-4">
            <a:extLst xmlns:a="http://schemas.openxmlformats.org/drawingml/2006/main">
              <a:ext uri="{FF2B5EF4-FFF2-40B4-BE49-F238E27FC236}">
                <a16:creationId xmlns:a16="http://schemas.microsoft.com/office/drawing/2014/main" id="{2991C396-715D-4300-B98A-BB04F4F5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4362450"/>
            <a:ext cx="242697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伙伴自报早期测试 /
内部部署；无客户
第一方付费生产证据</a:t>
            </a:r>
          </a:p>
        </p:txBody>
      </p:sp>
      <p:sp>
        <p:nvSpPr>
          <p:cNvPr id="38" name="p3-row-bg-3">
            <a:extLst xmlns:a="http://schemas.openxmlformats.org/drawingml/2006/main">
              <a:ext uri="{FF2B5EF4-FFF2-40B4-BE49-F238E27FC236}">
                <a16:creationId xmlns:a16="http://schemas.microsoft.com/office/drawing/2014/main" id="{81EBE995-32B7-4842-84DA-5E37883F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39" name="p3-rowhead-3">
            <a:extLst xmlns:a="http://schemas.openxmlformats.org/drawingml/2006/main">
              <a:ext uri="{FF2B5EF4-FFF2-40B4-BE49-F238E27FC236}">
                <a16:creationId xmlns:a16="http://schemas.microsoft.com/office/drawing/2014/main" id="{C7745485-6B15-4A92-9A5B-3865D07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1468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
的意义</a:t>
            </a:r>
          </a:p>
        </p:txBody>
      </p:sp>
      <p:sp>
        <p:nvSpPr>
          <p:cNvPr id="40" name="p3-cell-3-0">
            <a:extLst xmlns:a="http://schemas.openxmlformats.org/drawingml/2006/main">
              <a:ext uri="{FF2B5EF4-FFF2-40B4-BE49-F238E27FC236}">
                <a16:creationId xmlns:a16="http://schemas.microsoft.com/office/drawing/2014/main" id="{1A75774D-E757-4BBD-BA7A-F3252C9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10153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
绕行生成与交付</a:t>
            </a:r>
          </a:p>
        </p:txBody>
      </p:sp>
      <p:sp>
        <p:nvSpPr>
          <p:cNvPr id="41" name="p3-cell-3-1">
            <a:extLst xmlns:a="http://schemas.openxmlformats.org/drawingml/2006/main">
              <a:ext uri="{FF2B5EF4-FFF2-40B4-BE49-F238E27FC236}">
                <a16:creationId xmlns:a16="http://schemas.microsoft.com/office/drawing/2014/main" id="{9806D15E-AABF-4D94-A3CC-235C0E7A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5619750"/>
            <a:ext cx="822198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若接口稳定，可成为
实时世界流基础设施</a:t>
            </a:r>
          </a:p>
        </p:txBody>
      </p:sp>
      <p:sp>
        <p:nvSpPr>
          <p:cNvPr id="42" name="p3-cell-3-2">
            <a:extLst xmlns:a="http://schemas.openxmlformats.org/drawingml/2006/main">
              <a:ext uri="{FF2B5EF4-FFF2-40B4-BE49-F238E27FC236}">
                <a16:creationId xmlns:a16="http://schemas.microsoft.com/office/drawing/2014/main" id="{D88B620B-25C1-41BA-9B30-66EBB2AF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5619750"/>
            <a:ext cx="629031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内容平台向可探索
世界和机器人应用延伸</a:t>
            </a:r>
          </a:p>
        </p:txBody>
      </p:sp>
      <p:sp>
        <p:nvSpPr>
          <p:cNvPr id="43" name="p3-cell-3-3">
            <a:extLst xmlns:a="http://schemas.openxmlformats.org/drawingml/2006/main">
              <a:ext uri="{FF2B5EF4-FFF2-40B4-BE49-F238E27FC236}">
                <a16:creationId xmlns:a16="http://schemas.microsoft.com/office/drawing/2014/main" id="{0ED7C104-4BAF-491D-BE6C-E0B1212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5619750"/>
            <a:ext cx="435864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可计费驾驶接口把
竞争推向具体任务</a:t>
            </a:r>
          </a:p>
        </p:txBody>
      </p:sp>
      <p:sp>
        <p:nvSpPr>
          <p:cNvPr id="44" name="p3-cell-3-4">
            <a:extLst xmlns:a="http://schemas.openxmlformats.org/drawingml/2006/main">
              <a:ext uri="{FF2B5EF4-FFF2-40B4-BE49-F238E27FC236}">
                <a16:creationId xmlns:a16="http://schemas.microsoft.com/office/drawing/2014/main" id="{CBAF3307-3971-4840-A24B-462F5B0E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5619750"/>
            <a:ext cx="242697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自托管组件可绕行
供应商，也可成为底层</a:t>
            </a:r>
          </a:p>
        </p:txBody>
      </p:sp>
      <p:sp>
        <p:nvSpPr>
          <p:cNvPr id="45" name="p3-h-0">
            <a:extLst xmlns:a="http://schemas.openxmlformats.org/drawingml/2006/main">
              <a:ext uri="{FF2B5EF4-FFF2-40B4-BE49-F238E27FC236}">
                <a16:creationId xmlns:a16="http://schemas.microsoft.com/office/drawing/2014/main" id="{4D92B312-4993-480B-9B6B-26572FC5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6" name="p3-h-1">
            <a:extLst xmlns:a="http://schemas.openxmlformats.org/drawingml/2006/main">
              <a:ext uri="{FF2B5EF4-FFF2-40B4-BE49-F238E27FC236}">
                <a16:creationId xmlns:a16="http://schemas.microsoft.com/office/drawing/2014/main" id="{B472B69E-D042-41CD-9416-B7E9CDB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7" name="p3-h-2">
            <a:extLst xmlns:a="http://schemas.openxmlformats.org/drawingml/2006/main">
              <a:ext uri="{FF2B5EF4-FFF2-40B4-BE49-F238E27FC236}">
                <a16:creationId xmlns:a16="http://schemas.microsoft.com/office/drawing/2014/main" id="{25B9422B-25A6-4B79-82A3-0C73566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8" name="p3-h-3">
            <a:extLst xmlns:a="http://schemas.openxmlformats.org/drawingml/2006/main">
              <a:ext uri="{FF2B5EF4-FFF2-40B4-BE49-F238E27FC236}">
                <a16:creationId xmlns:a16="http://schemas.microsoft.com/office/drawing/2014/main" id="{8EAF434B-76C4-4F67-9D00-56609453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9" name="p3-footer-rule">
            <a:extLst xmlns:a="http://schemas.openxmlformats.org/drawingml/2006/main">
              <a:ext uri="{FF2B5EF4-FFF2-40B4-BE49-F238E27FC236}">
                <a16:creationId xmlns:a16="http://schemas.microsoft.com/office/drawing/2014/main" id="{474F9264-E380-485E-9FDE-08B06462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50" name="p3-footer-source">
            <a:extLst xmlns:a="http://schemas.openxmlformats.org/drawingml/2006/main">
              <a:ext uri="{FF2B5EF4-FFF2-40B4-BE49-F238E27FC236}">
                <a16:creationId xmlns:a16="http://schemas.microsoft.com/office/drawing/2014/main" id="{D0CF0BE7-6422-4213-BDB3-4ED5139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来源：官方技术、产品、接入、价格和条款资料；公司/伙伴自报及独立体验</a:t>
            </a:r>
          </a:p>
        </p:txBody>
      </p:sp>
      <p:sp>
        <p:nvSpPr>
          <p:cNvPr id="51" name="p3-footer-page">
            <a:extLst xmlns:a="http://schemas.openxmlformats.org/drawingml/2006/main">
              <a:ext uri="{FF2B5EF4-FFF2-40B4-BE49-F238E27FC236}">
                <a16:creationId xmlns:a16="http://schemas.microsoft.com/office/drawing/2014/main" id="{5B0DCAEA-1B37-46AB-B306-56128BA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03</a:t>
            </a:r>
          </a:p>
        </p:txBody>
      </p:sp>
    </p:spTree>
    <p:extLst>
      <p:ext uri="{BB962C8B-B14F-4D97-AF65-F5344CB8AC3E}">
        <p14:creationId xmlns:p14="http://schemas.microsoft.com/office/powerpoint/2010/main" val="1250721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4-identity">
            <a:extLst xmlns:a="http://schemas.openxmlformats.org/drawingml/2006/main">
              <a:ext uri="{FF2B5EF4-FFF2-40B4-BE49-F238E27FC236}">
                <a16:creationId xmlns:a16="http://schemas.microsoft.com/office/drawing/2014/main" id="{FE19BABD-808A-4E7C-8CD5-D68BB28E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创业公司 1/4 · WORLD LABS</a:t>
            </a:r>
          </a:p>
        </p:txBody>
      </p:sp>
      <p:sp>
        <p:nvSpPr>
          <p:cNvPr id="2" name="p4-title">
            <a:extLst xmlns:a="http://schemas.openxmlformats.org/drawingml/2006/main">
              <a:ext uri="{FF2B5EF4-FFF2-40B4-BE49-F238E27FC236}">
                <a16:creationId xmlns:a16="http://schemas.microsoft.com/office/drawing/2014/main" id="{9212E6B1-2B61-429C-86E9-AD123CAD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World API 已开放计价；
动态交互和客户采用仍待证</a:t>
            </a:r>
          </a:p>
        </p:txBody>
      </p:sp>
      <p:sp>
        <p:nvSpPr>
          <p:cNvPr id="3" name="p4-route-line">
            <a:extLst xmlns:a="http://schemas.openxmlformats.org/drawingml/2006/main">
              <a:ext uri="{FF2B5EF4-FFF2-40B4-BE49-F238E27FC236}">
                <a16:creationId xmlns:a16="http://schemas.microsoft.com/office/drawing/2014/main" id="{5802DAE1-8AA4-4297-8570-CF4298B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4" name="p4-route">
            <a:extLst xmlns:a="http://schemas.openxmlformats.org/drawingml/2006/main">
              <a:ext uri="{FF2B5EF4-FFF2-40B4-BE49-F238E27FC236}">
                <a16:creationId xmlns:a16="http://schemas.microsoft.com/office/drawing/2014/main" id="{6775859F-405E-4FEE-8502-4143AD96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1049000" cy="520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持久空间世界 · 公开计价接口</a:t>
            </a:r>
          </a:p>
        </p:txBody>
      </p:sp>
      <p:sp>
        <p:nvSpPr>
          <p:cNvPr id="5" name="p4-established-bg">
            <a:extLst xmlns:a="http://schemas.openxmlformats.org/drawingml/2006/main">
              <a:ext uri="{FF2B5EF4-FFF2-40B4-BE49-F238E27FC236}">
                <a16:creationId xmlns:a16="http://schemas.microsoft.com/office/drawing/2014/main" id="{5F0BC84B-2541-40E6-93C0-48C1DA2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819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6" name="p4-established-rule">
            <a:extLst xmlns:a="http://schemas.openxmlformats.org/drawingml/2006/main">
              <a:ext uri="{FF2B5EF4-FFF2-40B4-BE49-F238E27FC236}">
                <a16:creationId xmlns:a16="http://schemas.microsoft.com/office/drawing/2014/main" id="{471C0F41-2869-4FFC-AF5F-B0FCF3E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7" name="p4-established-label">
            <a:extLst xmlns:a="http://schemas.openxmlformats.org/drawingml/2006/main">
              <a:ext uri="{FF2B5EF4-FFF2-40B4-BE49-F238E27FC236}">
                <a16:creationId xmlns:a16="http://schemas.microsoft.com/office/drawing/2014/main" id="{CC76C458-247C-4951-AFD4-F4B6BE57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12776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8" name="p4-component-divider">
            <a:extLst xmlns:a="http://schemas.openxmlformats.org/drawingml/2006/main">
              <a:ext uri="{FF2B5EF4-FFF2-40B4-BE49-F238E27FC236}">
                <a16:creationId xmlns:a16="http://schemas.microsoft.com/office/drawing/2014/main" id="{57EDE8EA-E52F-4CA7-B098-A400FCB7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9" name="p4-rtfm-name">
            <a:extLst xmlns:a="http://schemas.openxmlformats.org/drawingml/2006/main">
              <a:ext uri="{FF2B5EF4-FFF2-40B4-BE49-F238E27FC236}">
                <a16:creationId xmlns:a16="http://schemas.microsoft.com/office/drawing/2014/main" id="{253A8483-C5AF-419D-8003-9171E6B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127760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RTFM</a:t>
            </a:r>
          </a:p>
        </p:txBody>
      </p:sp>
      <p:sp>
        <p:nvSpPr>
          <p:cNvPr id="10" name="p4-rtfm-body">
            <a:extLst xmlns:a="http://schemas.openxmlformats.org/drawingml/2006/main">
              <a:ext uri="{FF2B5EF4-FFF2-40B4-BE49-F238E27FC236}">
                <a16:creationId xmlns:a16="http://schemas.microsoft.com/office/drawing/2014/main" id="{A8EC166B-2D07-40E6-A672-E850E37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127760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位姿条件未来视图
与空间记忆已经公开；
动态物体仍待证。</a:t>
            </a:r>
          </a:p>
        </p:txBody>
      </p:sp>
      <p:sp>
        <p:nvSpPr>
          <p:cNvPr id="11" name="p4-api-name">
            <a:extLst xmlns:a="http://schemas.openxmlformats.org/drawingml/2006/main">
              <a:ext uri="{FF2B5EF4-FFF2-40B4-BE49-F238E27FC236}">
                <a16:creationId xmlns:a16="http://schemas.microsoft.com/office/drawing/2014/main" id="{FB37D298-2C09-4401-B493-FCC91299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79438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Marble / World API</a:t>
            </a:r>
          </a:p>
        </p:txBody>
      </p:sp>
      <p:sp>
        <p:nvSpPr>
          <p:cNvPr id="12" name="p4-api-body">
            <a:extLst xmlns:a="http://schemas.openxmlformats.org/drawingml/2006/main">
              <a:ext uri="{FF2B5EF4-FFF2-40B4-BE49-F238E27FC236}">
                <a16:creationId xmlns:a16="http://schemas.microsoft.com/office/drawing/2014/main" id="{6591B002-B017-498A-811B-477D22E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79438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已有公开计价；
与 RTFM 分立，
两条路线需单独判断。</a:t>
            </a:r>
          </a:p>
        </p:txBody>
      </p:sp>
      <p:sp>
        <p:nvSpPr>
          <p:cNvPr id="13" name="p4-not-bg">
            <a:extLst xmlns:a="http://schemas.openxmlformats.org/drawingml/2006/main">
              <a:ext uri="{FF2B5EF4-FFF2-40B4-BE49-F238E27FC236}">
                <a16:creationId xmlns:a16="http://schemas.microsoft.com/office/drawing/2014/main" id="{43AB148C-019B-44F0-88BE-FEB5F1BA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3619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4" name="p4-not-rule">
            <a:extLst xmlns:a="http://schemas.openxmlformats.org/drawingml/2006/main">
              <a:ext uri="{FF2B5EF4-FFF2-40B4-BE49-F238E27FC236}">
                <a16:creationId xmlns:a16="http://schemas.microsoft.com/office/drawing/2014/main" id="{4F5A6E00-0D24-4CEE-B825-969547B8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15" name="p4-not-label">
            <a:extLst xmlns:a="http://schemas.openxmlformats.org/drawingml/2006/main">
              <a:ext uri="{FF2B5EF4-FFF2-40B4-BE49-F238E27FC236}">
                <a16:creationId xmlns:a16="http://schemas.microsoft.com/office/drawing/2014/main" id="{9293880E-AB4F-4D43-9FBE-C729CB28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42291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6" name="p4-not-list-dot-0">
            <a:extLst xmlns:a="http://schemas.openxmlformats.org/drawingml/2006/main">
              <a:ext uri="{FF2B5EF4-FFF2-40B4-BE49-F238E27FC236}">
                <a16:creationId xmlns:a16="http://schemas.microsoft.com/office/drawing/2014/main" id="{BBD37BD8-FC9B-481D-90AE-CDFE78C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422910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17" name="p4-not-list-text-0">
            <a:extLst xmlns:a="http://schemas.openxmlformats.org/drawingml/2006/main">
              <a:ext uri="{FF2B5EF4-FFF2-40B4-BE49-F238E27FC236}">
                <a16:creationId xmlns:a16="http://schemas.microsoft.com/office/drawing/2014/main" id="{CB642AEB-1657-4956-A9CB-80142B1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400050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持久动态物体</a:t>
            </a:r>
          </a:p>
        </p:txBody>
      </p:sp>
      <p:sp>
        <p:nvSpPr>
          <p:cNvPr id="18" name="p4-not-list-dot-1">
            <a:extLst xmlns:a="http://schemas.openxmlformats.org/drawingml/2006/main">
              <a:ext uri="{FF2B5EF4-FFF2-40B4-BE49-F238E27FC236}">
                <a16:creationId xmlns:a16="http://schemas.microsoft.com/office/drawing/2014/main" id="{534C87FD-2046-4119-B464-91FC131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4229100" cy="3676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19" name="p4-not-list-text-1">
            <a:extLst xmlns:a="http://schemas.openxmlformats.org/drawingml/2006/main">
              <a:ext uri="{FF2B5EF4-FFF2-40B4-BE49-F238E27FC236}">
                <a16:creationId xmlns:a16="http://schemas.microsoft.com/office/drawing/2014/main" id="{3D9C59B0-BDC4-452D-ADA5-DF2E3A5E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4000500" cy="3676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独立系统复现</a:t>
            </a:r>
          </a:p>
        </p:txBody>
      </p:sp>
      <p:sp>
        <p:nvSpPr>
          <p:cNvPr id="20" name="p4-not-list-dot-2">
            <a:extLst xmlns:a="http://schemas.openxmlformats.org/drawingml/2006/main">
              <a:ext uri="{FF2B5EF4-FFF2-40B4-BE49-F238E27FC236}">
                <a16:creationId xmlns:a16="http://schemas.microsoft.com/office/drawing/2014/main" id="{989A3E45-1DED-40A1-AFD4-FA6E52D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42291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1" name="p4-not-list-text-2">
            <a:extLst xmlns:a="http://schemas.openxmlformats.org/drawingml/2006/main">
              <a:ext uri="{FF2B5EF4-FFF2-40B4-BE49-F238E27FC236}">
                <a16:creationId xmlns:a16="http://schemas.microsoft.com/office/drawing/2014/main" id="{FADA13B7-7D74-4823-9415-25FE33D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40005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客户第一方付费生产采用</a:t>
            </a:r>
          </a:p>
        </p:txBody>
      </p:sp>
      <p:sp>
        <p:nvSpPr>
          <p:cNvPr id="22" name="p4-not-list-dot-3">
            <a:extLst xmlns:a="http://schemas.openxmlformats.org/drawingml/2006/main">
              <a:ext uri="{FF2B5EF4-FFF2-40B4-BE49-F238E27FC236}">
                <a16:creationId xmlns:a16="http://schemas.microsoft.com/office/drawing/2014/main" id="{58EB1A50-1845-43FC-B122-5A06B4F4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42291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3" name="p4-not-list-text-3">
            <a:extLst xmlns:a="http://schemas.openxmlformats.org/drawingml/2006/main">
              <a:ext uri="{FF2B5EF4-FFF2-40B4-BE49-F238E27FC236}">
                <a16:creationId xmlns:a16="http://schemas.microsoft.com/office/drawing/2014/main" id="{DF0BE2BC-A48F-49E2-B243-8796CC59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40005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服务与内容权仍有采购摩擦</a:t>
            </a:r>
          </a:p>
        </p:txBody>
      </p:sp>
      <p:sp>
        <p:nvSpPr>
          <p:cNvPr id="24" name="p4-meaning-bg">
            <a:extLst xmlns:a="http://schemas.openxmlformats.org/drawingml/2006/main">
              <a:ext uri="{FF2B5EF4-FFF2-40B4-BE49-F238E27FC236}">
                <a16:creationId xmlns:a16="http://schemas.microsoft.com/office/drawing/2014/main" id="{D1F30BAD-6C7D-4E38-9847-7BB5036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819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5" name="p4-meaning-rule">
            <a:extLst xmlns:a="http://schemas.openxmlformats.org/drawingml/2006/main">
              <a:ext uri="{FF2B5EF4-FFF2-40B4-BE49-F238E27FC236}">
                <a16:creationId xmlns:a16="http://schemas.microsoft.com/office/drawing/2014/main" id="{FE7A1567-EC8C-4617-BB9D-E3AA2E4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6" name="p4-meaning-label">
            <a:extLst xmlns:a="http://schemas.openxmlformats.org/drawingml/2006/main">
              <a:ext uri="{FF2B5EF4-FFF2-40B4-BE49-F238E27FC236}">
                <a16:creationId xmlns:a16="http://schemas.microsoft.com/office/drawing/2014/main" id="{A11FD4CB-C825-492A-AB74-FF65A79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27" name="p4-meaning-body">
            <a:extLst xmlns:a="http://schemas.openxmlformats.org/drawingml/2006/main">
              <a:ext uri="{FF2B5EF4-FFF2-40B4-BE49-F238E27FC236}">
                <a16:creationId xmlns:a16="http://schemas.microsoft.com/office/drawing/2014/main" id="{9C2CF2BF-75CF-4FEA-8908-099E6229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12776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空间世界接口可能绕行专有生成与交付；
但仍不能确认双方已争夺相同客户或预算。</a:t>
            </a:r>
          </a:p>
        </p:txBody>
      </p:sp>
      <p:sp>
        <p:nvSpPr>
          <p:cNvPr id="28" name="p4-trigger-bg">
            <a:extLst xmlns:a="http://schemas.openxmlformats.org/drawingml/2006/main">
              <a:ext uri="{FF2B5EF4-FFF2-40B4-BE49-F238E27FC236}">
                <a16:creationId xmlns:a16="http://schemas.microsoft.com/office/drawing/2014/main" id="{970C368B-5715-452D-A11C-031F30DE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3619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29" name="p4-trigger-rule">
            <a:extLst xmlns:a="http://schemas.openxmlformats.org/drawingml/2006/main">
              <a:ext uri="{FF2B5EF4-FFF2-40B4-BE49-F238E27FC236}">
                <a16:creationId xmlns:a16="http://schemas.microsoft.com/office/drawing/2014/main" id="{D5DBDDE8-8824-4ED3-AA3C-DC0EFD27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30" name="p4-trigger-label">
            <a:extLst xmlns:a="http://schemas.openxmlformats.org/drawingml/2006/main">
              <a:ext uri="{FF2B5EF4-FFF2-40B4-BE49-F238E27FC236}">
                <a16:creationId xmlns:a16="http://schemas.microsoft.com/office/drawing/2014/main" id="{4C076F18-1788-462B-BD65-9DC9163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42291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31" name="p4-trigger-body">
            <a:extLst xmlns:a="http://schemas.openxmlformats.org/drawingml/2006/main">
              <a:ext uri="{FF2B5EF4-FFF2-40B4-BE49-F238E27FC236}">
                <a16:creationId xmlns:a16="http://schemas.microsoft.com/office/drawing/2014/main" id="{02AFA7E9-241D-4024-A6D4-00E4ABED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57800"/>
            <a:ext cx="42291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RTFM 获得独立复现，
或 World API 形成版本化服务。</a:t>
            </a:r>
          </a:p>
        </p:txBody>
      </p:sp>
      <p:sp>
        <p:nvSpPr>
          <p:cNvPr id="32" name="p4-footer-rule">
            <a:extLst xmlns:a="http://schemas.openxmlformats.org/drawingml/2006/main">
              <a:ext uri="{FF2B5EF4-FFF2-40B4-BE49-F238E27FC236}">
                <a16:creationId xmlns:a16="http://schemas.microsoft.com/office/drawing/2014/main" id="{8F72A4E0-4D50-4AB6-8F3D-1E8BD61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3" name="p4-footer-source">
            <a:extLst xmlns:a="http://schemas.openxmlformats.org/drawingml/2006/main">
              <a:ext uri="{FF2B5EF4-FFF2-40B4-BE49-F238E27FC236}">
                <a16:creationId xmlns:a16="http://schemas.microsoft.com/office/drawing/2014/main" id="{3A9C3BD9-E823-4D1B-950B-BCEA51C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RTFM 与 World API 分立｜来源：官方研究/项目页、API、价格、条款及厂商案例</a:t>
            </a:r>
          </a:p>
        </p:txBody>
      </p:sp>
      <p:sp>
        <p:nvSpPr>
          <p:cNvPr id="34" name="p4-footer-page">
            <a:extLst xmlns:a="http://schemas.openxmlformats.org/drawingml/2006/main">
              <a:ext uri="{FF2B5EF4-FFF2-40B4-BE49-F238E27FC236}">
                <a16:creationId xmlns:a16="http://schemas.microsoft.com/office/drawing/2014/main" id="{0B8BBABD-A220-41D2-94C4-0FADC099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04</a:t>
            </a:r>
          </a:p>
        </p:txBody>
      </p:sp>
    </p:spTree>
    <p:extLst>
      <p:ext uri="{BB962C8B-B14F-4D97-AF65-F5344CB8AC3E}">
        <p14:creationId xmlns:p14="http://schemas.microsoft.com/office/powerpoint/2010/main" val="48512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5-identity">
            <a:extLst xmlns:a="http://schemas.openxmlformats.org/drawingml/2006/main">
              <a:ext uri="{FF2B5EF4-FFF2-40B4-BE49-F238E27FC236}">
                <a16:creationId xmlns:a16="http://schemas.microsoft.com/office/drawing/2014/main" id="{3A30FB3C-CD78-4D2C-A2B3-BFD50A2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创业公司 2/4 · ODYSSEY</a:t>
            </a:r>
          </a:p>
        </p:txBody>
      </p:sp>
      <p:sp>
        <p:nvSpPr>
          <p:cNvPr id="2" name="p5-title">
            <a:extLst xmlns:a="http://schemas.openxmlformats.org/drawingml/2006/main">
              <a:ext uri="{FF2B5EF4-FFF2-40B4-BE49-F238E27FC236}">
                <a16:creationId xmlns:a16="http://schemas.microsoft.com/office/drawing/2014/main" id="{59BE1D95-830F-4D25-BEAD-FA8AC05E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实时世界流已写进开发者接口；
账户、稳定性和服务等级仍待证</a:t>
            </a:r>
          </a:p>
        </p:txBody>
      </p:sp>
      <p:sp>
        <p:nvSpPr>
          <p:cNvPr id="3" name="p5-route-line">
            <a:extLst xmlns:a="http://schemas.openxmlformats.org/drawingml/2006/main">
              <a:ext uri="{FF2B5EF4-FFF2-40B4-BE49-F238E27FC236}">
                <a16:creationId xmlns:a16="http://schemas.microsoft.com/office/drawing/2014/main" id="{76333AD4-BB9A-4954-8C4E-9208DE8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4" name="p5-route">
            <a:extLst xmlns:a="http://schemas.openxmlformats.org/drawingml/2006/main">
              <a:ext uri="{FF2B5EF4-FFF2-40B4-BE49-F238E27FC236}">
                <a16:creationId xmlns:a16="http://schemas.microsoft.com/office/drawing/2014/main" id="{76FD58D9-1C74-4A6F-A4BA-56AB8B2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1049000" cy="520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实时世界流 · 文档化接口</a:t>
            </a:r>
          </a:p>
        </p:txBody>
      </p:sp>
      <p:sp>
        <p:nvSpPr>
          <p:cNvPr id="5" name="p5-left-bg">
            <a:extLst xmlns:a="http://schemas.openxmlformats.org/drawingml/2006/main">
              <a:ext uri="{FF2B5EF4-FFF2-40B4-BE49-F238E27FC236}">
                <a16:creationId xmlns:a16="http://schemas.microsoft.com/office/drawing/2014/main" id="{9B9B0CBC-2FF4-4EC7-9060-017B6EE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38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6" name="p5-established-rule">
            <a:extLst xmlns:a="http://schemas.openxmlformats.org/drawingml/2006/main">
              <a:ext uri="{FF2B5EF4-FFF2-40B4-BE49-F238E27FC236}">
                <a16:creationId xmlns:a16="http://schemas.microsoft.com/office/drawing/2014/main" id="{6ADB60A1-9E42-4103-9B3F-019DF5B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7" name="p5-established-label">
            <a:extLst xmlns:a="http://schemas.openxmlformats.org/drawingml/2006/main">
              <a:ext uri="{FF2B5EF4-FFF2-40B4-BE49-F238E27FC236}">
                <a16:creationId xmlns:a16="http://schemas.microsoft.com/office/drawing/2014/main" id="{216F39BF-1994-4DE5-B14F-89C08C8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1277600" cy="441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8" name="p5-established-body">
            <a:extLst xmlns:a="http://schemas.openxmlformats.org/drawingml/2006/main">
              <a:ext uri="{FF2B5EF4-FFF2-40B4-BE49-F238E27FC236}">
                <a16:creationId xmlns:a16="http://schemas.microsoft.com/office/drawing/2014/main" id="{6BF9D28B-8197-4813-B810-D0531B9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277600" cy="40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Odyssey-2 Pro 根据历史状态与用户动作生成后续画面。
厂商文档给出密钥、JavaScript / Python 接入和连接规则。</a:t>
            </a:r>
          </a:p>
        </p:txBody>
      </p:sp>
      <p:sp>
        <p:nvSpPr>
          <p:cNvPr id="9" name="p5-left-rule">
            <a:extLst xmlns:a="http://schemas.openxmlformats.org/drawingml/2006/main">
              <a:ext uri="{FF2B5EF4-FFF2-40B4-BE49-F238E27FC236}">
                <a16:creationId xmlns:a16="http://schemas.microsoft.com/office/drawing/2014/main" id="{6A58C449-89BF-4C23-923E-E47BAF71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54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0" name="p5-meaning-rule">
            <a:extLst xmlns:a="http://schemas.openxmlformats.org/drawingml/2006/main">
              <a:ext uri="{FF2B5EF4-FFF2-40B4-BE49-F238E27FC236}">
                <a16:creationId xmlns:a16="http://schemas.microsoft.com/office/drawing/2014/main" id="{544C415D-E06E-4C35-8DF4-BD70682D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1" name="p5-meaning-label">
            <a:extLst xmlns:a="http://schemas.openxmlformats.org/drawingml/2006/main">
              <a:ext uri="{FF2B5EF4-FFF2-40B4-BE49-F238E27FC236}">
                <a16:creationId xmlns:a16="http://schemas.microsoft.com/office/drawing/2014/main" id="{E5981BA4-B90C-4944-8823-A8D45B64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12776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12" name="p5-meaning-body">
            <a:extLst xmlns:a="http://schemas.openxmlformats.org/drawingml/2006/main">
              <a:ext uri="{FF2B5EF4-FFF2-40B4-BE49-F238E27FC236}">
                <a16:creationId xmlns:a16="http://schemas.microsoft.com/office/drawing/2014/main" id="{E339922A-FEE3-4132-8B13-BE116C4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12776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若账户、可靠性和单位经济性闭合，
它可能成为实时世界流基础设施；
目前只能作条件性判断。</a:t>
            </a:r>
          </a:p>
        </p:txBody>
      </p:sp>
      <p:sp>
        <p:nvSpPr>
          <p:cNvPr id="13" name="p5-trigger-top">
            <a:extLst xmlns:a="http://schemas.openxmlformats.org/drawingml/2006/main">
              <a:ext uri="{FF2B5EF4-FFF2-40B4-BE49-F238E27FC236}">
                <a16:creationId xmlns:a16="http://schemas.microsoft.com/office/drawing/2014/main" id="{43F4934D-E9E2-4846-8C4F-43AF4CB5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4" name="p5-trigger-label">
            <a:extLst xmlns:a="http://schemas.openxmlformats.org/drawingml/2006/main">
              <a:ext uri="{FF2B5EF4-FFF2-40B4-BE49-F238E27FC236}">
                <a16:creationId xmlns:a16="http://schemas.microsoft.com/office/drawing/2014/main" id="{2BFFC8EF-FB81-4C50-8820-BD925D4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12776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15" name="p5-trigger-body">
            <a:extLst xmlns:a="http://schemas.openxmlformats.org/drawingml/2006/main">
              <a:ext uri="{FF2B5EF4-FFF2-40B4-BE49-F238E27FC236}">
                <a16:creationId xmlns:a16="http://schemas.microsoft.com/office/drawing/2014/main" id="{7790BA84-1C1C-43F7-B759-3FE1F0A4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12776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独立账户在公开价格和服务等级下
完成长时稳定调用。</a:t>
            </a:r>
          </a:p>
        </p:txBody>
      </p:sp>
      <p:sp>
        <p:nvSpPr>
          <p:cNvPr id="16" name="p5-limits-bg">
            <a:extLst xmlns:a="http://schemas.openxmlformats.org/drawingml/2006/main">
              <a:ext uri="{FF2B5EF4-FFF2-40B4-BE49-F238E27FC236}">
                <a16:creationId xmlns:a16="http://schemas.microsoft.com/office/drawing/2014/main" id="{F5854B92-BBD6-4F0F-82A3-FEFA880D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4057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7" name="p5-limits-title">
            <a:extLst xmlns:a="http://schemas.openxmlformats.org/drawingml/2006/main">
              <a:ext uri="{FF2B5EF4-FFF2-40B4-BE49-F238E27FC236}">
                <a16:creationId xmlns:a16="http://schemas.microsoft.com/office/drawing/2014/main" id="{FC80D936-D530-4617-BE87-8749856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66725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仍未闭合的服务条件</a:t>
            </a:r>
          </a:p>
        </p:txBody>
      </p:sp>
      <p:sp>
        <p:nvSpPr>
          <p:cNvPr id="18" name="p5-limit-big-0">
            <a:extLst xmlns:a="http://schemas.openxmlformats.org/drawingml/2006/main">
              <a:ext uri="{FF2B5EF4-FFF2-40B4-BE49-F238E27FC236}">
                <a16:creationId xmlns:a16="http://schemas.microsoft.com/office/drawing/2014/main" id="{2132638D-F330-4F22-A0EF-55DF6E2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466725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账户</a:t>
            </a:r>
          </a:p>
        </p:txBody>
      </p:sp>
      <p:sp>
        <p:nvSpPr>
          <p:cNvPr id="19" name="p5-limit-small-0">
            <a:extLst xmlns:a="http://schemas.openxmlformats.org/drawingml/2006/main">
              <a:ext uri="{FF2B5EF4-FFF2-40B4-BE49-F238E27FC236}">
                <a16:creationId xmlns:a16="http://schemas.microsoft.com/office/drawing/2014/main" id="{2E3BFB78-0A36-4F32-A19D-E9DB44A9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346710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实际账户与持续调用未独立确认</a:t>
            </a:r>
          </a:p>
        </p:txBody>
      </p:sp>
      <p:sp>
        <p:nvSpPr>
          <p:cNvPr id="20" name="p5-limit-rule-1">
            <a:extLst xmlns:a="http://schemas.openxmlformats.org/drawingml/2006/main">
              <a:ext uri="{FF2B5EF4-FFF2-40B4-BE49-F238E27FC236}">
                <a16:creationId xmlns:a16="http://schemas.microsoft.com/office/drawing/2014/main" id="{6C696EA3-1849-4EB0-9BB8-A144598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1" name="p5-limit-big-1">
            <a:extLst xmlns:a="http://schemas.openxmlformats.org/drawingml/2006/main">
              <a:ext uri="{FF2B5EF4-FFF2-40B4-BE49-F238E27FC236}">
                <a16:creationId xmlns:a16="http://schemas.microsoft.com/office/drawing/2014/main" id="{9FF4A1E9-8E6B-42EA-AB24-67A0A49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466725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150 秒</a:t>
            </a:r>
          </a:p>
        </p:txBody>
      </p:sp>
      <p:sp>
        <p:nvSpPr>
          <p:cNvPr id="22" name="p5-limit-small-1">
            <a:extLst xmlns:a="http://schemas.openxmlformats.org/drawingml/2006/main">
              <a:ext uri="{FF2B5EF4-FFF2-40B4-BE49-F238E27FC236}">
                <a16:creationId xmlns:a16="http://schemas.microsoft.com/office/drawing/2014/main" id="{F2A964A8-D4D7-4177-93A4-D3733A5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346710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当前默认单流上限</a:t>
            </a:r>
          </a:p>
        </p:txBody>
      </p:sp>
      <p:sp>
        <p:nvSpPr>
          <p:cNvPr id="23" name="p5-limit-rule-2">
            <a:extLst xmlns:a="http://schemas.openxmlformats.org/drawingml/2006/main">
              <a:ext uri="{FF2B5EF4-FFF2-40B4-BE49-F238E27FC236}">
                <a16:creationId xmlns:a16="http://schemas.microsoft.com/office/drawing/2014/main" id="{9F8F3D42-9EDC-4182-A531-D3A6B75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4" name="p5-limit-big-2">
            <a:extLst xmlns:a="http://schemas.openxmlformats.org/drawingml/2006/main">
              <a:ext uri="{FF2B5EF4-FFF2-40B4-BE49-F238E27FC236}">
                <a16:creationId xmlns:a16="http://schemas.microsoft.com/office/drawing/2014/main" id="{C81339CD-1CFE-49EA-931B-9890D37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46672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60 分钟</a:t>
            </a:r>
          </a:p>
        </p:txBody>
      </p:sp>
      <p:sp>
        <p:nvSpPr>
          <p:cNvPr id="25" name="p5-limit-small-2">
            <a:extLst xmlns:a="http://schemas.openxmlformats.org/drawingml/2006/main">
              <a:ext uri="{FF2B5EF4-FFF2-40B4-BE49-F238E27FC236}">
                <a16:creationId xmlns:a16="http://schemas.microsoft.com/office/drawing/2014/main" id="{008C1871-0CCD-4F86-8C3B-51ED24CD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0050"/>
            <a:ext cx="346710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当前默认单连接上限</a:t>
            </a:r>
          </a:p>
        </p:txBody>
      </p:sp>
      <p:sp>
        <p:nvSpPr>
          <p:cNvPr id="26" name="p5-limit-rule-3">
            <a:extLst xmlns:a="http://schemas.openxmlformats.org/drawingml/2006/main">
              <a:ext uri="{FF2B5EF4-FFF2-40B4-BE49-F238E27FC236}">
                <a16:creationId xmlns:a16="http://schemas.microsoft.com/office/drawing/2014/main" id="{560A377D-2477-45EA-8423-6161D78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7" name="p5-limit-big-3">
            <a:extLst xmlns:a="http://schemas.openxmlformats.org/drawingml/2006/main">
              <a:ext uri="{FF2B5EF4-FFF2-40B4-BE49-F238E27FC236}">
                <a16:creationId xmlns:a16="http://schemas.microsoft.com/office/drawing/2014/main" id="{33570E5A-0A73-4430-A2F8-5434DCF2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46672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15 分钟</a:t>
            </a:r>
          </a:p>
        </p:txBody>
      </p:sp>
      <p:sp>
        <p:nvSpPr>
          <p:cNvPr id="28" name="p5-limit-small-3">
            <a:extLst xmlns:a="http://schemas.openxmlformats.org/drawingml/2006/main">
              <a:ext uri="{FF2B5EF4-FFF2-40B4-BE49-F238E27FC236}">
                <a16:creationId xmlns:a16="http://schemas.microsoft.com/office/drawing/2014/main" id="{B58A6AA9-6DF2-42CE-AE4F-AFD7E64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34671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无活动流自动断开</a:t>
            </a:r>
          </a:p>
        </p:txBody>
      </p:sp>
      <p:sp>
        <p:nvSpPr>
          <p:cNvPr id="29" name="p5-limit-note">
            <a:extLst xmlns:a="http://schemas.openxmlformats.org/drawingml/2006/main">
              <a:ext uri="{FF2B5EF4-FFF2-40B4-BE49-F238E27FC236}">
                <a16:creationId xmlns:a16="http://schemas.microsoft.com/office/drawing/2014/main" id="{5BF164CF-A1A5-4A8C-943B-33938E07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46672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这些运营限制均不构成服务等级保证。</a:t>
            </a:r>
          </a:p>
        </p:txBody>
      </p:sp>
      <p:sp>
        <p:nvSpPr>
          <p:cNvPr id="30" name="p5-footer-rule">
            <a:extLst xmlns:a="http://schemas.openxmlformats.org/drawingml/2006/main">
              <a:ext uri="{FF2B5EF4-FFF2-40B4-BE49-F238E27FC236}">
                <a16:creationId xmlns:a16="http://schemas.microsoft.com/office/drawing/2014/main" id="{CEFB12E5-CDE9-4418-99EF-A55EDE3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1" name="p5-footer-source">
            <a:extLst xmlns:a="http://schemas.openxmlformats.org/drawingml/2006/main">
              <a:ext uri="{FF2B5EF4-FFF2-40B4-BE49-F238E27FC236}">
                <a16:creationId xmlns:a16="http://schemas.microsoft.com/office/drawing/2014/main" id="{75E85AB5-98EE-439C-82BF-AAFC3743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来源：官方开发者文档、运营限制与条款；公司自报云合作</a:t>
            </a:r>
          </a:p>
        </p:txBody>
      </p:sp>
      <p:sp>
        <p:nvSpPr>
          <p:cNvPr id="32" name="p5-footer-page">
            <a:extLst xmlns:a="http://schemas.openxmlformats.org/drawingml/2006/main">
              <a:ext uri="{FF2B5EF4-FFF2-40B4-BE49-F238E27FC236}">
                <a16:creationId xmlns:a16="http://schemas.microsoft.com/office/drawing/2014/main" id="{4D5A379C-B8D0-4804-BF82-B89F9DF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05</a:t>
            </a:r>
          </a:p>
        </p:txBody>
      </p:sp>
    </p:spTree>
    <p:extLst>
      <p:ext uri="{BB962C8B-B14F-4D97-AF65-F5344CB8AC3E}">
        <p14:creationId xmlns:p14="http://schemas.microsoft.com/office/powerpoint/2010/main" val="1940411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6-identity">
            <a:extLst xmlns:a="http://schemas.openxmlformats.org/drawingml/2006/main">
              <a:ext uri="{FF2B5EF4-FFF2-40B4-BE49-F238E27FC236}">
                <a16:creationId xmlns:a16="http://schemas.microsoft.com/office/drawing/2014/main" id="{E68E9A98-FFF3-4470-9613-2E097E39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创业公司 3/4 · RUNWAY</a:t>
            </a:r>
          </a:p>
        </p:txBody>
      </p:sp>
      <p:sp>
        <p:nvSpPr>
          <p:cNvPr id="2" name="p6-title">
            <a:extLst xmlns:a="http://schemas.openxmlformats.org/drawingml/2006/main">
              <a:ext uri="{FF2B5EF4-FFF2-40B4-BE49-F238E27FC236}">
                <a16:creationId xmlns:a16="http://schemas.microsoft.com/office/drawing/2014/main" id="{C5B45EB6-FE1C-4287-B1CC-0FECFA5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Runway 同时押注 Worlds 与 Robotics；
两条路线都还处在早期</a:t>
            </a:r>
          </a:p>
        </p:txBody>
      </p:sp>
      <p:sp>
        <p:nvSpPr>
          <p:cNvPr id="3" name="p6-route-line">
            <a:extLst xmlns:a="http://schemas.openxmlformats.org/drawingml/2006/main">
              <a:ext uri="{FF2B5EF4-FFF2-40B4-BE49-F238E27FC236}">
                <a16:creationId xmlns:a16="http://schemas.microsoft.com/office/drawing/2014/main" id="{76A94565-54EE-4D68-88B9-2C1D0443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" name="p6-route">
            <a:extLst xmlns:a="http://schemas.openxmlformats.org/drawingml/2006/main">
              <a:ext uri="{FF2B5EF4-FFF2-40B4-BE49-F238E27FC236}">
                <a16:creationId xmlns:a16="http://schemas.microsoft.com/office/drawing/2014/main" id="{F4F06013-CC14-4F53-BD71-24B744D7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1049000" cy="520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内容平台外延 · 申请制入口</a:t>
            </a:r>
          </a:p>
        </p:txBody>
      </p:sp>
      <p:sp>
        <p:nvSpPr>
          <p:cNvPr id="5" name="p6-worlds-bg">
            <a:extLst xmlns:a="http://schemas.openxmlformats.org/drawingml/2006/main">
              <a:ext uri="{FF2B5EF4-FFF2-40B4-BE49-F238E27FC236}">
                <a16:creationId xmlns:a16="http://schemas.microsoft.com/office/drawing/2014/main" id="{89D6935A-46F3-42F8-B302-00D3BADB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6" name="p6-worlds-kicker">
            <a:extLst xmlns:a="http://schemas.openxmlformats.org/drawingml/2006/main">
              <a:ext uri="{FF2B5EF4-FFF2-40B4-BE49-F238E27FC236}">
                <a16:creationId xmlns:a16="http://schemas.microsoft.com/office/drawing/2014/main" id="{4E12BBE6-B071-4CAA-BC80-B4CB9C66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1277600" cy="451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已成立 · 路线 A</a:t>
            </a:r>
          </a:p>
        </p:txBody>
      </p:sp>
      <p:sp>
        <p:nvSpPr>
          <p:cNvPr id="7" name="p6-worlds-name">
            <a:extLst xmlns:a="http://schemas.openxmlformats.org/drawingml/2006/main">
              <a:ext uri="{FF2B5EF4-FFF2-40B4-BE49-F238E27FC236}">
                <a16:creationId xmlns:a16="http://schemas.microsoft.com/office/drawing/2014/main" id="{1B654F4E-7A2A-45FF-946D-DD8E5CAD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12776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</a:t>
            </a:r>
          </a:p>
        </p:txBody>
      </p:sp>
      <p:sp>
        <p:nvSpPr>
          <p:cNvPr id="8" name="p6-worlds-access">
            <a:extLst xmlns:a="http://schemas.openxmlformats.org/drawingml/2006/main">
              <a:ext uri="{FF2B5EF4-FFF2-40B4-BE49-F238E27FC236}">
                <a16:creationId xmlns:a16="http://schemas.microsoft.com/office/drawing/2014/main" id="{E330A069-3752-4A6D-A6DC-0F323C0D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1277600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公开申请制 early access；
实际访问未独立确认。</a:t>
            </a:r>
          </a:p>
        </p:txBody>
      </p:sp>
      <p:sp>
        <p:nvSpPr>
          <p:cNvPr id="9" name="p6-robotics-bg">
            <a:extLst xmlns:a="http://schemas.openxmlformats.org/drawingml/2006/main">
              <a:ext uri="{FF2B5EF4-FFF2-40B4-BE49-F238E27FC236}">
                <a16:creationId xmlns:a16="http://schemas.microsoft.com/office/drawing/2014/main" id="{CB857A02-EA67-4B49-A6B0-1A522D1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5295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0" name="p6-robotics-kicker">
            <a:extLst xmlns:a="http://schemas.openxmlformats.org/drawingml/2006/main">
              <a:ext uri="{FF2B5EF4-FFF2-40B4-BE49-F238E27FC236}">
                <a16:creationId xmlns:a16="http://schemas.microsoft.com/office/drawing/2014/main" id="{5D6FC3E3-4DE3-4C08-A6AC-B08726E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5905500" cy="451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已成立 · 路线 B</a:t>
            </a:r>
          </a:p>
        </p:txBody>
      </p:sp>
      <p:sp>
        <p:nvSpPr>
          <p:cNvPr id="11" name="p6-robotics-name">
            <a:extLst xmlns:a="http://schemas.openxmlformats.org/drawingml/2006/main">
              <a:ext uri="{FF2B5EF4-FFF2-40B4-BE49-F238E27FC236}">
                <a16:creationId xmlns:a16="http://schemas.microsoft.com/office/drawing/2014/main" id="{C74C7B7D-C466-487B-910A-7974CDB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59055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Robotics</a:t>
            </a:r>
          </a:p>
        </p:txBody>
      </p:sp>
      <p:sp>
        <p:nvSpPr>
          <p:cNvPr id="12" name="p6-robotics-access">
            <a:extLst xmlns:a="http://schemas.openxmlformats.org/drawingml/2006/main">
              <a:ext uri="{FF2B5EF4-FFF2-40B4-BE49-F238E27FC236}">
                <a16:creationId xmlns:a16="http://schemas.microsoft.com/office/drawing/2014/main" id="{D78644B7-6163-46E3-B1EC-EBE29CB9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905500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动作条件展开与 Python SDK；
云端、定制和本地部署均需洽谈。</a:t>
            </a:r>
          </a:p>
        </p:txBody>
      </p:sp>
      <p:sp>
        <p:nvSpPr>
          <p:cNvPr id="13" name="p6-gap-bg">
            <a:extLst xmlns:a="http://schemas.openxmlformats.org/drawingml/2006/main">
              <a:ext uri="{FF2B5EF4-FFF2-40B4-BE49-F238E27FC236}">
                <a16:creationId xmlns:a16="http://schemas.microsoft.com/office/drawing/2014/main" id="{49EAE77E-545E-4627-88BF-385D0D0B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4" name="p6-gap-title">
            <a:extLst xmlns:a="http://schemas.openxmlformats.org/drawingml/2006/main">
              <a:ext uri="{FF2B5EF4-FFF2-40B4-BE49-F238E27FC236}">
                <a16:creationId xmlns:a16="http://schemas.microsoft.com/office/drawing/2014/main" id="{AA70F950-3B56-41C5-B142-8412818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12776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共同缺口</a:t>
            </a:r>
          </a:p>
        </p:txBody>
      </p:sp>
      <p:sp>
        <p:nvSpPr>
          <p:cNvPr id="15" name="p6-gap-body">
            <a:extLst xmlns:a="http://schemas.openxmlformats.org/drawingml/2006/main">
              <a:ext uri="{FF2B5EF4-FFF2-40B4-BE49-F238E27FC236}">
                <a16:creationId xmlns:a16="http://schemas.microsoft.com/office/drawing/2014/main" id="{DAA31648-640E-4C5D-B5FE-8FF74EE3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48150"/>
            <a:ext cx="95631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两条路线都缺公开价格、服务等级和独立复现；
合作证据仍停在 Runway 单方说明。</a:t>
            </a:r>
          </a:p>
        </p:txBody>
      </p:sp>
      <p:sp>
        <p:nvSpPr>
          <p:cNvPr id="16" name="p6-meaning-bg">
            <a:extLst xmlns:a="http://schemas.openxmlformats.org/drawingml/2006/main">
              <a:ext uri="{FF2B5EF4-FFF2-40B4-BE49-F238E27FC236}">
                <a16:creationId xmlns:a16="http://schemas.microsoft.com/office/drawing/2014/main" id="{94F578F4-B5AA-4C79-A07E-3EA025C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81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7" name="p6-meaning-title">
            <a:extLst xmlns:a="http://schemas.openxmlformats.org/drawingml/2006/main">
              <a:ext uri="{FF2B5EF4-FFF2-40B4-BE49-F238E27FC236}">
                <a16:creationId xmlns:a16="http://schemas.microsoft.com/office/drawing/2014/main" id="{4389AF72-B626-4860-9DAA-4E31A63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12776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18" name="p6-meaning-body">
            <a:extLst xmlns:a="http://schemas.openxmlformats.org/drawingml/2006/main">
              <a:ext uri="{FF2B5EF4-FFF2-40B4-BE49-F238E27FC236}">
                <a16:creationId xmlns:a16="http://schemas.microsoft.com/office/drawing/2014/main" id="{94F032BB-F98D-4331-BA93-D276E39D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12776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内容平台可能延伸到可探索世界；
机器人路线不能借证给 Worlds。</a:t>
            </a:r>
          </a:p>
        </p:txBody>
      </p:sp>
      <p:sp>
        <p:nvSpPr>
          <p:cNvPr id="19" name="p6-trigger-bg">
            <a:extLst xmlns:a="http://schemas.openxmlformats.org/drawingml/2006/main">
              <a:ext uri="{FF2B5EF4-FFF2-40B4-BE49-F238E27FC236}">
                <a16:creationId xmlns:a16="http://schemas.microsoft.com/office/drawing/2014/main" id="{0A6AC120-17A0-413D-ADEA-F4EB3B65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006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20" name="p6-trigger-title">
            <a:extLst xmlns:a="http://schemas.openxmlformats.org/drawingml/2006/main">
              <a:ext uri="{FF2B5EF4-FFF2-40B4-BE49-F238E27FC236}">
                <a16:creationId xmlns:a16="http://schemas.microsoft.com/office/drawing/2014/main" id="{2DBA323C-A738-4EAD-9F41-0B0D826C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42291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21" name="p6-trigger-body">
            <a:extLst xmlns:a="http://schemas.openxmlformats.org/drawingml/2006/main">
              <a:ext uri="{FF2B5EF4-FFF2-40B4-BE49-F238E27FC236}">
                <a16:creationId xmlns:a16="http://schemas.microsoft.com/office/drawing/2014/main" id="{55AA06FB-F4C3-457A-AB28-3473027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95950"/>
            <a:ext cx="42291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任一组件获得独立调用，
并获得伙伴侧生产确认。</a:t>
            </a:r>
          </a:p>
        </p:txBody>
      </p:sp>
      <p:sp>
        <p:nvSpPr>
          <p:cNvPr id="22" name="p6-footer-rule">
            <a:extLst xmlns:a="http://schemas.openxmlformats.org/drawingml/2006/main">
              <a:ext uri="{FF2B5EF4-FFF2-40B4-BE49-F238E27FC236}">
                <a16:creationId xmlns:a16="http://schemas.microsoft.com/office/drawing/2014/main" id="{BD803FF3-162A-495D-8769-5B2AAAD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3" name="p6-footer-source">
            <a:extLst xmlns:a="http://schemas.openxmlformats.org/drawingml/2006/main">
              <a:ext uri="{FF2B5EF4-FFF2-40B4-BE49-F238E27FC236}">
                <a16:creationId xmlns:a16="http://schemas.microsoft.com/office/drawing/2014/main" id="{185ED2D8-BC32-4AC7-B84C-E3C85303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Worlds ≠ Robotics｜来源：官方产品、申请入口、SDK/部署资料及公司自报</a:t>
            </a:r>
          </a:p>
        </p:txBody>
      </p:sp>
      <p:sp>
        <p:nvSpPr>
          <p:cNvPr id="24" name="p6-footer-page">
            <a:extLst xmlns:a="http://schemas.openxmlformats.org/drawingml/2006/main">
              <a:ext uri="{FF2B5EF4-FFF2-40B4-BE49-F238E27FC236}">
                <a16:creationId xmlns:a16="http://schemas.microsoft.com/office/drawing/2014/main" id="{18AFF44B-9162-4413-A4B7-AD78157D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06</a:t>
            </a:r>
          </a:p>
        </p:txBody>
      </p:sp>
    </p:spTree>
    <p:extLst>
      <p:ext uri="{BB962C8B-B14F-4D97-AF65-F5344CB8AC3E}">
        <p14:creationId xmlns:p14="http://schemas.microsoft.com/office/powerpoint/2010/main" val="1915196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7-identity">
            <a:extLst xmlns:a="http://schemas.openxmlformats.org/drawingml/2006/main">
              <a:ext uri="{FF2B5EF4-FFF2-40B4-BE49-F238E27FC236}">
                <a16:creationId xmlns:a16="http://schemas.microsoft.com/office/drawing/2014/main" id="{10D4ADC9-CE10-4F68-8EE0-3137CEA1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创业公司 4/4 · DECART</a:t>
            </a:r>
          </a:p>
        </p:txBody>
      </p:sp>
      <p:sp>
        <p:nvSpPr>
          <p:cNvPr id="2" name="p7-title">
            <a:extLst xmlns:a="http://schemas.openxmlformats.org/drawingml/2006/main">
              <a:ext uri="{FF2B5EF4-FFF2-40B4-BE49-F238E27FC236}">
                <a16:creationId xmlns:a16="http://schemas.microsoft.com/office/drawing/2014/main" id="{73C0354D-0351-4747-943C-BE9C0F12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驾驶场景已经按秒计费；
企业可靠性仍待证</a:t>
            </a:r>
          </a:p>
        </p:txBody>
      </p:sp>
      <p:sp>
        <p:nvSpPr>
          <p:cNvPr id="3" name="p7-route-line">
            <a:extLst xmlns:a="http://schemas.openxmlformats.org/drawingml/2006/main">
              <a:ext uri="{FF2B5EF4-FFF2-40B4-BE49-F238E27FC236}">
                <a16:creationId xmlns:a16="http://schemas.microsoft.com/office/drawing/2014/main" id="{A81C0966-499A-4BD0-BB38-4B8F187D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4" name="p7-route">
            <a:extLst xmlns:a="http://schemas.openxmlformats.org/drawingml/2006/main">
              <a:ext uri="{FF2B5EF4-FFF2-40B4-BE49-F238E27FC236}">
                <a16:creationId xmlns:a16="http://schemas.microsoft.com/office/drawing/2014/main" id="{A43C01F5-2F87-4CC5-89E6-DEF259F6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1049000" cy="520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 · 公开计价接口</a:t>
            </a:r>
          </a:p>
        </p:txBody>
      </p:sp>
      <p:sp>
        <p:nvSpPr>
          <p:cNvPr id="5" name="p7-price-bg">
            <a:extLst xmlns:a="http://schemas.openxmlformats.org/drawingml/2006/main">
              <a:ext uri="{FF2B5EF4-FFF2-40B4-BE49-F238E27FC236}">
                <a16:creationId xmlns:a16="http://schemas.microsoft.com/office/drawing/2014/main" id="{3EF2F43D-900D-47F4-8261-638BB283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6" name="p7-price-kicker">
            <a:extLst xmlns:a="http://schemas.openxmlformats.org/drawingml/2006/main">
              <a:ext uri="{FF2B5EF4-FFF2-40B4-BE49-F238E27FC236}">
                <a16:creationId xmlns:a16="http://schemas.microsoft.com/office/drawing/2014/main" id="{39B2F50C-7C63-4A18-9D1C-A401BE6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12776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价格锚点</a:t>
            </a:r>
          </a:p>
        </p:txBody>
      </p:sp>
      <p:sp>
        <p:nvSpPr>
          <p:cNvPr id="7" name="p7-price">
            <a:extLst xmlns:a="http://schemas.openxmlformats.org/drawingml/2006/main">
              <a:ext uri="{FF2B5EF4-FFF2-40B4-BE49-F238E27FC236}">
                <a16:creationId xmlns:a16="http://schemas.microsoft.com/office/drawing/2014/main" id="{6BFE0561-3448-4B76-BE26-25D040F5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12776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0.02</a:t>
            </a:r>
          </a:p>
        </p:txBody>
      </p:sp>
      <p:sp>
        <p:nvSpPr>
          <p:cNvPr id="8" name="p7-price-unit">
            <a:extLst xmlns:a="http://schemas.openxmlformats.org/drawingml/2006/main">
              <a:ext uri="{FF2B5EF4-FFF2-40B4-BE49-F238E27FC236}">
                <a16:creationId xmlns:a16="http://schemas.microsoft.com/office/drawing/2014/main" id="{D7548E97-DB97-47B2-88D7-2C7B8A03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1277600" cy="3448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美元 / 秒</a:t>
            </a:r>
          </a:p>
        </p:txBody>
      </p:sp>
      <p:sp>
        <p:nvSpPr>
          <p:cNvPr id="9" name="p7-price-rule">
            <a:extLst xmlns:a="http://schemas.openxmlformats.org/drawingml/2006/main">
              <a:ext uri="{FF2B5EF4-FFF2-40B4-BE49-F238E27FC236}">
                <a16:creationId xmlns:a16="http://schemas.microsoft.com/office/drawing/2014/main" id="{4DF4D1CB-44FC-4FAE-B6A3-0E765244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0" name="p7-flow">
            <a:extLst xmlns:a="http://schemas.openxmlformats.org/drawingml/2006/main">
              <a:ext uri="{FF2B5EF4-FFF2-40B4-BE49-F238E27FC236}">
                <a16:creationId xmlns:a16="http://schemas.microsoft.com/office/drawing/2014/main" id="{C82AC5D6-292C-4AA7-AD38-7EAADCA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127760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油门 / 转向
↓
有状态会话
↓
前 / 左 / 右后续视图</a:t>
            </a:r>
          </a:p>
        </p:txBody>
      </p:sp>
      <p:sp>
        <p:nvSpPr>
          <p:cNvPr id="11" name="p7-scope">
            <a:extLst xmlns:a="http://schemas.openxmlformats.org/drawingml/2006/main">
              <a:ext uri="{FF2B5EF4-FFF2-40B4-BE49-F238E27FC236}">
                <a16:creationId xmlns:a16="http://schemas.microsoft.com/office/drawing/2014/main" id="{89F6429F-ED21-4E59-AB13-DDECA6AC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1277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具体驾驶任务，
不外推为通用世界能力。</a:t>
            </a:r>
          </a:p>
        </p:txBody>
      </p:sp>
      <p:sp>
        <p:nvSpPr>
          <p:cNvPr id="12" name="p7-established-bg">
            <a:extLst xmlns:a="http://schemas.openxmlformats.org/drawingml/2006/main">
              <a:ext uri="{FF2B5EF4-FFF2-40B4-BE49-F238E27FC236}">
                <a16:creationId xmlns:a16="http://schemas.microsoft.com/office/drawing/2014/main" id="{B761BF59-6721-4D07-962A-06B67EBF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7296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3" name="p7-established-title">
            <a:extLst xmlns:a="http://schemas.openxmlformats.org/drawingml/2006/main">
              <a:ext uri="{FF2B5EF4-FFF2-40B4-BE49-F238E27FC236}">
                <a16:creationId xmlns:a16="http://schemas.microsoft.com/office/drawing/2014/main" id="{5DE3AEF9-B583-40C5-9CDD-CD4E1B8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7905750" cy="451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14" name="p7-established-body">
            <a:extLst xmlns:a="http://schemas.openxmlformats.org/drawingml/2006/main">
              <a:ext uri="{FF2B5EF4-FFF2-40B4-BE49-F238E27FC236}">
                <a16:creationId xmlns:a16="http://schemas.microsoft.com/office/drawing/2014/main" id="{69C42967-906B-49E0-BFC2-C8AE7BB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6400800" cy="455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公开账户按 0.02 美元 / 秒计费；有状态会话接收油门和转向动作，
生成前、左、右后续视图。</a:t>
            </a:r>
          </a:p>
        </p:txBody>
      </p:sp>
      <p:sp>
        <p:nvSpPr>
          <p:cNvPr id="15" name="p7-not-bg">
            <a:extLst xmlns:a="http://schemas.openxmlformats.org/drawingml/2006/main">
              <a:ext uri="{FF2B5EF4-FFF2-40B4-BE49-F238E27FC236}">
                <a16:creationId xmlns:a16="http://schemas.microsoft.com/office/drawing/2014/main" id="{9CA7A4FD-483D-4A31-B4D7-66878E7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7296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6" name="p7-not-title">
            <a:extLst xmlns:a="http://schemas.openxmlformats.org/drawingml/2006/main">
              <a:ext uri="{FF2B5EF4-FFF2-40B4-BE49-F238E27FC236}">
                <a16:creationId xmlns:a16="http://schemas.microsoft.com/office/drawing/2014/main" id="{E1901A82-422A-489D-87BC-51C63A0B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79057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7" name="p7-not-body">
            <a:extLst xmlns:a="http://schemas.openxmlformats.org/drawingml/2006/main">
              <a:ext uri="{FF2B5EF4-FFF2-40B4-BE49-F238E27FC236}">
                <a16:creationId xmlns:a16="http://schemas.microsoft.com/office/drawing/2014/main" id="{25D56693-5714-4778-AADF-8B1A51AB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81400"/>
            <a:ext cx="640080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预览服务可撤销，且无连续性保证；输入 / 输出可用于训练改进。
独立体验仍报告路线记忆、控制、漂移和碰撞问题；未见付费客户或生产部署。</a:t>
            </a:r>
          </a:p>
        </p:txBody>
      </p:sp>
      <p:sp>
        <p:nvSpPr>
          <p:cNvPr id="18" name="p7-meaning-bg">
            <a:extLst xmlns:a="http://schemas.openxmlformats.org/drawingml/2006/main">
              <a:ext uri="{FF2B5EF4-FFF2-40B4-BE49-F238E27FC236}">
                <a16:creationId xmlns:a16="http://schemas.microsoft.com/office/drawing/2014/main" id="{10AC41F9-0CF2-4A34-A27A-A8D7AEBF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48250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9" name="p7-meaning-title">
            <a:extLst xmlns:a="http://schemas.openxmlformats.org/drawingml/2006/main">
              <a:ext uri="{FF2B5EF4-FFF2-40B4-BE49-F238E27FC236}">
                <a16:creationId xmlns:a16="http://schemas.microsoft.com/office/drawing/2014/main" id="{B951184E-1CF1-4F21-90CA-5E54D248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7905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20" name="p7-meaning-body">
            <a:extLst xmlns:a="http://schemas.openxmlformats.org/drawingml/2006/main">
              <a:ext uri="{FF2B5EF4-FFF2-40B4-BE49-F238E27FC236}">
                <a16:creationId xmlns:a16="http://schemas.microsoft.com/office/drawing/2014/main" id="{C753AD1A-7AEB-4F40-810B-2C76514E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81650"/>
            <a:ext cx="79057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竞争已进入可计量的驾驶任务；
不能外推为通用能力或企业级采用。</a:t>
            </a:r>
          </a:p>
        </p:txBody>
      </p:sp>
      <p:sp>
        <p:nvSpPr>
          <p:cNvPr id="21" name="p7-trigger-bg">
            <a:extLst xmlns:a="http://schemas.openxmlformats.org/drawingml/2006/main">
              <a:ext uri="{FF2B5EF4-FFF2-40B4-BE49-F238E27FC236}">
                <a16:creationId xmlns:a16="http://schemas.microsoft.com/office/drawing/2014/main" id="{778D9601-5531-41A7-9B71-521D358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259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2" name="p7-trigger-title">
            <a:extLst xmlns:a="http://schemas.openxmlformats.org/drawingml/2006/main">
              <a:ext uri="{FF2B5EF4-FFF2-40B4-BE49-F238E27FC236}">
                <a16:creationId xmlns:a16="http://schemas.microsoft.com/office/drawing/2014/main" id="{7024F5F9-7C57-4796-ADAF-57DCB94A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38750"/>
            <a:ext cx="3200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23" name="p7-trigger-body">
            <a:extLst xmlns:a="http://schemas.openxmlformats.org/drawingml/2006/main">
              <a:ext uri="{FF2B5EF4-FFF2-40B4-BE49-F238E27FC236}">
                <a16:creationId xmlns:a16="http://schemas.microsoft.com/office/drawing/2014/main" id="{A94F1186-5DCC-46B1-B8FC-73B44DCA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43550"/>
            <a:ext cx="32004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预览接口正式商用，
并闭合服务等级、
数据和责任边界。</a:t>
            </a:r>
          </a:p>
        </p:txBody>
      </p:sp>
      <p:sp>
        <p:nvSpPr>
          <p:cNvPr id="24" name="p7-footer-rule">
            <a:extLst xmlns:a="http://schemas.openxmlformats.org/drawingml/2006/main">
              <a:ext uri="{FF2B5EF4-FFF2-40B4-BE49-F238E27FC236}">
                <a16:creationId xmlns:a16="http://schemas.microsoft.com/office/drawing/2014/main" id="{58531C53-9679-471C-A17D-7C5EBE37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5" name="p7-footer-source">
            <a:extLst xmlns:a="http://schemas.openxmlformats.org/drawingml/2006/main">
              <a:ext uri="{FF2B5EF4-FFF2-40B4-BE49-F238E27FC236}">
                <a16:creationId xmlns:a16="http://schemas.microsoft.com/office/drawing/2014/main" id="{30AA35B1-2F35-4167-9598-0CE3578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来源：官方产品/API、价格、条款及独立产品体验</a:t>
            </a:r>
          </a:p>
        </p:txBody>
      </p:sp>
      <p:sp>
        <p:nvSpPr>
          <p:cNvPr id="26" name="p7-footer-page">
            <a:extLst xmlns:a="http://schemas.openxmlformats.org/drawingml/2006/main">
              <a:ext uri="{FF2B5EF4-FFF2-40B4-BE49-F238E27FC236}">
                <a16:creationId xmlns:a16="http://schemas.microsoft.com/office/drawing/2014/main" id="{14DA9F8B-7908-49C9-9D3E-6F8D5FB4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07</a:t>
            </a:r>
          </a:p>
        </p:txBody>
      </p:sp>
    </p:spTree>
    <p:extLst>
      <p:ext uri="{BB962C8B-B14F-4D97-AF65-F5344CB8AC3E}">
        <p14:creationId xmlns:p14="http://schemas.microsoft.com/office/powerpoint/2010/main" val="8206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8-identity">
            <a:extLst xmlns:a="http://schemas.openxmlformats.org/drawingml/2006/main">
              <a:ext uri="{FF2B5EF4-FFF2-40B4-BE49-F238E27FC236}">
                <a16:creationId xmlns:a16="http://schemas.microsoft.com/office/drawing/2014/main" id="{B2B7E6EE-4432-4949-90CF-AC461BBE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大厂项目 1/1 · NVIDIA COSMOS 3</a:t>
            </a:r>
          </a:p>
        </p:txBody>
      </p:sp>
      <p:sp>
        <p:nvSpPr>
          <p:cNvPr id="2" name="p8-title">
            <a:extLst xmlns:a="http://schemas.openxmlformats.org/drawingml/2006/main">
              <a:ext uri="{FF2B5EF4-FFF2-40B4-BE49-F238E27FC236}">
                <a16:creationId xmlns:a16="http://schemas.microsoft.com/office/drawing/2014/main" id="{E9505FB0-FFC7-43B7-8746-DF68821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1582400" cy="622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Cosmos 3 已形成自托管路径；
动作产品仍未闭合</a:t>
            </a:r>
          </a:p>
        </p:txBody>
      </p:sp>
      <p:sp>
        <p:nvSpPr>
          <p:cNvPr id="3" name="p8-route-line">
            <a:extLst xmlns:a="http://schemas.openxmlformats.org/drawingml/2006/main">
              <a:ext uri="{FF2B5EF4-FFF2-40B4-BE49-F238E27FC236}">
                <a16:creationId xmlns:a16="http://schemas.microsoft.com/office/drawing/2014/main" id="{35777936-8FC2-4B3D-AE7D-09D1EFA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" name="p8-route">
            <a:extLst xmlns:a="http://schemas.openxmlformats.org/drawingml/2006/main">
              <a:ext uri="{FF2B5EF4-FFF2-40B4-BE49-F238E27FC236}">
                <a16:creationId xmlns:a16="http://schemas.microsoft.com/office/drawing/2014/main" id="{41E0B26A-4F49-48A3-A031-89A85003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1049000" cy="520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动作条件物理智能组件 · 可下载 / 自托管</a:t>
            </a:r>
          </a:p>
        </p:txBody>
      </p:sp>
      <p:sp>
        <p:nvSpPr>
          <p:cNvPr id="5" name="p8-stack-bg">
            <a:extLst xmlns:a="http://schemas.openxmlformats.org/drawingml/2006/main">
              <a:ext uri="{FF2B5EF4-FFF2-40B4-BE49-F238E27FC236}">
                <a16:creationId xmlns:a16="http://schemas.microsoft.com/office/drawing/2014/main" id="{8DA419A6-3E15-48B5-8D09-F14B8B0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6" name="p8-established-label">
            <a:extLst xmlns:a="http://schemas.openxmlformats.org/drawingml/2006/main">
              <a:ext uri="{FF2B5EF4-FFF2-40B4-BE49-F238E27FC236}">
                <a16:creationId xmlns:a16="http://schemas.microsoft.com/office/drawing/2014/main" id="{0DBD2D86-CA53-4AB5-8138-828B0E8A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12776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已成立 · 三层证据必须分开看</a:t>
            </a:r>
          </a:p>
        </p:txBody>
      </p:sp>
      <p:sp>
        <p:nvSpPr>
          <p:cNvPr id="7" name="p8-stack-num-0">
            <a:extLst xmlns:a="http://schemas.openxmlformats.org/drawingml/2006/main">
              <a:ext uri="{FF2B5EF4-FFF2-40B4-BE49-F238E27FC236}">
                <a16:creationId xmlns:a16="http://schemas.microsoft.com/office/drawing/2014/main" id="{1DAB6C2C-9501-4C6B-9EDB-8B98CC5C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127760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8" name="p8-stack-head-0">
            <a:extLst xmlns:a="http://schemas.openxmlformats.org/drawingml/2006/main">
              <a:ext uri="{FF2B5EF4-FFF2-40B4-BE49-F238E27FC236}">
                <a16:creationId xmlns:a16="http://schemas.microsoft.com/office/drawing/2014/main" id="{BF3C04BC-4934-44A0-A9AE-96F673A1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076325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动作条件前向动力学</a:t>
            </a:r>
          </a:p>
        </p:txBody>
      </p:sp>
      <p:sp>
        <p:nvSpPr>
          <p:cNvPr id="9" name="p8-stack-body-0">
            <a:extLst xmlns:a="http://schemas.openxmlformats.org/drawingml/2006/main">
              <a:ext uri="{FF2B5EF4-FFF2-40B4-BE49-F238E27FC236}">
                <a16:creationId xmlns:a16="http://schemas.microsoft.com/office/drawing/2014/main" id="{7CD9EF22-A865-4B24-BC82-86B110E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762000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已有可运行材料</a:t>
            </a:r>
          </a:p>
        </p:txBody>
      </p:sp>
      <p:sp>
        <p:nvSpPr>
          <p:cNvPr id="10" name="p8-stack-rule-0">
            <a:extLst xmlns:a="http://schemas.openxmlformats.org/drawingml/2006/main">
              <a:ext uri="{FF2B5EF4-FFF2-40B4-BE49-F238E27FC236}">
                <a16:creationId xmlns:a16="http://schemas.microsoft.com/office/drawing/2014/main" id="{1E0F32F2-D0A1-41C1-A20A-5392997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1" name="p8-stack-num-1">
            <a:extLst xmlns:a="http://schemas.openxmlformats.org/drawingml/2006/main">
              <a:ext uri="{FF2B5EF4-FFF2-40B4-BE49-F238E27FC236}">
                <a16:creationId xmlns:a16="http://schemas.microsoft.com/office/drawing/2014/main" id="{D33501B1-8E42-4816-9B58-03B9291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12776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12" name="p8-stack-head-1">
            <a:extLst xmlns:a="http://schemas.openxmlformats.org/drawingml/2006/main">
              <a:ext uri="{FF2B5EF4-FFF2-40B4-BE49-F238E27FC236}">
                <a16:creationId xmlns:a16="http://schemas.microsoft.com/office/drawing/2014/main" id="{11B2F9FE-ED75-45CD-B98C-7569BFCB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107632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自托管路径</a:t>
            </a:r>
          </a:p>
        </p:txBody>
      </p:sp>
      <p:sp>
        <p:nvSpPr>
          <p:cNvPr id="13" name="p8-stack-body-1">
            <a:extLst xmlns:a="http://schemas.openxmlformats.org/drawingml/2006/main">
              <a:ext uri="{FF2B5EF4-FFF2-40B4-BE49-F238E27FC236}">
                <a16:creationId xmlns:a16="http://schemas.microsoft.com/office/drawing/2014/main" id="{D3021EF0-3EFD-47F4-B821-D0FA023A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762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模型材料与代码可在本地运行</a:t>
            </a:r>
          </a:p>
        </p:txBody>
      </p:sp>
      <p:sp>
        <p:nvSpPr>
          <p:cNvPr id="14" name="p8-stack-rule-1">
            <a:extLst xmlns:a="http://schemas.openxmlformats.org/drawingml/2006/main">
              <a:ext uri="{FF2B5EF4-FFF2-40B4-BE49-F238E27FC236}">
                <a16:creationId xmlns:a16="http://schemas.microsoft.com/office/drawing/2014/main" id="{CBCC0927-8E3A-47E0-9344-ED0EFC66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5" name="p8-stack-num-2">
            <a:extLst xmlns:a="http://schemas.openxmlformats.org/drawingml/2006/main">
              <a:ext uri="{FF2B5EF4-FFF2-40B4-BE49-F238E27FC236}">
                <a16:creationId xmlns:a16="http://schemas.microsoft.com/office/drawing/2014/main" id="{209A539A-0A35-4CD7-83F0-F038576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127760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16" name="p8-stack-head-2">
            <a:extLst xmlns:a="http://schemas.openxmlformats.org/drawingml/2006/main">
              <a:ext uri="{FF2B5EF4-FFF2-40B4-BE49-F238E27FC236}">
                <a16:creationId xmlns:a16="http://schemas.microsoft.com/office/drawing/2014/main" id="{BB8E2659-899C-4D14-8FDF-865D6698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1076325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Cosmos3-Generator
Release 1.0.0</a:t>
            </a:r>
          </a:p>
        </p:txBody>
      </p:sp>
      <p:sp>
        <p:nvSpPr>
          <p:cNvPr id="17" name="p8-stack-body-2">
            <a:extLst xmlns:a="http://schemas.openxmlformats.org/drawingml/2006/main">
              <a:ext uri="{FF2B5EF4-FFF2-40B4-BE49-F238E27FC236}">
                <a16:creationId xmlns:a16="http://schemas.microsoft.com/office/drawing/2014/main" id="{1728BC78-D283-441A-A99E-1FCC4C21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762000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初始 GA；只含文生 / 图生视频；
未列动作模式</a:t>
            </a:r>
          </a:p>
        </p:txBody>
      </p:sp>
      <p:sp>
        <p:nvSpPr>
          <p:cNvPr id="18" name="p8-not-bg">
            <a:extLst xmlns:a="http://schemas.openxmlformats.org/drawingml/2006/main">
              <a:ext uri="{FF2B5EF4-FFF2-40B4-BE49-F238E27FC236}">
                <a16:creationId xmlns:a16="http://schemas.microsoft.com/office/drawing/2014/main" id="{2BE33A42-44F5-415E-9092-2E7F564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37719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9" name="p8-not-rule">
            <a:extLst xmlns:a="http://schemas.openxmlformats.org/drawingml/2006/main">
              <a:ext uri="{FF2B5EF4-FFF2-40B4-BE49-F238E27FC236}">
                <a16:creationId xmlns:a16="http://schemas.microsoft.com/office/drawing/2014/main" id="{F5D1C4FC-72A0-4312-B1A0-37ED5DB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20" name="p8-not-label">
            <a:extLst xmlns:a="http://schemas.openxmlformats.org/drawingml/2006/main">
              <a:ext uri="{FF2B5EF4-FFF2-40B4-BE49-F238E27FC236}">
                <a16:creationId xmlns:a16="http://schemas.microsoft.com/office/drawing/2014/main" id="{31F2D118-88CA-4D9D-9E4A-38F3DDE5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4381500" cy="440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21" name="p8-not-list-dot-0">
            <a:extLst xmlns:a="http://schemas.openxmlformats.org/drawingml/2006/main">
              <a:ext uri="{FF2B5EF4-FFF2-40B4-BE49-F238E27FC236}">
                <a16:creationId xmlns:a16="http://schemas.microsoft.com/office/drawing/2014/main" id="{C715DB8F-261D-45E6-9645-934A3A9D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43815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2" name="p8-not-list-text-0">
            <a:extLst xmlns:a="http://schemas.openxmlformats.org/drawingml/2006/main">
              <a:ext uri="{FF2B5EF4-FFF2-40B4-BE49-F238E27FC236}">
                <a16:creationId xmlns:a16="http://schemas.microsoft.com/office/drawing/2014/main" id="{2B78EE2C-DA82-4F2D-BF45-77F3851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41529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</a:t>
            </a:r>
          </a:p>
        </p:txBody>
      </p:sp>
      <p:sp>
        <p:nvSpPr>
          <p:cNvPr id="23" name="p8-not-list-dot-1">
            <a:extLst xmlns:a="http://schemas.openxmlformats.org/drawingml/2006/main">
              <a:ext uri="{FF2B5EF4-FFF2-40B4-BE49-F238E27FC236}">
                <a16:creationId xmlns:a16="http://schemas.microsoft.com/office/drawing/2014/main" id="{61F416FE-8218-4034-98ED-297095B3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4381500" cy="356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4" name="p8-not-list-text-1">
            <a:extLst xmlns:a="http://schemas.openxmlformats.org/drawingml/2006/main">
              <a:ext uri="{FF2B5EF4-FFF2-40B4-BE49-F238E27FC236}">
                <a16:creationId xmlns:a16="http://schemas.microsoft.com/office/drawing/2014/main" id="{C290C39A-3B40-4A8D-8061-58E3985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4152900" cy="356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第三方依赖的完整许可链</a:t>
            </a:r>
          </a:p>
        </p:txBody>
      </p:sp>
      <p:sp>
        <p:nvSpPr>
          <p:cNvPr id="25" name="p8-not-list-dot-2">
            <a:extLst xmlns:a="http://schemas.openxmlformats.org/drawingml/2006/main">
              <a:ext uri="{FF2B5EF4-FFF2-40B4-BE49-F238E27FC236}">
                <a16:creationId xmlns:a16="http://schemas.microsoft.com/office/drawing/2014/main" id="{5A1F2707-CCC7-4218-9029-17DE56C9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43815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6" name="p8-not-list-text-2">
            <a:extLst xmlns:a="http://schemas.openxmlformats.org/drawingml/2006/main">
              <a:ext uri="{FF2B5EF4-FFF2-40B4-BE49-F238E27FC236}">
                <a16:creationId xmlns:a16="http://schemas.microsoft.com/office/drawing/2014/main" id="{C325BB96-5516-4391-AB8A-C730B765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41529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硬件范围与总体拥有成本</a:t>
            </a:r>
          </a:p>
        </p:txBody>
      </p:sp>
      <p:sp>
        <p:nvSpPr>
          <p:cNvPr id="27" name="p8-not-list-dot-3">
            <a:extLst xmlns:a="http://schemas.openxmlformats.org/drawingml/2006/main">
              <a:ext uri="{FF2B5EF4-FFF2-40B4-BE49-F238E27FC236}">
                <a16:creationId xmlns:a16="http://schemas.microsoft.com/office/drawing/2014/main" id="{13B26C57-4DDE-4724-8EB8-A147234D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43815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8" name="p8-not-list-text-3">
            <a:extLst xmlns:a="http://schemas.openxmlformats.org/drawingml/2006/main">
              <a:ext uri="{FF2B5EF4-FFF2-40B4-BE49-F238E27FC236}">
                <a16:creationId xmlns:a16="http://schemas.microsoft.com/office/drawing/2014/main" id="{70631DE1-C702-4ABD-9103-CE83F769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41529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独立复现与客户第一方采用</a:t>
            </a:r>
          </a:p>
        </p:txBody>
      </p:sp>
      <p:sp>
        <p:nvSpPr>
          <p:cNvPr id="29" name="p8-meaning-bg">
            <a:extLst xmlns:a="http://schemas.openxmlformats.org/drawingml/2006/main">
              <a:ext uri="{FF2B5EF4-FFF2-40B4-BE49-F238E27FC236}">
                <a16:creationId xmlns:a16="http://schemas.microsoft.com/office/drawing/2014/main" id="{48E5DF7C-D86C-485A-A9FA-8FFAD46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819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0" name="p8-meaning-title">
            <a:extLst xmlns:a="http://schemas.openxmlformats.org/drawingml/2006/main">
              <a:ext uri="{FF2B5EF4-FFF2-40B4-BE49-F238E27FC236}">
                <a16:creationId xmlns:a16="http://schemas.microsoft.com/office/drawing/2014/main" id="{13D0CF27-7EC8-4D1A-8323-C9E82CD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12776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31" name="p8-meaning-body">
            <a:extLst xmlns:a="http://schemas.openxmlformats.org/drawingml/2006/main">
              <a:ext uri="{FF2B5EF4-FFF2-40B4-BE49-F238E27FC236}">
                <a16:creationId xmlns:a16="http://schemas.microsoft.com/office/drawing/2014/main" id="{C5C1E690-3E12-4BBB-8D3A-774F9AE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12776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自托管组件可能绕行专有供应商，也可能成为部署与验证底层；
实际关系取决于 Manifold 的交付单元。</a:t>
            </a:r>
          </a:p>
        </p:txBody>
      </p:sp>
      <p:sp>
        <p:nvSpPr>
          <p:cNvPr id="32" name="p8-trigger-bg">
            <a:extLst xmlns:a="http://schemas.openxmlformats.org/drawingml/2006/main">
              <a:ext uri="{FF2B5EF4-FFF2-40B4-BE49-F238E27FC236}">
                <a16:creationId xmlns:a16="http://schemas.microsoft.com/office/drawing/2014/main" id="{4DE46866-20C2-4D3F-A9F1-1E560533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3619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33" name="p8-trigger-title">
            <a:extLst xmlns:a="http://schemas.openxmlformats.org/drawingml/2006/main">
              <a:ext uri="{FF2B5EF4-FFF2-40B4-BE49-F238E27FC236}">
                <a16:creationId xmlns:a16="http://schemas.microsoft.com/office/drawing/2014/main" id="{B9152B91-66FB-4318-8CAF-598295BA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19700"/>
            <a:ext cx="42291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34" name="p8-trigger-body">
            <a:extLst xmlns:a="http://schemas.openxmlformats.org/drawingml/2006/main">
              <a:ext uri="{FF2B5EF4-FFF2-40B4-BE49-F238E27FC236}">
                <a16:creationId xmlns:a16="http://schemas.microsoft.com/office/drawing/2014/main" id="{36B99AC5-79EE-406A-A35B-4976AC2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81650"/>
            <a:ext cx="42291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 正式发布，
并获得独立复现。</a:t>
            </a:r>
          </a:p>
        </p:txBody>
      </p:sp>
      <p:sp>
        <p:nvSpPr>
          <p:cNvPr id="35" name="p8-footer-rule">
            <a:extLst xmlns:a="http://schemas.openxmlformats.org/drawingml/2006/main">
              <a:ext uri="{FF2B5EF4-FFF2-40B4-BE49-F238E27FC236}">
                <a16:creationId xmlns:a16="http://schemas.microsoft.com/office/drawing/2014/main" id="{CE49D46F-7FC8-490B-A294-8BD4C459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6" name="p8-footer-source">
            <a:extLst xmlns:a="http://schemas.openxmlformats.org/drawingml/2006/main">
              <a:ext uri="{FF2B5EF4-FFF2-40B4-BE49-F238E27FC236}">
                <a16:creationId xmlns:a16="http://schemas.microsoft.com/office/drawing/2014/main" id="{70DE9AB2-F656-4287-A8F9-374812D8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Generator NIM ≠ action runtime｜来源：官方研究、模型、自托管文档、Release Notes、许可及伙伴自报</a:t>
            </a:r>
          </a:p>
        </p:txBody>
      </p:sp>
      <p:sp>
        <p:nvSpPr>
          <p:cNvPr id="37" name="p8-footer-page">
            <a:extLst xmlns:a="http://schemas.openxmlformats.org/drawingml/2006/main">
              <a:ext uri="{FF2B5EF4-FFF2-40B4-BE49-F238E27FC236}">
                <a16:creationId xmlns:a16="http://schemas.microsoft.com/office/drawing/2014/main" id="{79BDE1A4-ADC1-400D-857C-7353415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08</a:t>
            </a:r>
          </a:p>
        </p:txBody>
      </p:sp>
    </p:spTree>
    <p:extLst>
      <p:ext uri="{BB962C8B-B14F-4D97-AF65-F5344CB8AC3E}">
        <p14:creationId xmlns:p14="http://schemas.microsoft.com/office/powerpoint/2010/main" val="1014392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9-eyebrow">
            <a:extLst xmlns:a="http://schemas.openxmlformats.org/drawingml/2006/main">
              <a:ext uri="{FF2B5EF4-FFF2-40B4-BE49-F238E27FC236}">
                <a16:creationId xmlns:a16="http://schemas.microsoft.com/office/drawing/2014/main" id="{73438BB0-2FF2-43F9-BA9B-215DAF61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WATCHLIST · FACT-TRIGGERED</a:t>
            </a:r>
          </a:p>
        </p:txBody>
      </p:sp>
      <p:sp>
        <p:nvSpPr>
          <p:cNvPr id="2" name="p9-title">
            <a:extLst xmlns:a="http://schemas.openxmlformats.org/drawingml/2006/main">
              <a:ext uri="{FF2B5EF4-FFF2-40B4-BE49-F238E27FC236}">
                <a16:creationId xmlns:a16="http://schemas.microsoft.com/office/drawing/2014/main" id="{F01B001E-202D-4F62-B584-1462051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四个观察对象和一个早期信号，只在证据变化时重审</a:t>
            </a:r>
          </a:p>
        </p:txBody>
      </p:sp>
      <p:sp>
        <p:nvSpPr>
          <p:cNvPr id="3" name="p9-subtitle">
            <a:extLst xmlns:a="http://schemas.openxmlformats.org/drawingml/2006/main">
              <a:ext uri="{FF2B5EF4-FFF2-40B4-BE49-F238E27FC236}">
                <a16:creationId xmlns:a16="http://schemas.microsoft.com/office/drawing/2014/main" id="{FCB2D609-F530-4592-AD18-B894279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582400" cy="588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触发条件只启动事实重审，不自动改变固定五席或 4+1 结构。</a:t>
            </a:r>
          </a:p>
        </p:txBody>
      </p:sp>
      <p:sp>
        <p:nvSpPr>
          <p:cNvPr id="4" name="p9-header-bg">
            <a:extLst xmlns:a="http://schemas.openxmlformats.org/drawingml/2006/main">
              <a:ext uri="{FF2B5EF4-FFF2-40B4-BE49-F238E27FC236}">
                <a16:creationId xmlns:a16="http://schemas.microsoft.com/office/drawing/2014/main" id="{33CDAC35-1880-4A27-A17C-0BF06A6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5" name="p9-header-0">
            <a:extLst xmlns:a="http://schemas.openxmlformats.org/drawingml/2006/main">
              <a:ext uri="{FF2B5EF4-FFF2-40B4-BE49-F238E27FC236}">
                <a16:creationId xmlns:a16="http://schemas.microsoft.com/office/drawing/2014/main" id="{3B07164D-9420-4E78-B2A9-C6F94DAF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14300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对象</a:t>
            </a:r>
          </a:p>
        </p:txBody>
      </p:sp>
      <p:sp>
        <p:nvSpPr>
          <p:cNvPr id="6" name="p9-header-1">
            <a:extLst xmlns:a="http://schemas.openxmlformats.org/drawingml/2006/main">
              <a:ext uri="{FF2B5EF4-FFF2-40B4-BE49-F238E27FC236}">
                <a16:creationId xmlns:a16="http://schemas.microsoft.com/office/drawing/2014/main" id="{66CA5194-DB35-4B19-BF6E-CFA28D6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28750"/>
            <a:ext cx="90297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当前关注点</a:t>
            </a:r>
          </a:p>
        </p:txBody>
      </p:sp>
      <p:sp>
        <p:nvSpPr>
          <p:cNvPr id="7" name="p9-header-2">
            <a:extLst xmlns:a="http://schemas.openxmlformats.org/drawingml/2006/main">
              <a:ext uri="{FF2B5EF4-FFF2-40B4-BE49-F238E27FC236}">
                <a16:creationId xmlns:a16="http://schemas.microsoft.com/office/drawing/2014/main" id="{80C6FDE6-CB4A-4D52-B15C-3900116F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85775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重审所需证据</a:t>
            </a:r>
          </a:p>
        </p:txBody>
      </p:sp>
      <p:sp>
        <p:nvSpPr>
          <p:cNvPr id="8" name="p9-row-bg-0">
            <a:extLst xmlns:a="http://schemas.openxmlformats.org/drawingml/2006/main">
              <a:ext uri="{FF2B5EF4-FFF2-40B4-BE49-F238E27FC236}">
                <a16:creationId xmlns:a16="http://schemas.microsoft.com/office/drawing/2014/main" id="{80E4D4DD-2995-486F-9411-9CFA58B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9" name="p9-name-bg-0">
            <a:extLst xmlns:a="http://schemas.openxmlformats.org/drawingml/2006/main">
              <a:ext uri="{FF2B5EF4-FFF2-40B4-BE49-F238E27FC236}">
                <a16:creationId xmlns:a16="http://schemas.microsoft.com/office/drawing/2014/main" id="{FA961D15-8A85-45DB-86D5-DC9E52B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10" name="p9-cell-0-0">
            <a:extLst xmlns:a="http://schemas.openxmlformats.org/drawingml/2006/main">
              <a:ext uri="{FF2B5EF4-FFF2-40B4-BE49-F238E27FC236}">
                <a16:creationId xmlns:a16="http://schemas.microsoft.com/office/drawing/2014/main" id="{59E25E1F-D90F-4E97-9644-FD0FBD8A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143000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Genie 3 /
Project Genie</a:t>
            </a:r>
          </a:p>
        </p:txBody>
      </p:sp>
      <p:sp>
        <p:nvSpPr>
          <p:cNvPr id="11" name="p9-cell-0-1">
            <a:extLst xmlns:a="http://schemas.openxmlformats.org/drawingml/2006/main">
              <a:ext uri="{FF2B5EF4-FFF2-40B4-BE49-F238E27FC236}">
                <a16:creationId xmlns:a16="http://schemas.microsoft.com/office/drawing/2014/main" id="{FB2D44F7-BE14-4C09-A1AC-102F90A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902970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封闭模型与消费者原型；
企业/开发者路径和外部采用未证</a:t>
            </a:r>
          </a:p>
        </p:txBody>
      </p:sp>
      <p:sp>
        <p:nvSpPr>
          <p:cNvPr id="12" name="p9-trigger-mark-0">
            <a:extLst xmlns:a="http://schemas.openxmlformats.org/drawingml/2006/main">
              <a:ext uri="{FF2B5EF4-FFF2-40B4-BE49-F238E27FC236}">
                <a16:creationId xmlns:a16="http://schemas.microsoft.com/office/drawing/2014/main" id="{C8D6A8F7-7681-4FFE-B6C3-D477834C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3" name="p9-cell-0-2">
            <a:extLst xmlns:a="http://schemas.openxmlformats.org/drawingml/2006/main">
              <a:ext uri="{FF2B5EF4-FFF2-40B4-BE49-F238E27FC236}">
                <a16:creationId xmlns:a16="http://schemas.microsoft.com/office/drawing/2014/main" id="{BB1F7623-B77B-4E10-91C9-0F71A7A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455295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企业/开发者接口、SDK 或权重；
具名外部集成</a:t>
            </a:r>
          </a:p>
        </p:txBody>
      </p:sp>
      <p:sp>
        <p:nvSpPr>
          <p:cNvPr id="14" name="p9-row-rule-0">
            <a:extLst xmlns:a="http://schemas.openxmlformats.org/drawingml/2006/main">
              <a:ext uri="{FF2B5EF4-FFF2-40B4-BE49-F238E27FC236}">
                <a16:creationId xmlns:a16="http://schemas.microsoft.com/office/drawing/2014/main" id="{4300D6A2-A60D-44FF-842A-7005460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5" name="p9-row-bg-1">
            <a:extLst xmlns:a="http://schemas.openxmlformats.org/drawingml/2006/main">
              <a:ext uri="{FF2B5EF4-FFF2-40B4-BE49-F238E27FC236}">
                <a16:creationId xmlns:a16="http://schemas.microsoft.com/office/drawing/2014/main" id="{5B86D149-FF53-4007-944A-95888D4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16" name="p9-name-bg-1">
            <a:extLst xmlns:a="http://schemas.openxmlformats.org/drawingml/2006/main">
              <a:ext uri="{FF2B5EF4-FFF2-40B4-BE49-F238E27FC236}">
                <a16:creationId xmlns:a16="http://schemas.microsoft.com/office/drawing/2014/main" id="{D1C972A1-891E-415D-99DC-32AB2F1D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17" name="p9-cell-1-0">
            <a:extLst xmlns:a="http://schemas.openxmlformats.org/drawingml/2006/main">
              <a:ext uri="{FF2B5EF4-FFF2-40B4-BE49-F238E27FC236}">
                <a16:creationId xmlns:a16="http://schemas.microsoft.com/office/drawing/2014/main" id="{75FFB308-E8A3-4942-B1D1-80A2DE0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General Intuition /
MIRA</a:t>
            </a:r>
          </a:p>
        </p:txBody>
      </p:sp>
      <p:sp>
        <p:nvSpPr>
          <p:cNvPr id="18" name="p9-cell-1-1">
            <a:extLst xmlns:a="http://schemas.openxmlformats.org/drawingml/2006/main">
              <a:ext uri="{FF2B5EF4-FFF2-40B4-BE49-F238E27FC236}">
                <a16:creationId xmlns:a16="http://schemas.microsoft.com/office/drawing/2014/main" id="{565158BC-9F5A-48F3-9BBA-2632A6D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38450"/>
            <a:ext cx="902970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证据集中在 Rocket League 虚拟物理域；
商业接口归属和采用未证</a:t>
            </a:r>
          </a:p>
        </p:txBody>
      </p:sp>
      <p:sp>
        <p:nvSpPr>
          <p:cNvPr id="19" name="p9-trigger-mark-1">
            <a:extLst xmlns:a="http://schemas.openxmlformats.org/drawingml/2006/main">
              <a:ext uri="{FF2B5EF4-FFF2-40B4-BE49-F238E27FC236}">
                <a16:creationId xmlns:a16="http://schemas.microsoft.com/office/drawing/2014/main" id="{D7541B15-E8CB-4FEB-822D-AED2FD4B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0" name="p9-cell-1-2">
            <a:extLst xmlns:a="http://schemas.openxmlformats.org/drawingml/2006/main">
              <a:ext uri="{FF2B5EF4-FFF2-40B4-BE49-F238E27FC236}">
                <a16:creationId xmlns:a16="http://schemas.microsoft.com/office/drawing/2014/main" id="{014D3931-9EB6-4A0A-BFE0-68B95B7E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38450"/>
            <a:ext cx="455295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第一方证据确认实际交付组件；
跨域独立验证、具名客户</a:t>
            </a:r>
          </a:p>
        </p:txBody>
      </p:sp>
      <p:sp>
        <p:nvSpPr>
          <p:cNvPr id="21" name="p9-row-rule-1">
            <a:extLst xmlns:a="http://schemas.openxmlformats.org/drawingml/2006/main">
              <a:ext uri="{FF2B5EF4-FFF2-40B4-BE49-F238E27FC236}">
                <a16:creationId xmlns:a16="http://schemas.microsoft.com/office/drawing/2014/main" id="{0E9D28CD-7C62-4D85-8F6B-A4C51B05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2" name="p9-row-bg-2">
            <a:extLst xmlns:a="http://schemas.openxmlformats.org/drawingml/2006/main">
              <a:ext uri="{FF2B5EF4-FFF2-40B4-BE49-F238E27FC236}">
                <a16:creationId xmlns:a16="http://schemas.microsoft.com/office/drawing/2014/main" id="{3FF695BA-ACC7-450F-BEA0-8246970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3" name="p9-name-bg-2">
            <a:extLst xmlns:a="http://schemas.openxmlformats.org/drawingml/2006/main">
              <a:ext uri="{FF2B5EF4-FFF2-40B4-BE49-F238E27FC236}">
                <a16:creationId xmlns:a16="http://schemas.microsoft.com/office/drawing/2014/main" id="{03BA6FC2-692B-401B-B679-37C3590D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24" name="p9-cell-2-0">
            <a:extLst xmlns:a="http://schemas.openxmlformats.org/drawingml/2006/main">
              <a:ext uri="{FF2B5EF4-FFF2-40B4-BE49-F238E27FC236}">
                <a16:creationId xmlns:a16="http://schemas.microsoft.com/office/drawing/2014/main" id="{C77B2148-B18E-4BEA-870F-CE5746F2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14300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25" name="p9-cell-2-1">
            <a:extLst xmlns:a="http://schemas.openxmlformats.org/drawingml/2006/main">
              <a:ext uri="{FF2B5EF4-FFF2-40B4-BE49-F238E27FC236}">
                <a16:creationId xmlns:a16="http://schemas.microsoft.com/office/drawing/2014/main" id="{45BCF7B9-8B5C-42DD-A9E2-370053A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90297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仅 2-AC 提供动作条件路径；
窄域、许可与修正复现未闭合</a:t>
            </a:r>
          </a:p>
        </p:txBody>
      </p:sp>
      <p:sp>
        <p:nvSpPr>
          <p:cNvPr id="26" name="p9-trigger-mark-2">
            <a:extLst xmlns:a="http://schemas.openxmlformats.org/drawingml/2006/main">
              <a:ext uri="{FF2B5EF4-FFF2-40B4-BE49-F238E27FC236}">
                <a16:creationId xmlns:a16="http://schemas.microsoft.com/office/drawing/2014/main" id="{7CA22BDE-DF9A-4163-B21B-8B9ED6B2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7" name="p9-cell-2-2">
            <a:extLst xmlns:a="http://schemas.openxmlformats.org/drawingml/2006/main">
              <a:ext uri="{FF2B5EF4-FFF2-40B4-BE49-F238E27FC236}">
                <a16:creationId xmlns:a16="http://schemas.microsoft.com/office/drawing/2014/main" id="{BE14E94B-0B4C-4F4B-9083-1FA21BDB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455295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跨动作域复现、许可闭合、
产品或客户入口</a:t>
            </a:r>
          </a:p>
        </p:txBody>
      </p:sp>
      <p:sp>
        <p:nvSpPr>
          <p:cNvPr id="28" name="p9-row-rule-2">
            <a:extLst xmlns:a="http://schemas.openxmlformats.org/drawingml/2006/main">
              <a:ext uri="{FF2B5EF4-FFF2-40B4-BE49-F238E27FC236}">
                <a16:creationId xmlns:a16="http://schemas.microsoft.com/office/drawing/2014/main" id="{B752F8D9-D02A-48B8-877B-29058736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9" name="p9-row-bg-3">
            <a:extLst xmlns:a="http://schemas.openxmlformats.org/drawingml/2006/main">
              <a:ext uri="{FF2B5EF4-FFF2-40B4-BE49-F238E27FC236}">
                <a16:creationId xmlns:a16="http://schemas.microsoft.com/office/drawing/2014/main" id="{87B9A3DD-FC21-43E9-9CD6-506F3AB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30" name="p9-name-bg-3">
            <a:extLst xmlns:a="http://schemas.openxmlformats.org/drawingml/2006/main">
              <a:ext uri="{FF2B5EF4-FFF2-40B4-BE49-F238E27FC236}">
                <a16:creationId xmlns:a16="http://schemas.microsoft.com/office/drawing/2014/main" id="{C9E560F4-8CF9-4AAD-8599-4A3FDE4C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31" name="p9-cell-3-0">
            <a:extLst xmlns:a="http://schemas.openxmlformats.org/drawingml/2006/main">
              <a:ext uri="{FF2B5EF4-FFF2-40B4-BE49-F238E27FC236}">
                <a16:creationId xmlns:a16="http://schemas.microsoft.com/office/drawing/2014/main" id="{1E15DA1D-3544-48E6-B4BD-12C062FC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1430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Overworld
（地域条件）</a:t>
            </a:r>
          </a:p>
        </p:txBody>
      </p:sp>
      <p:sp>
        <p:nvSpPr>
          <p:cNvPr id="32" name="p9-cell-3-1">
            <a:extLst xmlns:a="http://schemas.openxmlformats.org/drawingml/2006/main">
              <a:ext uri="{FF2B5EF4-FFF2-40B4-BE49-F238E27FC236}">
                <a16:creationId xmlns:a16="http://schemas.microsoft.com/office/drawing/2014/main" id="{0DDDD243-9DAD-440D-A9CC-C1DB7BE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67250"/>
            <a:ext cx="90297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开放权重和本地运行有平台价值；
法律主体、长时一致性和采用未证</a:t>
            </a:r>
          </a:p>
        </p:txBody>
      </p:sp>
      <p:sp>
        <p:nvSpPr>
          <p:cNvPr id="33" name="p9-trigger-mark-3">
            <a:extLst xmlns:a="http://schemas.openxmlformats.org/drawingml/2006/main">
              <a:ext uri="{FF2B5EF4-FFF2-40B4-BE49-F238E27FC236}">
                <a16:creationId xmlns:a16="http://schemas.microsoft.com/office/drawing/2014/main" id="{66CAEAEF-A135-49BD-826B-190C271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4" name="p9-cell-3-2">
            <a:extLst xmlns:a="http://schemas.openxmlformats.org/drawingml/2006/main">
              <a:ext uri="{FF2B5EF4-FFF2-40B4-BE49-F238E27FC236}">
                <a16:creationId xmlns:a16="http://schemas.microsoft.com/office/drawing/2014/main" id="{01106A5E-C9DF-46CA-9A5B-EE72436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0"/>
            <a:ext cx="45529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法律实体闭合、长时交互独立验证、
具名采用</a:t>
            </a:r>
          </a:p>
        </p:txBody>
      </p:sp>
      <p:sp>
        <p:nvSpPr>
          <p:cNvPr id="35" name="p9-row-rule-3">
            <a:extLst xmlns:a="http://schemas.openxmlformats.org/drawingml/2006/main">
              <a:ext uri="{FF2B5EF4-FFF2-40B4-BE49-F238E27FC236}">
                <a16:creationId xmlns:a16="http://schemas.microsoft.com/office/drawing/2014/main" id="{3E4B1003-0FF0-42BA-B999-88CE0210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6" name="p9-row-bg-4">
            <a:extLst xmlns:a="http://schemas.openxmlformats.org/drawingml/2006/main">
              <a:ext uri="{FF2B5EF4-FFF2-40B4-BE49-F238E27FC236}">
                <a16:creationId xmlns:a16="http://schemas.microsoft.com/office/drawing/2014/main" id="{8EE6FD06-BBF5-47D8-8EC2-F5185C8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7" name="p9-name-bg-4">
            <a:extLst xmlns:a="http://schemas.openxmlformats.org/drawingml/2006/main">
              <a:ext uri="{FF2B5EF4-FFF2-40B4-BE49-F238E27FC236}">
                <a16:creationId xmlns:a16="http://schemas.microsoft.com/office/drawing/2014/main" id="{4E5AA1AD-FE1B-426E-BDE9-BA8843E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6"/>
          </a:solidFill>
        </p:spPr>
      </p:sp>
      <p:sp>
        <p:nvSpPr>
          <p:cNvPr id="38" name="p9-cell-4-0">
            <a:extLst xmlns:a="http://schemas.openxmlformats.org/drawingml/2006/main">
              <a:ext uri="{FF2B5EF4-FFF2-40B4-BE49-F238E27FC236}">
                <a16:creationId xmlns:a16="http://schemas.microsoft.com/office/drawing/2014/main" id="{40B33D4C-3B7F-4E11-B771-5E276869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14300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AMI Labs
（早期信号）</a:t>
            </a:r>
          </a:p>
        </p:txBody>
      </p:sp>
      <p:sp>
        <p:nvSpPr>
          <p:cNvPr id="39" name="p9-cell-4-1">
            <a:extLst xmlns:a="http://schemas.openxmlformats.org/drawingml/2006/main">
              <a:ext uri="{FF2B5EF4-FFF2-40B4-BE49-F238E27FC236}">
                <a16:creationId xmlns:a16="http://schemas.microsoft.com/office/drawing/2014/main" id="{107E4742-3EDE-41A4-8DB2-8A43121C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81650"/>
            <a:ext cx="90297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非中国地域已闭合，但无可验证的自有模型、
论文、演示、权重、接口或评测</a:t>
            </a:r>
          </a:p>
        </p:txBody>
      </p:sp>
      <p:sp>
        <p:nvSpPr>
          <p:cNvPr id="40" name="p9-trigger-mark-4">
            <a:extLst xmlns:a="http://schemas.openxmlformats.org/drawingml/2006/main">
              <a:ext uri="{FF2B5EF4-FFF2-40B4-BE49-F238E27FC236}">
                <a16:creationId xmlns:a16="http://schemas.microsoft.com/office/drawing/2014/main" id="{9BC409C6-4D0B-4D97-AE3B-CF897FE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755"/>
          </a:solidFill>
        </p:spPr>
      </p:sp>
      <p:sp>
        <p:nvSpPr>
          <p:cNvPr id="41" name="p9-cell-4-2">
            <a:extLst xmlns:a="http://schemas.openxmlformats.org/drawingml/2006/main">
              <a:ext uri="{FF2B5EF4-FFF2-40B4-BE49-F238E27FC236}">
                <a16:creationId xmlns:a16="http://schemas.microsoft.com/office/drawing/2014/main" id="{3526BAE7-E969-445E-923B-66ABD2B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81650"/>
            <a:ext cx="45529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可审计的自有技术资产
与外部入口</a:t>
            </a:r>
          </a:p>
        </p:txBody>
      </p:sp>
      <p:sp>
        <p:nvSpPr>
          <p:cNvPr id="42" name="p9-row-rule-4">
            <a:extLst xmlns:a="http://schemas.openxmlformats.org/drawingml/2006/main">
              <a:ext uri="{FF2B5EF4-FFF2-40B4-BE49-F238E27FC236}">
                <a16:creationId xmlns:a16="http://schemas.microsoft.com/office/drawing/2014/main" id="{FB272684-2E0F-4672-896E-ED55F30D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3" name="p9-footer-rule">
            <a:extLst xmlns:a="http://schemas.openxmlformats.org/drawingml/2006/main">
              <a:ext uri="{FF2B5EF4-FFF2-40B4-BE49-F238E27FC236}">
                <a16:creationId xmlns:a16="http://schemas.microsoft.com/office/drawing/2014/main" id="{4F61C729-B623-4B1B-A71D-816378A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4" name="p9-footer-source">
            <a:extLst xmlns:a="http://schemas.openxmlformats.org/drawingml/2006/main">
              <a:ext uri="{FF2B5EF4-FFF2-40B4-BE49-F238E27FC236}">
                <a16:creationId xmlns:a16="http://schemas.microsoft.com/office/drawing/2014/main" id="{A5ECEE5C-DFB2-4ABD-8621-6F398D3A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来源：官方研究、产品、代码仓库、公司及地域资料</a:t>
            </a:r>
          </a:p>
        </p:txBody>
      </p:sp>
      <p:sp>
        <p:nvSpPr>
          <p:cNvPr id="45" name="p9-footer-page">
            <a:extLst xmlns:a="http://schemas.openxmlformats.org/drawingml/2006/main">
              <a:ext uri="{FF2B5EF4-FFF2-40B4-BE49-F238E27FC236}">
                <a16:creationId xmlns:a16="http://schemas.microsoft.com/office/drawing/2014/main" id="{9BCF987E-4042-455A-8BFD-D8AC326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09</a:t>
            </a:r>
          </a:p>
        </p:txBody>
      </p:sp>
    </p:spTree>
    <p:extLst>
      <p:ext uri="{BB962C8B-B14F-4D97-AF65-F5344CB8AC3E}">
        <p14:creationId xmlns:p14="http://schemas.microsoft.com/office/powerpoint/2010/main" val="560237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0-eyebrow">
            <a:extLst xmlns:a="http://schemas.openxmlformats.org/drawingml/2006/main">
              <a:ext uri="{FF2B5EF4-FFF2-40B4-BE49-F238E27FC236}">
                <a16:creationId xmlns:a16="http://schemas.microsoft.com/office/drawing/2014/main" id="{84170AF6-1BB9-4857-A70F-DDBB6CC5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MANIFOLD · NOW / LATER</a:t>
            </a:r>
          </a:p>
        </p:txBody>
      </p:sp>
      <p:sp>
        <p:nvSpPr>
          <p:cNvPr id="2" name="p10-title">
            <a:extLst xmlns:a="http://schemas.openxmlformats.org/drawingml/2006/main">
              <a:ext uri="{FF2B5EF4-FFF2-40B4-BE49-F238E27FC236}">
                <a16:creationId xmlns:a16="http://schemas.microsoft.com/office/drawing/2014/main" id="{23C4D504-4D64-409C-970A-B4144B6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Manifold 现在先做三件事；
五类证据出现时再重审</a:t>
            </a:r>
          </a:p>
        </p:txBody>
      </p:sp>
      <p:sp>
        <p:nvSpPr>
          <p:cNvPr id="3" name="p10-subtitle">
            <a:extLst xmlns:a="http://schemas.openxmlformats.org/drawingml/2006/main">
              <a:ext uri="{FF2B5EF4-FFF2-40B4-BE49-F238E27FC236}">
                <a16:creationId xmlns:a16="http://schemas.microsoft.com/office/drawing/2014/main" id="{785C4D89-6D6D-42D8-8D6B-B9A85955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5824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上半页是现在要做的事；下半页只保留未来触发重审的证据。</a:t>
            </a:r>
          </a:p>
        </p:txBody>
      </p:sp>
      <p:sp>
        <p:nvSpPr>
          <p:cNvPr id="4" name="p10-actions-bg">
            <a:extLst xmlns:a="http://schemas.openxmlformats.org/drawingml/2006/main">
              <a:ext uri="{FF2B5EF4-FFF2-40B4-BE49-F238E27FC236}">
                <a16:creationId xmlns:a16="http://schemas.microsoft.com/office/drawing/2014/main" id="{4887FC0C-FD8C-4E1F-862A-E2BAB878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5" name="p10-action-num-0">
            <a:extLst xmlns:a="http://schemas.openxmlformats.org/drawingml/2006/main">
              <a:ext uri="{FF2B5EF4-FFF2-40B4-BE49-F238E27FC236}">
                <a16:creationId xmlns:a16="http://schemas.microsoft.com/office/drawing/2014/main" id="{5A6BFE41-F565-4157-99A2-CE450540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353800" cy="474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01</a:t>
            </a:r>
          </a:p>
        </p:txBody>
      </p:sp>
      <p:sp>
        <p:nvSpPr>
          <p:cNvPr id="6" name="p10-action-title-0">
            <a:extLst xmlns:a="http://schemas.openxmlformats.org/drawingml/2006/main">
              <a:ext uri="{FF2B5EF4-FFF2-40B4-BE49-F238E27FC236}">
                <a16:creationId xmlns:a16="http://schemas.microsoft.com/office/drawing/2014/main" id="{5202EB61-31B8-4AD4-9D54-3A4F4505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13538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定义标准交付单元</a:t>
            </a:r>
          </a:p>
        </p:txBody>
      </p:sp>
      <p:sp>
        <p:nvSpPr>
          <p:cNvPr id="7" name="p10-action-body-0">
            <a:extLst xmlns:a="http://schemas.openxmlformats.org/drawingml/2006/main">
              <a:ext uri="{FF2B5EF4-FFF2-40B4-BE49-F238E27FC236}">
                <a16:creationId xmlns:a16="http://schemas.microsoft.com/office/drawing/2014/main" id="{677CDED6-FD7F-4A44-87E8-2B60743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13538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明确模型、接口、部署服务
和联合项目分别交付什么；
哪些层自有，哪些层集成或采购。</a:t>
            </a:r>
          </a:p>
        </p:txBody>
      </p:sp>
      <p:sp>
        <p:nvSpPr>
          <p:cNvPr id="8" name="p10-action-v-0">
            <a:extLst xmlns:a="http://schemas.openxmlformats.org/drawingml/2006/main">
              <a:ext uri="{FF2B5EF4-FFF2-40B4-BE49-F238E27FC236}">
                <a16:creationId xmlns:a16="http://schemas.microsoft.com/office/drawing/2014/main" id="{84C2AEC9-1BF7-4843-ABCC-15128E9C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9" name="p10-action-num-1">
            <a:extLst xmlns:a="http://schemas.openxmlformats.org/drawingml/2006/main">
              <a:ext uri="{FF2B5EF4-FFF2-40B4-BE49-F238E27FC236}">
                <a16:creationId xmlns:a16="http://schemas.microsoft.com/office/drawing/2014/main" id="{EE5021FF-6AAC-494C-BB87-644CBD79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7772400" cy="474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02</a:t>
            </a:r>
          </a:p>
        </p:txBody>
      </p:sp>
      <p:sp>
        <p:nvSpPr>
          <p:cNvPr id="10" name="p10-action-title-1">
            <a:extLst xmlns:a="http://schemas.openxmlformats.org/drawingml/2006/main">
              <a:ext uri="{FF2B5EF4-FFF2-40B4-BE49-F238E27FC236}">
                <a16:creationId xmlns:a16="http://schemas.microsoft.com/office/drawing/2014/main" id="{A7548D13-EC08-4C2E-8E12-7039C128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77724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建立共同验证资产</a:t>
            </a:r>
          </a:p>
        </p:txBody>
      </p:sp>
      <p:sp>
        <p:nvSpPr>
          <p:cNvPr id="11" name="p10-action-body-1">
            <a:extLst xmlns:a="http://schemas.openxmlformats.org/drawingml/2006/main">
              <a:ext uri="{FF2B5EF4-FFF2-40B4-BE49-F238E27FC236}">
                <a16:creationId xmlns:a16="http://schemas.microsoft.com/office/drawing/2014/main" id="{2A752DDA-66CE-4445-B507-2CCD07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77724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把动作忠实度、持久状态、
几何 / 碰撞、失败率、延迟和 TCO
固化成验证协议，并保留负面结果。</a:t>
            </a:r>
          </a:p>
        </p:txBody>
      </p:sp>
      <p:sp>
        <p:nvSpPr>
          <p:cNvPr id="12" name="p10-action-v-1">
            <a:extLst xmlns:a="http://schemas.openxmlformats.org/drawingml/2006/main">
              <a:ext uri="{FF2B5EF4-FFF2-40B4-BE49-F238E27FC236}">
                <a16:creationId xmlns:a16="http://schemas.microsoft.com/office/drawing/2014/main" id="{CAFF03D9-9806-421F-851C-97232154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3" name="p10-action-num-2">
            <a:extLst xmlns:a="http://schemas.openxmlformats.org/drawingml/2006/main">
              <a:ext uri="{FF2B5EF4-FFF2-40B4-BE49-F238E27FC236}">
                <a16:creationId xmlns:a16="http://schemas.microsoft.com/office/drawing/2014/main" id="{E60B5CFF-9C24-40D3-A1D4-4F79FD5C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4191000" cy="474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03</a:t>
            </a:r>
          </a:p>
        </p:txBody>
      </p:sp>
      <p:sp>
        <p:nvSpPr>
          <p:cNvPr id="14" name="p10-action-title-2">
            <a:extLst xmlns:a="http://schemas.openxmlformats.org/drawingml/2006/main">
              <a:ext uri="{FF2B5EF4-FFF2-40B4-BE49-F238E27FC236}">
                <a16:creationId xmlns:a16="http://schemas.microsoft.com/office/drawing/2014/main" id="{735BB0E0-5E6C-4A3D-904D-3AF61B9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4191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锁定关键权利边界</a:t>
            </a:r>
          </a:p>
        </p:txBody>
      </p:sp>
      <p:sp>
        <p:nvSpPr>
          <p:cNvPr id="15" name="p10-action-body-2">
            <a:extLst xmlns:a="http://schemas.openxmlformats.org/drawingml/2006/main">
              <a:ext uri="{FF2B5EF4-FFF2-40B4-BE49-F238E27FC236}">
                <a16:creationId xmlns:a16="http://schemas.microsoft.com/office/drawing/2014/main" id="{01C30096-A2BF-4357-A5D5-2F6FC52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4191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合同先写清输入 / 输出数据权、
模型改进权、部署范围
和再分发规则。</a:t>
            </a:r>
          </a:p>
        </p:txBody>
      </p:sp>
      <p:sp>
        <p:nvSpPr>
          <p:cNvPr id="16" name="p10-trigger-kicker">
            <a:extLst xmlns:a="http://schemas.openxmlformats.org/drawingml/2006/main">
              <a:ext uri="{FF2B5EF4-FFF2-40B4-BE49-F238E27FC236}">
                <a16:creationId xmlns:a16="http://schemas.microsoft.com/office/drawing/2014/main" id="{A24B3A82-4B0A-4D17-A20C-B2DE4E7F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15824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未来出现什么证据时重审</a:t>
            </a:r>
          </a:p>
        </p:txBody>
      </p:sp>
      <p:sp>
        <p:nvSpPr>
          <p:cNvPr id="17" name="p10-trigger-heading-rule">
            <a:extLst xmlns:a="http://schemas.openxmlformats.org/drawingml/2006/main">
              <a:ext uri="{FF2B5EF4-FFF2-40B4-BE49-F238E27FC236}">
                <a16:creationId xmlns:a16="http://schemas.microsoft.com/office/drawing/2014/main" id="{9809A2DD-5598-485F-80E4-23864F7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100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8" name="p10-triggers-bg">
            <a:extLst xmlns:a="http://schemas.openxmlformats.org/drawingml/2006/main">
              <a:ext uri="{FF2B5EF4-FFF2-40B4-BE49-F238E27FC236}">
                <a16:creationId xmlns:a16="http://schemas.microsoft.com/office/drawing/2014/main" id="{F1C4FD69-FDD5-4977-BB9C-6CAAD29C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9" name="p10-trigger-mark-0">
            <a:extLst xmlns:a="http://schemas.openxmlformats.org/drawingml/2006/main">
              <a:ext uri="{FF2B5EF4-FFF2-40B4-BE49-F238E27FC236}">
                <a16:creationId xmlns:a16="http://schemas.microsoft.com/office/drawing/2014/main" id="{74C05855-D6F9-4DC1-A869-E92CC8C2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0" name="p10-trigger-title-0">
            <a:extLst xmlns:a="http://schemas.openxmlformats.org/drawingml/2006/main">
              <a:ext uri="{FF2B5EF4-FFF2-40B4-BE49-F238E27FC236}">
                <a16:creationId xmlns:a16="http://schemas.microsoft.com/office/drawing/2014/main" id="{4C11FDB5-F7DD-49C9-B0AE-A7A84A2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1430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稳定接口</a:t>
            </a:r>
          </a:p>
        </p:txBody>
      </p:sp>
      <p:sp>
        <p:nvSpPr>
          <p:cNvPr id="21" name="p10-trigger-event-0">
            <a:extLst xmlns:a="http://schemas.openxmlformats.org/drawingml/2006/main">
              <a:ext uri="{FF2B5EF4-FFF2-40B4-BE49-F238E27FC236}">
                <a16:creationId xmlns:a16="http://schemas.microsoft.com/office/drawing/2014/main" id="{7FA5B6A3-F3E8-4C04-B7D6-421CC16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1430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持续调用；
价格与服务等级公开</a:t>
            </a:r>
          </a:p>
        </p:txBody>
      </p:sp>
      <p:sp>
        <p:nvSpPr>
          <p:cNvPr id="22" name="p10-trigger-use-0">
            <a:extLst xmlns:a="http://schemas.openxmlformats.org/drawingml/2006/main">
              <a:ext uri="{FF2B5EF4-FFF2-40B4-BE49-F238E27FC236}">
                <a16:creationId xmlns:a16="http://schemas.microsoft.com/office/drawing/2014/main" id="{980E06B6-0990-4C90-809C-33980A2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14300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重审产品 / 平台
替代关系</a:t>
            </a:r>
          </a:p>
        </p:txBody>
      </p:sp>
      <p:sp>
        <p:nvSpPr>
          <p:cNvPr id="23" name="p10-trigger-v-0">
            <a:extLst xmlns:a="http://schemas.openxmlformats.org/drawingml/2006/main">
              <a:ext uri="{FF2B5EF4-FFF2-40B4-BE49-F238E27FC236}">
                <a16:creationId xmlns:a16="http://schemas.microsoft.com/office/drawing/2014/main" id="{CDC07485-3A03-42EF-AEEF-395FCE04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4" name="p10-trigger-mark-1">
            <a:extLst xmlns:a="http://schemas.openxmlformats.org/drawingml/2006/main">
              <a:ext uri="{FF2B5EF4-FFF2-40B4-BE49-F238E27FC236}">
                <a16:creationId xmlns:a16="http://schemas.microsoft.com/office/drawing/2014/main" id="{01B15C4B-1DE1-4B82-B349-A34F80EB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5" name="p10-trigger-title-1">
            <a:extLst xmlns:a="http://schemas.openxmlformats.org/drawingml/2006/main">
              <a:ext uri="{FF2B5EF4-FFF2-40B4-BE49-F238E27FC236}">
                <a16:creationId xmlns:a16="http://schemas.microsoft.com/office/drawing/2014/main" id="{845F1684-5F36-4FA7-B521-87B00ABD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914900"/>
            <a:ext cx="920496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独立复现</a:t>
            </a:r>
          </a:p>
        </p:txBody>
      </p:sp>
      <p:sp>
        <p:nvSpPr>
          <p:cNvPr id="26" name="p10-trigger-event-1">
            <a:extLst xmlns:a="http://schemas.openxmlformats.org/drawingml/2006/main">
              <a:ext uri="{FF2B5EF4-FFF2-40B4-BE49-F238E27FC236}">
                <a16:creationId xmlns:a16="http://schemas.microsoft.com/office/drawing/2014/main" id="{DC95968A-F12F-4BA4-939C-FDF7E41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238750"/>
            <a:ext cx="920496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同一或可比协议下
复现关键结果</a:t>
            </a:r>
          </a:p>
        </p:txBody>
      </p:sp>
      <p:sp>
        <p:nvSpPr>
          <p:cNvPr id="27" name="p10-trigger-use-1">
            <a:extLst xmlns:a="http://schemas.openxmlformats.org/drawingml/2006/main">
              <a:ext uri="{FF2B5EF4-FFF2-40B4-BE49-F238E27FC236}">
                <a16:creationId xmlns:a16="http://schemas.microsoft.com/office/drawing/2014/main" id="{EDC38BD9-E055-4F99-801E-2941A27B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772150"/>
            <a:ext cx="920496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重审技术证据
成熟度</a:t>
            </a:r>
          </a:p>
        </p:txBody>
      </p:sp>
      <p:sp>
        <p:nvSpPr>
          <p:cNvPr id="28" name="p10-trigger-v-1">
            <a:extLst xmlns:a="http://schemas.openxmlformats.org/drawingml/2006/main">
              <a:ext uri="{FF2B5EF4-FFF2-40B4-BE49-F238E27FC236}">
                <a16:creationId xmlns:a16="http://schemas.microsoft.com/office/drawing/2014/main" id="{C0513171-0543-45A4-9A28-E3BE4BB7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9" name="p10-trigger-mark-2">
            <a:extLst xmlns:a="http://schemas.openxmlformats.org/drawingml/2006/main">
              <a:ext uri="{FF2B5EF4-FFF2-40B4-BE49-F238E27FC236}">
                <a16:creationId xmlns:a16="http://schemas.microsoft.com/office/drawing/2014/main" id="{B3DC8AE3-9847-4A12-A7B1-33867DDC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0" name="p10-trigger-title-2">
            <a:extLst xmlns:a="http://schemas.openxmlformats.org/drawingml/2006/main">
              <a:ext uri="{FF2B5EF4-FFF2-40B4-BE49-F238E27FC236}">
                <a16:creationId xmlns:a16="http://schemas.microsoft.com/office/drawing/2014/main" id="{CC37E6F2-DB57-45CE-A733-7D8DD01B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914900"/>
            <a:ext cx="697992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正式商用闭合</a:t>
            </a:r>
          </a:p>
        </p:txBody>
      </p:sp>
      <p:sp>
        <p:nvSpPr>
          <p:cNvPr id="31" name="p10-trigger-event-2">
            <a:extLst xmlns:a="http://schemas.openxmlformats.org/drawingml/2006/main">
              <a:ext uri="{FF2B5EF4-FFF2-40B4-BE49-F238E27FC236}">
                <a16:creationId xmlns:a16="http://schemas.microsoft.com/office/drawing/2014/main" id="{2E98D60C-2CD7-4F92-B4D7-2D725A0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238750"/>
            <a:ext cx="697992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许可、服务等级和
责任边界闭合</a:t>
            </a:r>
          </a:p>
        </p:txBody>
      </p:sp>
      <p:sp>
        <p:nvSpPr>
          <p:cNvPr id="32" name="p10-trigger-use-2">
            <a:extLst xmlns:a="http://schemas.openxmlformats.org/drawingml/2006/main">
              <a:ext uri="{FF2B5EF4-FFF2-40B4-BE49-F238E27FC236}">
                <a16:creationId xmlns:a16="http://schemas.microsoft.com/office/drawing/2014/main" id="{52FEB5E4-4C48-480C-A597-939A9538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772150"/>
            <a:ext cx="697992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重审采购与
部署可行性</a:t>
            </a:r>
          </a:p>
        </p:txBody>
      </p:sp>
      <p:sp>
        <p:nvSpPr>
          <p:cNvPr id="33" name="p10-trigger-v-2">
            <a:extLst xmlns:a="http://schemas.openxmlformats.org/drawingml/2006/main">
              <a:ext uri="{FF2B5EF4-FFF2-40B4-BE49-F238E27FC236}">
                <a16:creationId xmlns:a16="http://schemas.microsoft.com/office/drawing/2014/main" id="{448D4032-B92C-447E-AA59-F67E9F23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4" name="p10-trigger-mark-3">
            <a:extLst xmlns:a="http://schemas.openxmlformats.org/drawingml/2006/main">
              <a:ext uri="{FF2B5EF4-FFF2-40B4-BE49-F238E27FC236}">
                <a16:creationId xmlns:a16="http://schemas.microsoft.com/office/drawing/2014/main" id="{8EBDC6E5-4CF1-4CD7-95CC-1687DD66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5" name="p10-trigger-title-3">
            <a:extLst xmlns:a="http://schemas.openxmlformats.org/drawingml/2006/main">
              <a:ext uri="{FF2B5EF4-FFF2-40B4-BE49-F238E27FC236}">
                <a16:creationId xmlns:a16="http://schemas.microsoft.com/office/drawing/2014/main" id="{AE32D1FC-9C27-4A40-93B0-595D8FF5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914900"/>
            <a:ext cx="475488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客户第一方采用</a:t>
            </a:r>
          </a:p>
        </p:txBody>
      </p:sp>
      <p:sp>
        <p:nvSpPr>
          <p:cNvPr id="36" name="p10-trigger-event-3">
            <a:extLst xmlns:a="http://schemas.openxmlformats.org/drawingml/2006/main">
              <a:ext uri="{FF2B5EF4-FFF2-40B4-BE49-F238E27FC236}">
                <a16:creationId xmlns:a16="http://schemas.microsoft.com/office/drawing/2014/main" id="{F6B91413-130D-4259-ADA8-3B7C943E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5238750"/>
            <a:ext cx="475488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具名客户确认
付费生产部署或续约</a:t>
            </a:r>
          </a:p>
        </p:txBody>
      </p:sp>
      <p:sp>
        <p:nvSpPr>
          <p:cNvPr id="37" name="p10-trigger-use-3">
            <a:extLst xmlns:a="http://schemas.openxmlformats.org/drawingml/2006/main">
              <a:ext uri="{FF2B5EF4-FFF2-40B4-BE49-F238E27FC236}">
                <a16:creationId xmlns:a16="http://schemas.microsoft.com/office/drawing/2014/main" id="{27B991C0-ACBA-4490-B727-029332C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5772150"/>
            <a:ext cx="475488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重审商业采用
与竞争关系</a:t>
            </a:r>
          </a:p>
        </p:txBody>
      </p:sp>
      <p:sp>
        <p:nvSpPr>
          <p:cNvPr id="38" name="p10-trigger-v-3">
            <a:extLst xmlns:a="http://schemas.openxmlformats.org/drawingml/2006/main">
              <a:ext uri="{FF2B5EF4-FFF2-40B4-BE49-F238E27FC236}">
                <a16:creationId xmlns:a16="http://schemas.microsoft.com/office/drawing/2014/main" id="{DAC4F0A5-9B1E-4875-AE3F-48CAB8B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9" name="p10-trigger-mark-4">
            <a:extLst xmlns:a="http://schemas.openxmlformats.org/drawingml/2006/main">
              <a:ext uri="{FF2B5EF4-FFF2-40B4-BE49-F238E27FC236}">
                <a16:creationId xmlns:a16="http://schemas.microsoft.com/office/drawing/2014/main" id="{A581EA44-B558-4F03-A12D-FF2DB3E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0" name="p10-trigger-title-4">
            <a:extLst xmlns:a="http://schemas.openxmlformats.org/drawingml/2006/main">
              <a:ext uri="{FF2B5EF4-FFF2-40B4-BE49-F238E27FC236}">
                <a16:creationId xmlns:a16="http://schemas.microsoft.com/office/drawing/2014/main" id="{88F8C69B-14AA-4159-AF69-31B0571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914900"/>
            <a:ext cx="252984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稳定动作产品</a:t>
            </a:r>
          </a:p>
        </p:txBody>
      </p:sp>
      <p:sp>
        <p:nvSpPr>
          <p:cNvPr id="41" name="p10-trigger-event-4">
            <a:extLst xmlns:a="http://schemas.openxmlformats.org/drawingml/2006/main">
              <a:ext uri="{FF2B5EF4-FFF2-40B4-BE49-F238E27FC236}">
                <a16:creationId xmlns:a16="http://schemas.microsoft.com/office/drawing/2014/main" id="{9D840E14-901F-4D9E-A325-25F609B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5238750"/>
            <a:ext cx="252984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动作运行时 / NIM
正式发布并获验证</a:t>
            </a:r>
          </a:p>
        </p:txBody>
      </p:sp>
      <p:sp>
        <p:nvSpPr>
          <p:cNvPr id="42" name="p10-trigger-use-4">
            <a:extLst xmlns:a="http://schemas.openxmlformats.org/drawingml/2006/main">
              <a:ext uri="{FF2B5EF4-FFF2-40B4-BE49-F238E27FC236}">
                <a16:creationId xmlns:a16="http://schemas.microsoft.com/office/drawing/2014/main" id="{C7335709-CC18-44A6-9C62-FD387C1F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5772150"/>
            <a:ext cx="252984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重审自托管
绕行风险</a:t>
            </a:r>
          </a:p>
        </p:txBody>
      </p:sp>
      <p:sp>
        <p:nvSpPr>
          <p:cNvPr id="43" name="p10-footer-rule">
            <a:extLst xmlns:a="http://schemas.openxmlformats.org/drawingml/2006/main">
              <a:ext uri="{FF2B5EF4-FFF2-40B4-BE49-F238E27FC236}">
                <a16:creationId xmlns:a16="http://schemas.microsoft.com/office/drawing/2014/main" id="{6AFD46FA-B197-4311-930B-3CF46F9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4" name="p10-footer-source">
            <a:extLst xmlns:a="http://schemas.openxmlformats.org/drawingml/2006/main">
              <a:ext uri="{FF2B5EF4-FFF2-40B4-BE49-F238E27FC236}">
                <a16:creationId xmlns:a16="http://schemas.microsoft.com/office/drawing/2014/main" id="{3B0F102A-32C9-421B-933A-DC629F9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跨页综合：官方条款、开发者和技术资料；公司/伙伴自报及独立体验</a:t>
            </a:r>
          </a:p>
        </p:txBody>
      </p:sp>
      <p:sp>
        <p:nvSpPr>
          <p:cNvPr id="45" name="p10-footer-page">
            <a:extLst xmlns:a="http://schemas.openxmlformats.org/drawingml/2006/main">
              <a:ext uri="{FF2B5EF4-FFF2-40B4-BE49-F238E27FC236}">
                <a16:creationId xmlns:a16="http://schemas.microsoft.com/office/drawing/2014/main" id="{AD4CC611-5E93-40F3-8F1A-FC9667B8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10</a:t>
            </a:r>
          </a:p>
        </p:txBody>
      </p:sp>
    </p:spTree>
    <p:extLst>
      <p:ext uri="{BB962C8B-B14F-4D97-AF65-F5344CB8AC3E}">
        <p14:creationId xmlns:p14="http://schemas.microsoft.com/office/powerpoint/2010/main" val="1430274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2026-07-15T12:56:28.7930000Z</dcterms:created>
  <dcterms:modified xsi:type="dcterms:W3CDTF">2026-07-15T12:56:28.7930000Z</dcterms:modified>
</coreProperties>
</file>