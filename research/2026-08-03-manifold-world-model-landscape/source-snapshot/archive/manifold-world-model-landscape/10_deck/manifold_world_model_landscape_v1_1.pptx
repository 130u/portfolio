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4ed33205cf42e0" /><Relationship Type="http://schemas.openxmlformats.org/officeDocument/2006/relationships/extended-properties" Target="/docProps/app.xml" Id="Rcf96c2c310eb4ecc" /><Relationship Type="http://schemas.openxmlformats.org/officeDocument/2006/relationships/officeDocument" Target="/ppt/presentation.xml" Id="R748f36a671894b0e" /></Relationships>
</file>

<file path=ppt/presentation.xml><?xml version="1.0" encoding="utf-8"?>
<p:presentation xmlns:p="http://schemas.openxmlformats.org/presentationml/2006/main">
  <p:sldMasterIdLst>
    <p:sldMasterId xmlns:r="http://schemas.openxmlformats.org/officeDocument/2006/relationships" id="2147483648" r:id="Rbfb0fea6a4794019"/>
  </p:sldMasterIdLst>
  <p:notesMasterIdLst>
    <p:notesMasterId xmlns:r="http://schemas.openxmlformats.org/officeDocument/2006/relationships" r:id="Rc811e2ef59b04f21"/>
  </p:notesMasterIdLst>
  <p:sldIdLst>
    <p:sldId xmlns:r="http://schemas.openxmlformats.org/officeDocument/2006/relationships" id="256" r:id="Rf36f6090466048e8"/>
    <p:sldId xmlns:r="http://schemas.openxmlformats.org/officeDocument/2006/relationships" id="257" r:id="R4ca9d9fce5034146"/>
    <p:sldId xmlns:r="http://schemas.openxmlformats.org/officeDocument/2006/relationships" id="258" r:id="R4a155aa68a644c47"/>
    <p:sldId xmlns:r="http://schemas.openxmlformats.org/officeDocument/2006/relationships" id="259" r:id="R945a85841d0b4bec"/>
    <p:sldId xmlns:r="http://schemas.openxmlformats.org/officeDocument/2006/relationships" id="260" r:id="R2d577202df7548fd"/>
    <p:sldId xmlns:r="http://schemas.openxmlformats.org/officeDocument/2006/relationships" id="261" r:id="R2ccdec42bb7242dc"/>
    <p:sldId xmlns:r="http://schemas.openxmlformats.org/officeDocument/2006/relationships" id="262" r:id="R06c75c0947ff4028"/>
    <p:sldId xmlns:r="http://schemas.openxmlformats.org/officeDocument/2006/relationships" id="263" r:id="Rbe27dabcbb774201"/>
    <p:sldId xmlns:r="http://schemas.openxmlformats.org/officeDocument/2006/relationships" id="264" r:id="R3943a272e9284e07"/>
    <p:sldId xmlns:r="http://schemas.openxmlformats.org/officeDocument/2006/relationships" id="265" r:id="R53fbe707be14440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95be262d0e4341" /><Relationship Type="http://schemas.openxmlformats.org/officeDocument/2006/relationships/slideMaster" Target="/ppt/slideMasters/slideMaster1.xml" Id="Rbfb0fea6a4794019" /><Relationship Type="http://schemas.openxmlformats.org/officeDocument/2006/relationships/notesMaster" Target="/ppt/notesMasters/notesMaster1.xml" Id="Rc811e2ef59b04f21" /><Relationship Type="http://schemas.openxmlformats.org/officeDocument/2006/relationships/presProps" Target="/ppt/presProps.xml" Id="R52c65c9f2ed24909" /><Relationship Type="http://schemas.openxmlformats.org/officeDocument/2006/relationships/tableStyles" Target="/ppt/tableStyles.xml" Id="Rbed2096c3dd3455d" /><Relationship Type="http://schemas.openxmlformats.org/officeDocument/2006/relationships/slide" Target="/ppt/slides/slide1.xml" Id="Rf36f6090466048e8" /><Relationship Type="http://schemas.openxmlformats.org/officeDocument/2006/relationships/slide" Target="/ppt/slides/slide2.xml" Id="R4ca9d9fce5034146" /><Relationship Type="http://schemas.openxmlformats.org/officeDocument/2006/relationships/slide" Target="/ppt/slides/slide3.xml" Id="R4a155aa68a644c47" /><Relationship Type="http://schemas.openxmlformats.org/officeDocument/2006/relationships/slide" Target="/ppt/slides/slide4.xml" Id="R945a85841d0b4bec" /><Relationship Type="http://schemas.openxmlformats.org/officeDocument/2006/relationships/slide" Target="/ppt/slides/slide5.xml" Id="R2d577202df7548fd" /><Relationship Type="http://schemas.openxmlformats.org/officeDocument/2006/relationships/slide" Target="/ppt/slides/slide6.xml" Id="R2ccdec42bb7242dc" /><Relationship Type="http://schemas.openxmlformats.org/officeDocument/2006/relationships/slide" Target="/ppt/slides/slide7.xml" Id="R06c75c0947ff4028" /><Relationship Type="http://schemas.openxmlformats.org/officeDocument/2006/relationships/slide" Target="/ppt/slides/slide8.xml" Id="Rbe27dabcbb774201" /><Relationship Type="http://schemas.openxmlformats.org/officeDocument/2006/relationships/slide" Target="/ppt/slides/slide9.xml" Id="R3943a272e9284e07" /><Relationship Type="http://schemas.openxmlformats.org/officeDocument/2006/relationships/slide" Target="/ppt/slides/slide10.xml" Id="R53fbe707be1444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a75329db834b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6027d157504ec8" /><Relationship Type="http://schemas.openxmlformats.org/officeDocument/2006/relationships/notesMaster" Target="/ppt/notesMasters/notesMaster1.xml" Id="Rdb0d602e22e949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4c35c6b2a24d08" /><Relationship Type="http://schemas.openxmlformats.org/officeDocument/2006/relationships/notesMaster" Target="/ppt/notesMasters/notesMaster1.xml" Id="Rcfd12db8b5cc41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cd4e4afb2a47ea" /><Relationship Type="http://schemas.openxmlformats.org/officeDocument/2006/relationships/notesMaster" Target="/ppt/notesMasters/notesMaster1.xml" Id="R88cfde5f845649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1ae68daa244a8d" /><Relationship Type="http://schemas.openxmlformats.org/officeDocument/2006/relationships/notesMaster" Target="/ppt/notesMasters/notesMaster1.xml" Id="R17e4f3c1621c4b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8ce33331d9743be" /><Relationship Type="http://schemas.openxmlformats.org/officeDocument/2006/relationships/notesMaster" Target="/ppt/notesMasters/notesMaster1.xml" Id="R29f6fece5c0e4c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ae11c462b14918" /><Relationship Type="http://schemas.openxmlformats.org/officeDocument/2006/relationships/notesMaster" Target="/ppt/notesMasters/notesMaster1.xml" Id="R7164bda85cdd4c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099d92075a41b3" /><Relationship Type="http://schemas.openxmlformats.org/officeDocument/2006/relationships/notesMaster" Target="/ppt/notesMasters/notesMaster1.xml" Id="R0fb7cba671d74c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61838b4e9d48f4" /><Relationship Type="http://schemas.openxmlformats.org/officeDocument/2006/relationships/notesMaster" Target="/ppt/notesMasters/notesMaster1.xml" Id="R546c905cf60947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ac44568f974492" /><Relationship Type="http://schemas.openxmlformats.org/officeDocument/2006/relationships/notesMaster" Target="/ppt/notesMasters/notesMaster1.xml" Id="Rc3db078a616140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3ff4f1836a486d" /><Relationship Type="http://schemas.openxmlformats.org/officeDocument/2006/relationships/notesMaster" Target="/ppt/notesMasters/notesMaster1.xml" Id="R809fdb11590d46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14a6c9fb5148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bc71f3d081c4c80" /><Relationship Type="http://schemas.openxmlformats.org/officeDocument/2006/relationships/slideLayout" Target="/ppt/slideLayouts/slideLayout1.xml" Id="Rc73269a194374d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3269a194374d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100443b4dd44daf" /><Relationship Type="http://schemas.openxmlformats.org/officeDocument/2006/relationships/notesSlide" Target="/ppt/notesSlides/notesSlide1.xml" Id="R1846cc23a8834b8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18f390db3d7440d" /><Relationship Type="http://schemas.openxmlformats.org/officeDocument/2006/relationships/notesSlide" Target="/ppt/notesSlides/notesSlide2.xml" Id="R5c0a0e56590448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38a1bd8cb04e39" /><Relationship Type="http://schemas.openxmlformats.org/officeDocument/2006/relationships/notesSlide" Target="/ppt/notesSlides/notesSlide3.xml" Id="R1914e3c478024d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7e560a21f241c6" /><Relationship Type="http://schemas.openxmlformats.org/officeDocument/2006/relationships/notesSlide" Target="/ppt/notesSlides/notesSlide4.xml" Id="Rba740a2d255744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7fde900a5f4371" /><Relationship Type="http://schemas.openxmlformats.org/officeDocument/2006/relationships/notesSlide" Target="/ppt/notesSlides/notesSlide5.xml" Id="R2b26bff862eb46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43d65cba9c4288" /><Relationship Type="http://schemas.openxmlformats.org/officeDocument/2006/relationships/notesSlide" Target="/ppt/notesSlides/notesSlide6.xml" Id="R1f660c42fdfe4f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6c3e3ee0ac4fb9" /><Relationship Type="http://schemas.openxmlformats.org/officeDocument/2006/relationships/notesSlide" Target="/ppt/notesSlides/notesSlide7.xml" Id="R91044e97ea084e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5f7e494996e4f5a" /><Relationship Type="http://schemas.openxmlformats.org/officeDocument/2006/relationships/notesSlide" Target="/ppt/notesSlides/notesSlide8.xml" Id="Rab0f2099199d4c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9aa6c441454359" /><Relationship Type="http://schemas.openxmlformats.org/officeDocument/2006/relationships/notesSlide" Target="/ppt/notesSlides/notesSlide9.xml" Id="R48c50e19d4f345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9dff35b282420a" /><Relationship Type="http://schemas.openxmlformats.org/officeDocument/2006/relationships/notesSlide" Target="/ppt/notesSlides/notesSlide10.xml" Id="R32b9274b61624465" /></Relationships>
</file>

<file path=ppt/slides/slide1.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1-report">
            <a:extLst xmlns:a="http://schemas.openxmlformats.org/drawingml/2006/main">
              <a:ext uri="{FF2B5EF4-FFF2-40B4-BE49-F238E27FC236}">
                <a16:creationId xmlns:a16="http://schemas.microsoft.com/office/drawing/2014/main" id="{091217A5-A305-4279-9785-803DC68AF5C2}"/>
              </a:ext>
            </a:extLst>
          </p:cNvPr>
          <p:cNvSpPr>
            <a:spLocks xmlns:a="http://schemas.openxmlformats.org/drawingml/2006/main" noGrp="1"/>
          </p:cNvSpPr>
          <p:nvPr/>
        </p:nvSpPr>
        <p:spPr>
          <a:xfrm xmlns:a="http://schemas.openxmlformats.org/drawingml/2006/main">
            <a:off x="609600" y="266700"/>
            <a:ext cx="11582400" cy="6591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MANIFOLD · 非中国世界模型竞争格局</a:t>
            </a:r>
          </a:p>
        </p:txBody>
      </p:sp>
      <p:sp>
        <p:nvSpPr>
          <p:cNvPr id="2" name="p1-date">
            <a:extLst xmlns:a="http://schemas.openxmlformats.org/drawingml/2006/main">
              <a:ext uri="{FF2B5EF4-FFF2-40B4-BE49-F238E27FC236}">
                <a16:creationId xmlns:a16="http://schemas.microsoft.com/office/drawing/2014/main" id="{058F1E19-128C-41F9-8770-9EFEA696692D}"/>
              </a:ext>
            </a:extLst>
          </p:cNvPr>
          <p:cNvSpPr>
            <a:spLocks xmlns:a="http://schemas.openxmlformats.org/drawingml/2006/main" noGrp="1"/>
          </p:cNvSpPr>
          <p:nvPr/>
        </p:nvSpPr>
        <p:spPr>
          <a:xfrm xmlns:a="http://schemas.openxmlformats.org/drawingml/2006/main">
            <a:off x="7239000" y="266700"/>
            <a:ext cx="4953000" cy="6591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400" b="0" i="0">
                <a:solidFill>
                  <a:srgbClr val="6E6861"/>
                </a:solidFill>
                <a:latin typeface="Noto Sans SC"/>
                <a:ea typeface="Noto Sans SC"/>
                <a:cs typeface="Noto Sans SC"/>
              </a:defRPr>
            </a:pPr>
            <a:r>
              <a:t>五类重点路径 · 未来 12–24 个月竞争信号</a:t>
            </a:r>
          </a:p>
        </p:txBody>
      </p:sp>
      <p:sp>
        <p:nvSpPr>
          <p:cNvPr id="3" name="p1-top-rule">
            <a:extLst xmlns:a="http://schemas.openxmlformats.org/drawingml/2006/main">
              <a:ext uri="{FF2B5EF4-FFF2-40B4-BE49-F238E27FC236}">
                <a16:creationId xmlns:a16="http://schemas.microsoft.com/office/drawing/2014/main" id="{13CA55DE-F04E-46E7-A725-86290362CFEE}"/>
              </a:ext>
            </a:extLst>
          </p:cNvPr>
          <p:cNvSpPr>
            <a:spLocks xmlns:a="http://schemas.openxmlformats.org/drawingml/2006/main" noGrp="1"/>
          </p:cNvSpPr>
          <p:nvPr/>
        </p:nvSpPr>
        <p:spPr>
          <a:xfrm xmlns:a="http://schemas.openxmlformats.org/drawingml/2006/main">
            <a:off x="609600" y="628650"/>
            <a:ext cx="10972800" cy="9525"/>
          </a:xfrm>
          <a:prstGeom xmlns:a="http://schemas.openxmlformats.org/drawingml/2006/main" prst="rect">
            <a:avLst/>
          </a:prstGeom>
          <a:solidFill xmlns:a="http://schemas.openxmlformats.org/drawingml/2006/main">
            <a:srgbClr val="D8D0C6"/>
          </a:solidFill>
        </p:spPr>
      </p:sp>
      <p:sp>
        <p:nvSpPr>
          <p:cNvPr id="4" name="p1-answer-tag">
            <a:extLst xmlns:a="http://schemas.openxmlformats.org/drawingml/2006/main">
              <a:ext uri="{FF2B5EF4-FFF2-40B4-BE49-F238E27FC236}">
                <a16:creationId xmlns:a16="http://schemas.microsoft.com/office/drawing/2014/main" id="{72AFE617-74FC-49D1-BF13-52F0063F4582}"/>
              </a:ext>
            </a:extLst>
          </p:cNvPr>
          <p:cNvSpPr>
            <a:spLocks xmlns:a="http://schemas.openxmlformats.org/drawingml/2006/main" noGrp="1"/>
          </p:cNvSpPr>
          <p:nvPr/>
        </p:nvSpPr>
        <p:spPr>
          <a:xfrm xmlns:a="http://schemas.openxmlformats.org/drawingml/2006/main">
            <a:off x="609600" y="895350"/>
            <a:ext cx="11582400" cy="5962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EXECUTIVE ANSWER</a:t>
            </a:r>
          </a:p>
        </p:txBody>
      </p:sp>
      <p:sp>
        <p:nvSpPr>
          <p:cNvPr id="5" name="p1-title">
            <a:extLst xmlns:a="http://schemas.openxmlformats.org/drawingml/2006/main">
              <a:ext uri="{FF2B5EF4-FFF2-40B4-BE49-F238E27FC236}">
                <a16:creationId xmlns:a16="http://schemas.microsoft.com/office/drawing/2014/main" id="{33BAEE13-1529-4A02-8055-8B4DB6EDA780}"/>
              </a:ext>
            </a:extLst>
          </p:cNvPr>
          <p:cNvSpPr>
            <a:spLocks xmlns:a="http://schemas.openxmlformats.org/drawingml/2006/main" noGrp="1"/>
          </p:cNvSpPr>
          <p:nvPr/>
        </p:nvSpPr>
        <p:spPr>
          <a:xfrm xmlns:a="http://schemas.openxmlformats.org/drawingml/2006/main">
            <a:off x="609600" y="1200150"/>
            <a:ext cx="11582400" cy="5657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000" b="1" i="0">
                <a:solidFill>
                  <a:srgbClr val="24211E"/>
                </a:solidFill>
                <a:latin typeface="Noto Serif SC"/>
                <a:ea typeface="Noto Serif SC"/>
                <a:cs typeface="Noto Serif SC"/>
              </a:defRPr>
            </a:pPr>
            <a:r>
              <a:t>海外世界模型已经从模型演示
走向三种交付方式</a:t>
            </a:r>
          </a:p>
        </p:txBody>
      </p:sp>
      <p:sp>
        <p:nvSpPr>
          <p:cNvPr id="6" name="p1-answer">
            <a:extLst xmlns:a="http://schemas.openxmlformats.org/drawingml/2006/main">
              <a:ext uri="{FF2B5EF4-FFF2-40B4-BE49-F238E27FC236}">
                <a16:creationId xmlns:a16="http://schemas.microsoft.com/office/drawing/2014/main" id="{23A92A13-A503-4F03-98A8-A218FB20661A}"/>
              </a:ext>
            </a:extLst>
          </p:cNvPr>
          <p:cNvSpPr>
            <a:spLocks xmlns:a="http://schemas.openxmlformats.org/drawingml/2006/main" noGrp="1"/>
          </p:cNvSpPr>
          <p:nvPr/>
        </p:nvSpPr>
        <p:spPr>
          <a:xfrm xmlns:a="http://schemas.openxmlformats.org/drawingml/2006/main">
            <a:off x="609600" y="2971800"/>
            <a:ext cx="11582400" cy="3886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i="0">
                <a:solidFill>
                  <a:srgbClr val="24211E"/>
                </a:solidFill>
                <a:latin typeface="Noto Sans SC"/>
                <a:ea typeface="Noto Sans SC"/>
                <a:cs typeface="Noto Sans SC"/>
              </a:defRPr>
            </a:pPr>
            <a:r>
              <a:t>公开计价接口、申请制入口和可下载/自托管组件已经出现；
但目前仍没有公开证据证明任何一家进入了客户确认的付费生产阶段。</a:t>
            </a:r>
          </a:p>
        </p:txBody>
      </p:sp>
      <p:sp>
        <p:nvSpPr>
          <p:cNvPr id="7" name="p1-band-0">
            <a:extLst xmlns:a="http://schemas.openxmlformats.org/drawingml/2006/main">
              <a:ext uri="{FF2B5EF4-FFF2-40B4-BE49-F238E27FC236}">
                <a16:creationId xmlns:a16="http://schemas.microsoft.com/office/drawing/2014/main" id="{D0ED3EA4-2183-4F65-A09F-BC3BE5648D24}"/>
              </a:ext>
            </a:extLst>
          </p:cNvPr>
          <p:cNvSpPr>
            <a:spLocks xmlns:a="http://schemas.openxmlformats.org/drawingml/2006/main" noGrp="1"/>
          </p:cNvSpPr>
          <p:nvPr/>
        </p:nvSpPr>
        <p:spPr>
          <a:xfrm xmlns:a="http://schemas.openxmlformats.org/drawingml/2006/main">
            <a:off x="609600" y="4343400"/>
            <a:ext cx="3505200" cy="1676400"/>
          </a:xfrm>
          <a:prstGeom xmlns:a="http://schemas.openxmlformats.org/drawingml/2006/main" prst="rect">
            <a:avLst/>
          </a:prstGeom>
          <a:solidFill xmlns:a="http://schemas.openxmlformats.org/drawingml/2006/main">
            <a:srgbClr val="F1DFD5"/>
          </a:solidFill>
        </p:spPr>
      </p:sp>
      <p:sp>
        <p:nvSpPr>
          <p:cNvPr id="8" name="p1-band-mark-0">
            <a:extLst xmlns:a="http://schemas.openxmlformats.org/drawingml/2006/main">
              <a:ext uri="{FF2B5EF4-FFF2-40B4-BE49-F238E27FC236}">
                <a16:creationId xmlns:a16="http://schemas.microsoft.com/office/drawing/2014/main" id="{9E27EA66-6B21-47B8-8E0D-1BDED667D2D6}"/>
              </a:ext>
            </a:extLst>
          </p:cNvPr>
          <p:cNvSpPr>
            <a:spLocks xmlns:a="http://schemas.openxmlformats.org/drawingml/2006/main" noGrp="1"/>
          </p:cNvSpPr>
          <p:nvPr/>
        </p:nvSpPr>
        <p:spPr>
          <a:xfrm xmlns:a="http://schemas.openxmlformats.org/drawingml/2006/main">
            <a:off x="609600" y="4343400"/>
            <a:ext cx="514350" cy="38100"/>
          </a:xfrm>
          <a:prstGeom xmlns:a="http://schemas.openxmlformats.org/drawingml/2006/main" prst="rect">
            <a:avLst/>
          </a:prstGeom>
          <a:solidFill xmlns:a="http://schemas.openxmlformats.org/drawingml/2006/main">
            <a:srgbClr val="C56B4D"/>
          </a:solidFill>
        </p:spPr>
      </p:sp>
      <p:sp>
        <p:nvSpPr>
          <p:cNvPr id="9" name="p1-band-head-0">
            <a:extLst xmlns:a="http://schemas.openxmlformats.org/drawingml/2006/main">
              <a:ext uri="{FF2B5EF4-FFF2-40B4-BE49-F238E27FC236}">
                <a16:creationId xmlns:a16="http://schemas.microsoft.com/office/drawing/2014/main" id="{657F13D3-7DD4-4F5A-95BC-0BE0E2FA4B5A}"/>
              </a:ext>
            </a:extLst>
          </p:cNvPr>
          <p:cNvSpPr>
            <a:spLocks xmlns:a="http://schemas.openxmlformats.org/drawingml/2006/main" noGrp="1"/>
          </p:cNvSpPr>
          <p:nvPr/>
        </p:nvSpPr>
        <p:spPr>
          <a:xfrm xmlns:a="http://schemas.openxmlformats.org/drawingml/2006/main">
            <a:off x="800100" y="4552950"/>
            <a:ext cx="11391900" cy="2305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三种路径已经可见</a:t>
            </a:r>
          </a:p>
        </p:txBody>
      </p:sp>
      <p:sp>
        <p:nvSpPr>
          <p:cNvPr id="10" name="p1-band-body-0">
            <a:extLst xmlns:a="http://schemas.openxmlformats.org/drawingml/2006/main">
              <a:ext uri="{FF2B5EF4-FFF2-40B4-BE49-F238E27FC236}">
                <a16:creationId xmlns:a16="http://schemas.microsoft.com/office/drawing/2014/main" id="{24170799-08AB-41CF-B7F9-5D73C1AE9FAD}"/>
              </a:ext>
            </a:extLst>
          </p:cNvPr>
          <p:cNvSpPr>
            <a:spLocks xmlns:a="http://schemas.openxmlformats.org/drawingml/2006/main" noGrp="1"/>
          </p:cNvSpPr>
          <p:nvPr/>
        </p:nvSpPr>
        <p:spPr>
          <a:xfrm xmlns:a="http://schemas.openxmlformats.org/drawingml/2006/main">
            <a:off x="800100" y="5010150"/>
            <a:ext cx="11391900" cy="1847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按秒调用、先申请访问、直接自托管——
客户拿到的东西已经不再只是模型演示。</a:t>
            </a:r>
          </a:p>
        </p:txBody>
      </p:sp>
      <p:sp>
        <p:nvSpPr>
          <p:cNvPr id="11" name="p1-band-1">
            <a:extLst xmlns:a="http://schemas.openxmlformats.org/drawingml/2006/main">
              <a:ext uri="{FF2B5EF4-FFF2-40B4-BE49-F238E27FC236}">
                <a16:creationId xmlns:a16="http://schemas.microsoft.com/office/drawing/2014/main" id="{6EB0B0C4-4B04-4D7D-8E9E-118A3CFBD65D}"/>
              </a:ext>
            </a:extLst>
          </p:cNvPr>
          <p:cNvSpPr>
            <a:spLocks xmlns:a="http://schemas.openxmlformats.org/drawingml/2006/main" noGrp="1"/>
          </p:cNvSpPr>
          <p:nvPr/>
        </p:nvSpPr>
        <p:spPr>
          <a:xfrm xmlns:a="http://schemas.openxmlformats.org/drawingml/2006/main">
            <a:off x="4343400" y="4343400"/>
            <a:ext cx="3505200" cy="1676400"/>
          </a:xfrm>
          <a:prstGeom xmlns:a="http://schemas.openxmlformats.org/drawingml/2006/main" prst="rect">
            <a:avLst/>
          </a:prstGeom>
          <a:solidFill xmlns:a="http://schemas.openxmlformats.org/drawingml/2006/main">
            <a:srgbClr val="E5EBE5"/>
          </a:solidFill>
        </p:spPr>
      </p:sp>
      <p:sp>
        <p:nvSpPr>
          <p:cNvPr id="12" name="p1-band-mark-1">
            <a:extLst xmlns:a="http://schemas.openxmlformats.org/drawingml/2006/main">
              <a:ext uri="{FF2B5EF4-FFF2-40B4-BE49-F238E27FC236}">
                <a16:creationId xmlns:a16="http://schemas.microsoft.com/office/drawing/2014/main" id="{E02F958A-FF02-4C37-B26F-6E3C21287C6B}"/>
              </a:ext>
            </a:extLst>
          </p:cNvPr>
          <p:cNvSpPr>
            <a:spLocks xmlns:a="http://schemas.openxmlformats.org/drawingml/2006/main" noGrp="1"/>
          </p:cNvSpPr>
          <p:nvPr/>
        </p:nvSpPr>
        <p:spPr>
          <a:xfrm xmlns:a="http://schemas.openxmlformats.org/drawingml/2006/main">
            <a:off x="4343400" y="4343400"/>
            <a:ext cx="514350" cy="38100"/>
          </a:xfrm>
          <a:prstGeom xmlns:a="http://schemas.openxmlformats.org/drawingml/2006/main" prst="rect">
            <a:avLst/>
          </a:prstGeom>
          <a:solidFill xmlns:a="http://schemas.openxmlformats.org/drawingml/2006/main">
            <a:srgbClr val="75867A"/>
          </a:solidFill>
        </p:spPr>
      </p:sp>
      <p:sp>
        <p:nvSpPr>
          <p:cNvPr id="13" name="p1-band-head-1">
            <a:extLst xmlns:a="http://schemas.openxmlformats.org/drawingml/2006/main">
              <a:ext uri="{FF2B5EF4-FFF2-40B4-BE49-F238E27FC236}">
                <a16:creationId xmlns:a16="http://schemas.microsoft.com/office/drawing/2014/main" id="{F50EF4A6-A3A2-4AA0-81A0-972713F478E8}"/>
              </a:ext>
            </a:extLst>
          </p:cNvPr>
          <p:cNvSpPr>
            <a:spLocks xmlns:a="http://schemas.openxmlformats.org/drawingml/2006/main" noGrp="1"/>
          </p:cNvSpPr>
          <p:nvPr/>
        </p:nvSpPr>
        <p:spPr>
          <a:xfrm xmlns:a="http://schemas.openxmlformats.org/drawingml/2006/main">
            <a:off x="4533900" y="4552950"/>
            <a:ext cx="7658100" cy="2305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真正要比较的是交付链</a:t>
            </a:r>
          </a:p>
        </p:txBody>
      </p:sp>
      <p:sp>
        <p:nvSpPr>
          <p:cNvPr id="14" name="p1-band-body-1">
            <a:extLst xmlns:a="http://schemas.openxmlformats.org/drawingml/2006/main">
              <a:ext uri="{FF2B5EF4-FFF2-40B4-BE49-F238E27FC236}">
                <a16:creationId xmlns:a16="http://schemas.microsoft.com/office/drawing/2014/main" id="{4310A652-4B05-4A99-8787-F2F6F80058EE}"/>
              </a:ext>
            </a:extLst>
          </p:cNvPr>
          <p:cNvSpPr>
            <a:spLocks xmlns:a="http://schemas.openxmlformats.org/drawingml/2006/main" noGrp="1"/>
          </p:cNvSpPr>
          <p:nvPr/>
        </p:nvSpPr>
        <p:spPr>
          <a:xfrm xmlns:a="http://schemas.openxmlformats.org/drawingml/2006/main">
            <a:off x="4533900" y="5010150"/>
            <a:ext cx="7658100" cy="1847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模型效果只是起点；接口、运行时、部署方式
和权利边界决定能不能落地。</a:t>
            </a:r>
          </a:p>
        </p:txBody>
      </p:sp>
      <p:sp>
        <p:nvSpPr>
          <p:cNvPr id="15" name="p1-band-2">
            <a:extLst xmlns:a="http://schemas.openxmlformats.org/drawingml/2006/main">
              <a:ext uri="{FF2B5EF4-FFF2-40B4-BE49-F238E27FC236}">
                <a16:creationId xmlns:a16="http://schemas.microsoft.com/office/drawing/2014/main" id="{D529C73F-F238-4012-BCF0-CCBE7B4FE334}"/>
              </a:ext>
            </a:extLst>
          </p:cNvPr>
          <p:cNvSpPr>
            <a:spLocks xmlns:a="http://schemas.openxmlformats.org/drawingml/2006/main" noGrp="1"/>
          </p:cNvSpPr>
          <p:nvPr/>
        </p:nvSpPr>
        <p:spPr>
          <a:xfrm xmlns:a="http://schemas.openxmlformats.org/drawingml/2006/main">
            <a:off x="8077200" y="4343400"/>
            <a:ext cx="3505200" cy="1676400"/>
          </a:xfrm>
          <a:prstGeom xmlns:a="http://schemas.openxmlformats.org/drawingml/2006/main" prst="rect">
            <a:avLst/>
          </a:prstGeom>
          <a:solidFill xmlns:a="http://schemas.openxmlformats.org/drawingml/2006/main">
            <a:srgbClr val="E9E5ED"/>
          </a:solidFill>
        </p:spPr>
      </p:sp>
      <p:sp>
        <p:nvSpPr>
          <p:cNvPr id="16" name="p1-band-mark-2">
            <a:extLst xmlns:a="http://schemas.openxmlformats.org/drawingml/2006/main">
              <a:ext uri="{FF2B5EF4-FFF2-40B4-BE49-F238E27FC236}">
                <a16:creationId xmlns:a16="http://schemas.microsoft.com/office/drawing/2014/main" id="{39C5552F-B2B3-4379-9F8A-9910A0102808}"/>
              </a:ext>
            </a:extLst>
          </p:cNvPr>
          <p:cNvSpPr>
            <a:spLocks xmlns:a="http://schemas.openxmlformats.org/drawingml/2006/main" noGrp="1"/>
          </p:cNvSpPr>
          <p:nvPr/>
        </p:nvSpPr>
        <p:spPr>
          <a:xfrm xmlns:a="http://schemas.openxmlformats.org/drawingml/2006/main">
            <a:off x="8077200" y="4343400"/>
            <a:ext cx="514350" cy="38100"/>
          </a:xfrm>
          <a:prstGeom xmlns:a="http://schemas.openxmlformats.org/drawingml/2006/main" prst="rect">
            <a:avLst/>
          </a:prstGeom>
          <a:solidFill xmlns:a="http://schemas.openxmlformats.org/drawingml/2006/main">
            <a:srgbClr val="766F82"/>
          </a:solidFill>
        </p:spPr>
      </p:sp>
      <p:sp>
        <p:nvSpPr>
          <p:cNvPr id="17" name="p1-band-head-2">
            <a:extLst xmlns:a="http://schemas.openxmlformats.org/drawingml/2006/main">
              <a:ext uri="{FF2B5EF4-FFF2-40B4-BE49-F238E27FC236}">
                <a16:creationId xmlns:a16="http://schemas.microsoft.com/office/drawing/2014/main" id="{0E384EF5-FBD2-43D7-A7ED-D5E93830823C}"/>
              </a:ext>
            </a:extLst>
          </p:cNvPr>
          <p:cNvSpPr>
            <a:spLocks xmlns:a="http://schemas.openxmlformats.org/drawingml/2006/main" noGrp="1"/>
          </p:cNvSpPr>
          <p:nvPr/>
        </p:nvSpPr>
        <p:spPr>
          <a:xfrm xmlns:a="http://schemas.openxmlformats.org/drawingml/2006/main">
            <a:off x="8267700" y="4552950"/>
            <a:ext cx="3924300" cy="2305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公开证据仍停在早期</a:t>
            </a:r>
          </a:p>
        </p:txBody>
      </p:sp>
      <p:sp>
        <p:nvSpPr>
          <p:cNvPr id="18" name="p1-band-body-2">
            <a:extLst xmlns:a="http://schemas.openxmlformats.org/drawingml/2006/main">
              <a:ext uri="{FF2B5EF4-FFF2-40B4-BE49-F238E27FC236}">
                <a16:creationId xmlns:a16="http://schemas.microsoft.com/office/drawing/2014/main" id="{2A97F57C-12FF-4BCB-B0E2-3133E68A045E}"/>
              </a:ext>
            </a:extLst>
          </p:cNvPr>
          <p:cNvSpPr>
            <a:spLocks xmlns:a="http://schemas.openxmlformats.org/drawingml/2006/main" noGrp="1"/>
          </p:cNvSpPr>
          <p:nvPr/>
        </p:nvSpPr>
        <p:spPr>
          <a:xfrm xmlns:a="http://schemas.openxmlformats.org/drawingml/2006/main">
            <a:off x="8267700" y="5010150"/>
            <a:ext cx="3924300" cy="1847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现有案例多为供应商原型、公司自报或伙伴测试，
尚未到客户第一方确认的生产采用。</a:t>
            </a:r>
          </a:p>
        </p:txBody>
      </p:sp>
      <p:sp>
        <p:nvSpPr>
          <p:cNvPr id="19" name="p1-footer-rule">
            <a:extLst xmlns:a="http://schemas.openxmlformats.org/drawingml/2006/main">
              <a:ext uri="{FF2B5EF4-FFF2-40B4-BE49-F238E27FC236}">
                <a16:creationId xmlns:a16="http://schemas.microsoft.com/office/drawing/2014/main" id="{835753B3-EC33-4558-938B-6B35CC687672}"/>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20" name="p1-footer-source">
            <a:extLst xmlns:a="http://schemas.openxmlformats.org/drawingml/2006/main">
              <a:ext uri="{FF2B5EF4-FFF2-40B4-BE49-F238E27FC236}">
                <a16:creationId xmlns:a16="http://schemas.microsoft.com/office/drawing/2014/main" id="{8889AC30-2981-403A-9EFD-E773EF6E607B}"/>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公开来源：官方产品、API、价格、条款、公司/伙伴自报及独立体验</a:t>
            </a:r>
          </a:p>
        </p:txBody>
      </p:sp>
      <p:sp>
        <p:nvSpPr>
          <p:cNvPr id="21" name="p1-footer-page">
            <a:extLst xmlns:a="http://schemas.openxmlformats.org/drawingml/2006/main">
              <a:ext uri="{FF2B5EF4-FFF2-40B4-BE49-F238E27FC236}">
                <a16:creationId xmlns:a16="http://schemas.microsoft.com/office/drawing/2014/main" id="{40663E84-D771-4BC1-A028-B659B3935961}"/>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01</a:t>
            </a:r>
          </a:p>
        </p:txBody>
      </p:sp>
    </p:spTree>
    <p:extLst>
      <p:ext uri="{BB962C8B-B14F-4D97-AF65-F5344CB8AC3E}">
        <p14:creationId xmlns:p14="http://schemas.microsoft.com/office/powerpoint/2010/main" val="995544846"/>
      </p:ext>
    </p:extLst>
  </p:cSld>
</p:sld>
</file>

<file path=ppt/slides/slide2.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2-eyebrow">
            <a:extLst xmlns:a="http://schemas.openxmlformats.org/drawingml/2006/main">
              <a:ext uri="{FF2B5EF4-FFF2-40B4-BE49-F238E27FC236}">
                <a16:creationId xmlns:a16="http://schemas.microsoft.com/office/drawing/2014/main" id="{F72921D0-A972-4EA5-9FBB-81C6F0D10340}"/>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STRATEGIC LANDSCAPE</a:t>
            </a:r>
          </a:p>
        </p:txBody>
      </p:sp>
      <p:sp>
        <p:nvSpPr>
          <p:cNvPr id="2" name="p2-title">
            <a:extLst xmlns:a="http://schemas.openxmlformats.org/drawingml/2006/main">
              <a:ext uri="{FF2B5EF4-FFF2-40B4-BE49-F238E27FC236}">
                <a16:creationId xmlns:a16="http://schemas.microsoft.com/office/drawing/2014/main" id="{BE9A520B-ACA0-4CC9-95E9-1C16F8BD416C}"/>
              </a:ext>
            </a:extLst>
          </p:cNvPr>
          <p:cNvSpPr>
            <a:spLocks xmlns:a="http://schemas.openxmlformats.org/drawingml/2006/main" noGrp="1"/>
          </p:cNvSpPr>
          <p:nvPr/>
        </p:nvSpPr>
        <p:spPr>
          <a:xfrm xmlns:a="http://schemas.openxmlformats.org/drawingml/2006/main">
            <a:off x="609600" y="476250"/>
            <a:ext cx="11582400" cy="6381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海外玩家分成三类世界形态，落点取决于任务与获得方式</a:t>
            </a:r>
          </a:p>
        </p:txBody>
      </p:sp>
      <p:sp>
        <p:nvSpPr>
          <p:cNvPr id="3" name="p2-subtitle">
            <a:extLst xmlns:a="http://schemas.openxmlformats.org/drawingml/2006/main">
              <a:ext uri="{FF2B5EF4-FFF2-40B4-BE49-F238E27FC236}">
                <a16:creationId xmlns:a16="http://schemas.microsoft.com/office/drawing/2014/main" id="{F78D0138-572C-4E55-B55A-9CABE101A7CA}"/>
              </a:ext>
            </a:extLst>
          </p:cNvPr>
          <p:cNvSpPr>
            <a:spLocks xmlns:a="http://schemas.openxmlformats.org/drawingml/2006/main" noGrp="1"/>
          </p:cNvSpPr>
          <p:nvPr/>
        </p:nvSpPr>
        <p:spPr>
          <a:xfrm xmlns:a="http://schemas.openxmlformats.org/drawingml/2006/main">
            <a:off x="609600" y="1143000"/>
            <a:ext cx="11582400" cy="5715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横向看世界形态，纵向看主要任务；每个节点直接标出访问方式。位置不代表能力高低。</a:t>
            </a:r>
          </a:p>
        </p:txBody>
      </p:sp>
      <p:sp>
        <p:nvSpPr>
          <p:cNvPr id="4" name="p2-col-bg-0">
            <a:extLst xmlns:a="http://schemas.openxmlformats.org/drawingml/2006/main">
              <a:ext uri="{FF2B5EF4-FFF2-40B4-BE49-F238E27FC236}">
                <a16:creationId xmlns:a16="http://schemas.microsoft.com/office/drawing/2014/main" id="{9EA17D25-E974-4EC6-958C-415FBB2C56DC}"/>
              </a:ext>
            </a:extLst>
          </p:cNvPr>
          <p:cNvSpPr>
            <a:spLocks xmlns:a="http://schemas.openxmlformats.org/drawingml/2006/main" noGrp="1"/>
          </p:cNvSpPr>
          <p:nvPr/>
        </p:nvSpPr>
        <p:spPr>
          <a:xfrm xmlns:a="http://schemas.openxmlformats.org/drawingml/2006/main">
            <a:off x="1714500" y="1714500"/>
            <a:ext cx="3143250" cy="3848100"/>
          </a:xfrm>
          <a:prstGeom xmlns:a="http://schemas.openxmlformats.org/drawingml/2006/main" prst="rect">
            <a:avLst/>
          </a:prstGeom>
          <a:solidFill xmlns:a="http://schemas.openxmlformats.org/drawingml/2006/main">
            <a:srgbClr val="F1DFD5"/>
          </a:solidFill>
        </p:spPr>
      </p:sp>
      <p:sp>
        <p:nvSpPr>
          <p:cNvPr id="5" name="p2-col-accent-0">
            <a:extLst xmlns:a="http://schemas.openxmlformats.org/drawingml/2006/main">
              <a:ext uri="{FF2B5EF4-FFF2-40B4-BE49-F238E27FC236}">
                <a16:creationId xmlns:a16="http://schemas.microsoft.com/office/drawing/2014/main" id="{B1B1E413-A948-4D40-8F87-E61E6297A398}"/>
              </a:ext>
            </a:extLst>
          </p:cNvPr>
          <p:cNvSpPr>
            <a:spLocks xmlns:a="http://schemas.openxmlformats.org/drawingml/2006/main" noGrp="1"/>
          </p:cNvSpPr>
          <p:nvPr/>
        </p:nvSpPr>
        <p:spPr>
          <a:xfrm xmlns:a="http://schemas.openxmlformats.org/drawingml/2006/main">
            <a:off x="1714500" y="1714500"/>
            <a:ext cx="3143250" cy="47625"/>
          </a:xfrm>
          <a:prstGeom xmlns:a="http://schemas.openxmlformats.org/drawingml/2006/main" prst="rect">
            <a:avLst/>
          </a:prstGeom>
          <a:solidFill xmlns:a="http://schemas.openxmlformats.org/drawingml/2006/main">
            <a:srgbClr val="C56B4D"/>
          </a:solidFill>
        </p:spPr>
      </p:sp>
      <p:sp>
        <p:nvSpPr>
          <p:cNvPr id="6" name="p2-col-head-0">
            <a:extLst xmlns:a="http://schemas.openxmlformats.org/drawingml/2006/main">
              <a:ext uri="{FF2B5EF4-FFF2-40B4-BE49-F238E27FC236}">
                <a16:creationId xmlns:a16="http://schemas.microsoft.com/office/drawing/2014/main" id="{D29CBDEF-C9C2-4111-A0DA-649293E40AB5}"/>
              </a:ext>
            </a:extLst>
          </p:cNvPr>
          <p:cNvSpPr>
            <a:spLocks xmlns:a="http://schemas.openxmlformats.org/drawingml/2006/main" noGrp="1"/>
          </p:cNvSpPr>
          <p:nvPr/>
        </p:nvSpPr>
        <p:spPr>
          <a:xfrm xmlns:a="http://schemas.openxmlformats.org/drawingml/2006/main">
            <a:off x="1885950" y="1847850"/>
            <a:ext cx="10306050" cy="5010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持久空间世界</a:t>
            </a:r>
          </a:p>
        </p:txBody>
      </p:sp>
      <p:sp>
        <p:nvSpPr>
          <p:cNvPr id="7" name="p2-col-bg-1">
            <a:extLst xmlns:a="http://schemas.openxmlformats.org/drawingml/2006/main">
              <a:ext uri="{FF2B5EF4-FFF2-40B4-BE49-F238E27FC236}">
                <a16:creationId xmlns:a16="http://schemas.microsoft.com/office/drawing/2014/main" id="{9A176DC4-8E14-462E-B979-A6DFF691D565}"/>
              </a:ext>
            </a:extLst>
          </p:cNvPr>
          <p:cNvSpPr>
            <a:spLocks xmlns:a="http://schemas.openxmlformats.org/drawingml/2006/main" noGrp="1"/>
          </p:cNvSpPr>
          <p:nvPr/>
        </p:nvSpPr>
        <p:spPr>
          <a:xfrm xmlns:a="http://schemas.openxmlformats.org/drawingml/2006/main">
            <a:off x="5010150" y="1714500"/>
            <a:ext cx="3143250" cy="3848100"/>
          </a:xfrm>
          <a:prstGeom xmlns:a="http://schemas.openxmlformats.org/drawingml/2006/main" prst="rect">
            <a:avLst/>
          </a:prstGeom>
          <a:solidFill xmlns:a="http://schemas.openxmlformats.org/drawingml/2006/main">
            <a:srgbClr val="E5EBE5"/>
          </a:solidFill>
        </p:spPr>
      </p:sp>
      <p:sp>
        <p:nvSpPr>
          <p:cNvPr id="8" name="p2-col-accent-1">
            <a:extLst xmlns:a="http://schemas.openxmlformats.org/drawingml/2006/main">
              <a:ext uri="{FF2B5EF4-FFF2-40B4-BE49-F238E27FC236}">
                <a16:creationId xmlns:a16="http://schemas.microsoft.com/office/drawing/2014/main" id="{91407F27-4981-407B-BD31-0CC3CD19A374}"/>
              </a:ext>
            </a:extLst>
          </p:cNvPr>
          <p:cNvSpPr>
            <a:spLocks xmlns:a="http://schemas.openxmlformats.org/drawingml/2006/main" noGrp="1"/>
          </p:cNvSpPr>
          <p:nvPr/>
        </p:nvSpPr>
        <p:spPr>
          <a:xfrm xmlns:a="http://schemas.openxmlformats.org/drawingml/2006/main">
            <a:off x="5010150" y="1714500"/>
            <a:ext cx="3143250" cy="47625"/>
          </a:xfrm>
          <a:prstGeom xmlns:a="http://schemas.openxmlformats.org/drawingml/2006/main" prst="rect">
            <a:avLst/>
          </a:prstGeom>
          <a:solidFill xmlns:a="http://schemas.openxmlformats.org/drawingml/2006/main">
            <a:srgbClr val="75867A"/>
          </a:solidFill>
        </p:spPr>
      </p:sp>
      <p:sp>
        <p:nvSpPr>
          <p:cNvPr id="9" name="p2-col-head-1">
            <a:extLst xmlns:a="http://schemas.openxmlformats.org/drawingml/2006/main">
              <a:ext uri="{FF2B5EF4-FFF2-40B4-BE49-F238E27FC236}">
                <a16:creationId xmlns:a16="http://schemas.microsoft.com/office/drawing/2014/main" id="{2748A693-F1FB-4CB7-BB32-91D0AC40EEB4}"/>
              </a:ext>
            </a:extLst>
          </p:cNvPr>
          <p:cNvSpPr>
            <a:spLocks xmlns:a="http://schemas.openxmlformats.org/drawingml/2006/main" noGrp="1"/>
          </p:cNvSpPr>
          <p:nvPr/>
        </p:nvSpPr>
        <p:spPr>
          <a:xfrm xmlns:a="http://schemas.openxmlformats.org/drawingml/2006/main">
            <a:off x="5181600" y="1847850"/>
            <a:ext cx="7010400" cy="5010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实时交互世界流</a:t>
            </a:r>
          </a:p>
        </p:txBody>
      </p:sp>
      <p:sp>
        <p:nvSpPr>
          <p:cNvPr id="10" name="p2-col-bg-2">
            <a:extLst xmlns:a="http://schemas.openxmlformats.org/drawingml/2006/main">
              <a:ext uri="{FF2B5EF4-FFF2-40B4-BE49-F238E27FC236}">
                <a16:creationId xmlns:a16="http://schemas.microsoft.com/office/drawing/2014/main" id="{DD99AE57-C8CF-4D3A-BA82-0FE22BA0E15F}"/>
              </a:ext>
            </a:extLst>
          </p:cNvPr>
          <p:cNvSpPr>
            <a:spLocks xmlns:a="http://schemas.openxmlformats.org/drawingml/2006/main" noGrp="1"/>
          </p:cNvSpPr>
          <p:nvPr/>
        </p:nvSpPr>
        <p:spPr>
          <a:xfrm xmlns:a="http://schemas.openxmlformats.org/drawingml/2006/main">
            <a:off x="8305800" y="1714500"/>
            <a:ext cx="3276600" cy="3848100"/>
          </a:xfrm>
          <a:prstGeom xmlns:a="http://schemas.openxmlformats.org/drawingml/2006/main" prst="rect">
            <a:avLst/>
          </a:prstGeom>
          <a:solidFill xmlns:a="http://schemas.openxmlformats.org/drawingml/2006/main">
            <a:srgbClr val="E9E5ED"/>
          </a:solidFill>
        </p:spPr>
      </p:sp>
      <p:sp>
        <p:nvSpPr>
          <p:cNvPr id="11" name="p2-col-accent-2">
            <a:extLst xmlns:a="http://schemas.openxmlformats.org/drawingml/2006/main">
              <a:ext uri="{FF2B5EF4-FFF2-40B4-BE49-F238E27FC236}">
                <a16:creationId xmlns:a16="http://schemas.microsoft.com/office/drawing/2014/main" id="{0E72F610-BF4A-4E6B-943E-8D026C40A199}"/>
              </a:ext>
            </a:extLst>
          </p:cNvPr>
          <p:cNvSpPr>
            <a:spLocks xmlns:a="http://schemas.openxmlformats.org/drawingml/2006/main" noGrp="1"/>
          </p:cNvSpPr>
          <p:nvPr/>
        </p:nvSpPr>
        <p:spPr>
          <a:xfrm xmlns:a="http://schemas.openxmlformats.org/drawingml/2006/main">
            <a:off x="8305800" y="1714500"/>
            <a:ext cx="3276600" cy="47625"/>
          </a:xfrm>
          <a:prstGeom xmlns:a="http://schemas.openxmlformats.org/drawingml/2006/main" prst="rect">
            <a:avLst/>
          </a:prstGeom>
          <a:solidFill xmlns:a="http://schemas.openxmlformats.org/drawingml/2006/main">
            <a:srgbClr val="766F82"/>
          </a:solidFill>
        </p:spPr>
      </p:sp>
      <p:sp>
        <p:nvSpPr>
          <p:cNvPr id="12" name="p2-col-head-2">
            <a:extLst xmlns:a="http://schemas.openxmlformats.org/drawingml/2006/main">
              <a:ext uri="{FF2B5EF4-FFF2-40B4-BE49-F238E27FC236}">
                <a16:creationId xmlns:a16="http://schemas.microsoft.com/office/drawing/2014/main" id="{C57FA720-98FD-4899-88F3-0659CAF0B623}"/>
              </a:ext>
            </a:extLst>
          </p:cNvPr>
          <p:cNvSpPr>
            <a:spLocks xmlns:a="http://schemas.openxmlformats.org/drawingml/2006/main" noGrp="1"/>
          </p:cNvSpPr>
          <p:nvPr/>
        </p:nvSpPr>
        <p:spPr>
          <a:xfrm xmlns:a="http://schemas.openxmlformats.org/drawingml/2006/main">
            <a:off x="8477250" y="1847850"/>
            <a:ext cx="3714750" cy="5010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动作条件物理智能组件</a:t>
            </a:r>
          </a:p>
        </p:txBody>
      </p:sp>
      <p:sp>
        <p:nvSpPr>
          <p:cNvPr id="13" name="p2-row-rule-1">
            <a:extLst xmlns:a="http://schemas.openxmlformats.org/drawingml/2006/main">
              <a:ext uri="{FF2B5EF4-FFF2-40B4-BE49-F238E27FC236}">
                <a16:creationId xmlns:a16="http://schemas.microsoft.com/office/drawing/2014/main" id="{4211B677-1372-4E8F-9273-2CAE1A2F6806}"/>
              </a:ext>
            </a:extLst>
          </p:cNvPr>
          <p:cNvSpPr>
            <a:spLocks xmlns:a="http://schemas.openxmlformats.org/drawingml/2006/main" noGrp="1"/>
          </p:cNvSpPr>
          <p:nvPr/>
        </p:nvSpPr>
        <p:spPr>
          <a:xfrm xmlns:a="http://schemas.openxmlformats.org/drawingml/2006/main">
            <a:off x="1714500" y="3429000"/>
            <a:ext cx="9867900" cy="9525"/>
          </a:xfrm>
          <a:prstGeom xmlns:a="http://schemas.openxmlformats.org/drawingml/2006/main" prst="rect">
            <a:avLst/>
          </a:prstGeom>
          <a:solidFill xmlns:a="http://schemas.openxmlformats.org/drawingml/2006/main">
            <a:srgbClr val="BDB4AA"/>
          </a:solidFill>
        </p:spPr>
      </p:sp>
      <p:sp>
        <p:nvSpPr>
          <p:cNvPr id="14" name="p2-row-rule-2">
            <a:extLst xmlns:a="http://schemas.openxmlformats.org/drawingml/2006/main">
              <a:ext uri="{FF2B5EF4-FFF2-40B4-BE49-F238E27FC236}">
                <a16:creationId xmlns:a16="http://schemas.microsoft.com/office/drawing/2014/main" id="{FCDFC7FF-3694-47EB-ACEE-51F697C2D024}"/>
              </a:ext>
            </a:extLst>
          </p:cNvPr>
          <p:cNvSpPr>
            <a:spLocks xmlns:a="http://schemas.openxmlformats.org/drawingml/2006/main" noGrp="1"/>
          </p:cNvSpPr>
          <p:nvPr/>
        </p:nvSpPr>
        <p:spPr>
          <a:xfrm xmlns:a="http://schemas.openxmlformats.org/drawingml/2006/main">
            <a:off x="1714500" y="4762500"/>
            <a:ext cx="9867900" cy="9525"/>
          </a:xfrm>
          <a:prstGeom xmlns:a="http://schemas.openxmlformats.org/drawingml/2006/main" prst="rect">
            <a:avLst/>
          </a:prstGeom>
          <a:solidFill xmlns:a="http://schemas.openxmlformats.org/drawingml/2006/main">
            <a:srgbClr val="BDB4AA"/>
          </a:solidFill>
        </p:spPr>
      </p:sp>
      <p:sp>
        <p:nvSpPr>
          <p:cNvPr id="15" name="p2-row-num-01">
            <a:extLst xmlns:a="http://schemas.openxmlformats.org/drawingml/2006/main">
              <a:ext uri="{FF2B5EF4-FFF2-40B4-BE49-F238E27FC236}">
                <a16:creationId xmlns:a16="http://schemas.microsoft.com/office/drawing/2014/main" id="{250D3133-EECA-4613-A478-33CBB07F5CB3}"/>
              </a:ext>
            </a:extLst>
          </p:cNvPr>
          <p:cNvSpPr>
            <a:spLocks xmlns:a="http://schemas.openxmlformats.org/drawingml/2006/main" noGrp="1"/>
          </p:cNvSpPr>
          <p:nvPr/>
        </p:nvSpPr>
        <p:spPr>
          <a:xfrm xmlns:a="http://schemas.openxmlformats.org/drawingml/2006/main">
            <a:off x="609600" y="2209800"/>
            <a:ext cx="11582400" cy="4648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01</a:t>
            </a:r>
          </a:p>
        </p:txBody>
      </p:sp>
      <p:sp>
        <p:nvSpPr>
          <p:cNvPr id="16" name="p2-row-head-01">
            <a:extLst xmlns:a="http://schemas.openxmlformats.org/drawingml/2006/main">
              <a:ext uri="{FF2B5EF4-FFF2-40B4-BE49-F238E27FC236}">
                <a16:creationId xmlns:a16="http://schemas.microsoft.com/office/drawing/2014/main" id="{F84231C4-BBB4-41F2-8C85-62F459D0B89D}"/>
              </a:ext>
            </a:extLst>
          </p:cNvPr>
          <p:cNvSpPr>
            <a:spLocks xmlns:a="http://schemas.openxmlformats.org/drawingml/2006/main" noGrp="1"/>
          </p:cNvSpPr>
          <p:nvPr/>
        </p:nvSpPr>
        <p:spPr>
          <a:xfrm xmlns:a="http://schemas.openxmlformats.org/drawingml/2006/main">
            <a:off x="990600" y="2190750"/>
            <a:ext cx="11201400" cy="466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内容与探索</a:t>
            </a:r>
          </a:p>
        </p:txBody>
      </p:sp>
      <p:sp>
        <p:nvSpPr>
          <p:cNvPr id="17" name="p2-row-num-02">
            <a:extLst xmlns:a="http://schemas.openxmlformats.org/drawingml/2006/main">
              <a:ext uri="{FF2B5EF4-FFF2-40B4-BE49-F238E27FC236}">
                <a16:creationId xmlns:a16="http://schemas.microsoft.com/office/drawing/2014/main" id="{E88ACC81-5C2F-4D84-8B92-BAB6DA48BA95}"/>
              </a:ext>
            </a:extLst>
          </p:cNvPr>
          <p:cNvSpPr>
            <a:spLocks xmlns:a="http://schemas.openxmlformats.org/drawingml/2006/main" noGrp="1"/>
          </p:cNvSpPr>
          <p:nvPr/>
        </p:nvSpPr>
        <p:spPr>
          <a:xfrm xmlns:a="http://schemas.openxmlformats.org/drawingml/2006/main">
            <a:off x="609600" y="3733800"/>
            <a:ext cx="11582400" cy="3124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02</a:t>
            </a:r>
          </a:p>
        </p:txBody>
      </p:sp>
      <p:sp>
        <p:nvSpPr>
          <p:cNvPr id="18" name="p2-row-head-02">
            <a:extLst xmlns:a="http://schemas.openxmlformats.org/drawingml/2006/main">
              <a:ext uri="{FF2B5EF4-FFF2-40B4-BE49-F238E27FC236}">
                <a16:creationId xmlns:a16="http://schemas.microsoft.com/office/drawing/2014/main" id="{66423173-1DDB-4453-9511-D666B1D9A681}"/>
              </a:ext>
            </a:extLst>
          </p:cNvPr>
          <p:cNvSpPr>
            <a:spLocks xmlns:a="http://schemas.openxmlformats.org/drawingml/2006/main" noGrp="1"/>
          </p:cNvSpPr>
          <p:nvPr/>
        </p:nvSpPr>
        <p:spPr>
          <a:xfrm xmlns:a="http://schemas.openxmlformats.org/drawingml/2006/main">
            <a:off x="990600" y="3714750"/>
            <a:ext cx="11201400" cy="3143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开发者世界 /
仿真基础设施</a:t>
            </a:r>
          </a:p>
        </p:txBody>
      </p:sp>
      <p:sp>
        <p:nvSpPr>
          <p:cNvPr id="19" name="p2-row-num-03">
            <a:extLst xmlns:a="http://schemas.openxmlformats.org/drawingml/2006/main">
              <a:ext uri="{FF2B5EF4-FFF2-40B4-BE49-F238E27FC236}">
                <a16:creationId xmlns:a16="http://schemas.microsoft.com/office/drawing/2014/main" id="{9306B5BC-7EC0-4C58-BCD8-CDB51E7EE4EB}"/>
              </a:ext>
            </a:extLst>
          </p:cNvPr>
          <p:cNvSpPr>
            <a:spLocks xmlns:a="http://schemas.openxmlformats.org/drawingml/2006/main" noGrp="1"/>
          </p:cNvSpPr>
          <p:nvPr/>
        </p:nvSpPr>
        <p:spPr>
          <a:xfrm xmlns:a="http://schemas.openxmlformats.org/drawingml/2006/main">
            <a:off x="609600" y="5029200"/>
            <a:ext cx="11582400" cy="1828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03</a:t>
            </a:r>
          </a:p>
        </p:txBody>
      </p:sp>
      <p:sp>
        <p:nvSpPr>
          <p:cNvPr id="20" name="p2-row-head-03">
            <a:extLst xmlns:a="http://schemas.openxmlformats.org/drawingml/2006/main">
              <a:ext uri="{FF2B5EF4-FFF2-40B4-BE49-F238E27FC236}">
                <a16:creationId xmlns:a16="http://schemas.microsoft.com/office/drawing/2014/main" id="{BE982A85-ECEF-441F-82EF-DEDC9568866A}"/>
              </a:ext>
            </a:extLst>
          </p:cNvPr>
          <p:cNvSpPr>
            <a:spLocks xmlns:a="http://schemas.openxmlformats.org/drawingml/2006/main" noGrp="1"/>
          </p:cNvSpPr>
          <p:nvPr/>
        </p:nvSpPr>
        <p:spPr>
          <a:xfrm xmlns:a="http://schemas.openxmlformats.org/drawingml/2006/main">
            <a:off x="990600" y="5010150"/>
            <a:ext cx="11201400" cy="1847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机器人规划控制</a:t>
            </a:r>
          </a:p>
        </p:txBody>
      </p:sp>
      <p:sp>
        <p:nvSpPr>
          <p:cNvPr id="21" name="p2-world-labs-mark">
            <a:extLst xmlns:a="http://schemas.openxmlformats.org/drawingml/2006/main">
              <a:ext uri="{FF2B5EF4-FFF2-40B4-BE49-F238E27FC236}">
                <a16:creationId xmlns:a16="http://schemas.microsoft.com/office/drawing/2014/main" id="{CA3CCDED-E772-4B14-92FC-6266B173DB54}"/>
              </a:ext>
            </a:extLst>
          </p:cNvPr>
          <p:cNvSpPr>
            <a:spLocks xmlns:a="http://schemas.openxmlformats.org/drawingml/2006/main" noGrp="1"/>
          </p:cNvSpPr>
          <p:nvPr/>
        </p:nvSpPr>
        <p:spPr>
          <a:xfrm xmlns:a="http://schemas.openxmlformats.org/drawingml/2006/main">
            <a:off x="1885950" y="2409825"/>
            <a:ext cx="152400" cy="28575"/>
          </a:xfrm>
          <a:prstGeom xmlns:a="http://schemas.openxmlformats.org/drawingml/2006/main" prst="rect">
            <a:avLst/>
          </a:prstGeom>
          <a:solidFill xmlns:a="http://schemas.openxmlformats.org/drawingml/2006/main">
            <a:srgbClr val="C56B4D"/>
          </a:solidFill>
        </p:spPr>
      </p:sp>
      <p:sp>
        <p:nvSpPr>
          <p:cNvPr id="22" name="p2-world-labs-name">
            <a:extLst xmlns:a="http://schemas.openxmlformats.org/drawingml/2006/main">
              <a:ext uri="{FF2B5EF4-FFF2-40B4-BE49-F238E27FC236}">
                <a16:creationId xmlns:a16="http://schemas.microsoft.com/office/drawing/2014/main" id="{F9E0F4F8-036B-473A-97AE-4A53CEF3CEC6}"/>
              </a:ext>
            </a:extLst>
          </p:cNvPr>
          <p:cNvSpPr>
            <a:spLocks xmlns:a="http://schemas.openxmlformats.org/drawingml/2006/main" noGrp="1"/>
          </p:cNvSpPr>
          <p:nvPr/>
        </p:nvSpPr>
        <p:spPr>
          <a:xfrm xmlns:a="http://schemas.openxmlformats.org/drawingml/2006/main">
            <a:off x="2114550" y="2324100"/>
            <a:ext cx="10077450" cy="4533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World Labs</a:t>
            </a:r>
          </a:p>
        </p:txBody>
      </p:sp>
      <p:sp>
        <p:nvSpPr>
          <p:cNvPr id="23" name="p2-world-labs-access">
            <a:extLst xmlns:a="http://schemas.openxmlformats.org/drawingml/2006/main">
              <a:ext uri="{FF2B5EF4-FFF2-40B4-BE49-F238E27FC236}">
                <a16:creationId xmlns:a16="http://schemas.microsoft.com/office/drawing/2014/main" id="{4D26F2FF-6620-4911-839E-451C94F2AF08}"/>
              </a:ext>
            </a:extLst>
          </p:cNvPr>
          <p:cNvSpPr>
            <a:spLocks xmlns:a="http://schemas.openxmlformats.org/drawingml/2006/main" noGrp="1"/>
          </p:cNvSpPr>
          <p:nvPr/>
        </p:nvSpPr>
        <p:spPr>
          <a:xfrm xmlns:a="http://schemas.openxmlformats.org/drawingml/2006/main">
            <a:off x="2114550" y="2600325"/>
            <a:ext cx="10077450" cy="42576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C56B4D"/>
                </a:solidFill>
                <a:latin typeface="Noto Sans SC"/>
                <a:ea typeface="Noto Sans SC"/>
                <a:cs typeface="Noto Sans SC"/>
              </a:defRPr>
            </a:pPr>
            <a:r>
              <a:t>公开计价接口</a:t>
            </a:r>
          </a:p>
        </p:txBody>
      </p:sp>
      <p:sp>
        <p:nvSpPr>
          <p:cNvPr id="24" name="p2-runway-mark">
            <a:extLst xmlns:a="http://schemas.openxmlformats.org/drawingml/2006/main">
              <a:ext uri="{FF2B5EF4-FFF2-40B4-BE49-F238E27FC236}">
                <a16:creationId xmlns:a16="http://schemas.microsoft.com/office/drawing/2014/main" id="{212CD265-DBED-42A1-BEE2-A5371B842BF3}"/>
              </a:ext>
            </a:extLst>
          </p:cNvPr>
          <p:cNvSpPr>
            <a:spLocks xmlns:a="http://schemas.openxmlformats.org/drawingml/2006/main" noGrp="1"/>
          </p:cNvSpPr>
          <p:nvPr/>
        </p:nvSpPr>
        <p:spPr>
          <a:xfrm xmlns:a="http://schemas.openxmlformats.org/drawingml/2006/main">
            <a:off x="5181600" y="2276475"/>
            <a:ext cx="152400" cy="28575"/>
          </a:xfrm>
          <a:prstGeom xmlns:a="http://schemas.openxmlformats.org/drawingml/2006/main" prst="rect">
            <a:avLst/>
          </a:prstGeom>
          <a:solidFill xmlns:a="http://schemas.openxmlformats.org/drawingml/2006/main">
            <a:srgbClr val="75867A"/>
          </a:solidFill>
        </p:spPr>
      </p:sp>
      <p:sp>
        <p:nvSpPr>
          <p:cNvPr id="25" name="p2-runway-name">
            <a:extLst xmlns:a="http://schemas.openxmlformats.org/drawingml/2006/main">
              <a:ext uri="{FF2B5EF4-FFF2-40B4-BE49-F238E27FC236}">
                <a16:creationId xmlns:a16="http://schemas.microsoft.com/office/drawing/2014/main" id="{4DC8CF82-708B-4805-A9B0-AFE9FA11580D}"/>
              </a:ext>
            </a:extLst>
          </p:cNvPr>
          <p:cNvSpPr>
            <a:spLocks xmlns:a="http://schemas.openxmlformats.org/drawingml/2006/main" noGrp="1"/>
          </p:cNvSpPr>
          <p:nvPr/>
        </p:nvSpPr>
        <p:spPr>
          <a:xfrm xmlns:a="http://schemas.openxmlformats.org/drawingml/2006/main">
            <a:off x="5410200" y="2190750"/>
            <a:ext cx="6781800" cy="466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Runway</a:t>
            </a:r>
          </a:p>
        </p:txBody>
      </p:sp>
      <p:sp>
        <p:nvSpPr>
          <p:cNvPr id="26" name="p2-runway-access">
            <a:extLst xmlns:a="http://schemas.openxmlformats.org/drawingml/2006/main">
              <a:ext uri="{FF2B5EF4-FFF2-40B4-BE49-F238E27FC236}">
                <a16:creationId xmlns:a16="http://schemas.microsoft.com/office/drawing/2014/main" id="{A1927C43-E1EC-49FB-991D-1531AB1761EE}"/>
              </a:ext>
            </a:extLst>
          </p:cNvPr>
          <p:cNvSpPr>
            <a:spLocks xmlns:a="http://schemas.openxmlformats.org/drawingml/2006/main" noGrp="1"/>
          </p:cNvSpPr>
          <p:nvPr/>
        </p:nvSpPr>
        <p:spPr>
          <a:xfrm xmlns:a="http://schemas.openxmlformats.org/drawingml/2006/main">
            <a:off x="5410200" y="2457450"/>
            <a:ext cx="6781800" cy="440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75867A"/>
                </a:solidFill>
                <a:latin typeface="Noto Sans SC"/>
                <a:ea typeface="Noto Sans SC"/>
                <a:cs typeface="Noto Sans SC"/>
              </a:defRPr>
            </a:pPr>
            <a:r>
              <a:t>申请制 early access</a:t>
            </a:r>
          </a:p>
        </p:txBody>
      </p:sp>
      <p:sp>
        <p:nvSpPr>
          <p:cNvPr id="27" name="p2-runway-secondary">
            <a:extLst xmlns:a="http://schemas.openxmlformats.org/drawingml/2006/main">
              <a:ext uri="{FF2B5EF4-FFF2-40B4-BE49-F238E27FC236}">
                <a16:creationId xmlns:a16="http://schemas.microsoft.com/office/drawing/2014/main" id="{325D35A2-F561-4024-9EC3-FED0B3226B36}"/>
              </a:ext>
            </a:extLst>
          </p:cNvPr>
          <p:cNvSpPr>
            <a:spLocks xmlns:a="http://schemas.openxmlformats.org/drawingml/2006/main" noGrp="1"/>
          </p:cNvSpPr>
          <p:nvPr/>
        </p:nvSpPr>
        <p:spPr>
          <a:xfrm xmlns:a="http://schemas.openxmlformats.org/drawingml/2006/main">
            <a:off x="5410200" y="2705100"/>
            <a:ext cx="6781800" cy="415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Robotics 次级 · 规划控制</a:t>
            </a:r>
          </a:p>
        </p:txBody>
      </p:sp>
      <p:sp>
        <p:nvSpPr>
          <p:cNvPr id="28" name="p2-genie-circle">
            <a:extLst xmlns:a="http://schemas.openxmlformats.org/drawingml/2006/main">
              <a:ext uri="{FF2B5EF4-FFF2-40B4-BE49-F238E27FC236}">
                <a16:creationId xmlns:a16="http://schemas.microsoft.com/office/drawing/2014/main" id="{9899B853-7791-4ADE-8060-FA9FBB6314F6}"/>
              </a:ext>
            </a:extLst>
          </p:cNvPr>
          <p:cNvSpPr>
            <a:spLocks xmlns:a="http://schemas.openxmlformats.org/drawingml/2006/main" noGrp="1"/>
          </p:cNvSpPr>
          <p:nvPr/>
        </p:nvSpPr>
        <p:spPr>
          <a:xfrm xmlns:a="http://schemas.openxmlformats.org/drawingml/2006/main">
            <a:off x="5181600" y="2914650"/>
            <a:ext cx="7010400" cy="3943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a:t>
            </a:r>
          </a:p>
        </p:txBody>
      </p:sp>
      <p:sp>
        <p:nvSpPr>
          <p:cNvPr id="29" name="p2-genie-text">
            <a:extLst xmlns:a="http://schemas.openxmlformats.org/drawingml/2006/main">
              <a:ext uri="{FF2B5EF4-FFF2-40B4-BE49-F238E27FC236}">
                <a16:creationId xmlns:a16="http://schemas.microsoft.com/office/drawing/2014/main" id="{AAC9E451-C6CE-4CB6-A027-04CBE70B6F7E}"/>
              </a:ext>
            </a:extLst>
          </p:cNvPr>
          <p:cNvSpPr>
            <a:spLocks xmlns:a="http://schemas.openxmlformats.org/drawingml/2006/main" noGrp="1"/>
          </p:cNvSpPr>
          <p:nvPr/>
        </p:nvSpPr>
        <p:spPr>
          <a:xfrm xmlns:a="http://schemas.openxmlformats.org/drawingml/2006/main">
            <a:off x="5410200" y="2914650"/>
            <a:ext cx="6781800" cy="3943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Genie 3  ·  封闭 / 原型</a:t>
            </a:r>
          </a:p>
        </p:txBody>
      </p:sp>
      <p:sp>
        <p:nvSpPr>
          <p:cNvPr id="30" name="p2-overworld-circle">
            <a:extLst xmlns:a="http://schemas.openxmlformats.org/drawingml/2006/main">
              <a:ext uri="{FF2B5EF4-FFF2-40B4-BE49-F238E27FC236}">
                <a16:creationId xmlns:a16="http://schemas.microsoft.com/office/drawing/2014/main" id="{93CD4382-7D82-43DD-A40C-F801A6DAC908}"/>
              </a:ext>
            </a:extLst>
          </p:cNvPr>
          <p:cNvSpPr>
            <a:spLocks xmlns:a="http://schemas.openxmlformats.org/drawingml/2006/main" noGrp="1"/>
          </p:cNvSpPr>
          <p:nvPr/>
        </p:nvSpPr>
        <p:spPr>
          <a:xfrm xmlns:a="http://schemas.openxmlformats.org/drawingml/2006/main">
            <a:off x="5181600" y="3143250"/>
            <a:ext cx="70104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a:t>
            </a:r>
          </a:p>
        </p:txBody>
      </p:sp>
      <p:sp>
        <p:nvSpPr>
          <p:cNvPr id="31" name="p2-overworld-text">
            <a:extLst xmlns:a="http://schemas.openxmlformats.org/drawingml/2006/main">
              <a:ext uri="{FF2B5EF4-FFF2-40B4-BE49-F238E27FC236}">
                <a16:creationId xmlns:a16="http://schemas.microsoft.com/office/drawing/2014/main" id="{989153D1-035A-4584-84B5-AE247F03B3A8}"/>
              </a:ext>
            </a:extLst>
          </p:cNvPr>
          <p:cNvSpPr>
            <a:spLocks xmlns:a="http://schemas.openxmlformats.org/drawingml/2006/main" noGrp="1"/>
          </p:cNvSpPr>
          <p:nvPr/>
        </p:nvSpPr>
        <p:spPr>
          <a:xfrm xmlns:a="http://schemas.openxmlformats.org/drawingml/2006/main">
            <a:off x="5410200" y="3143250"/>
            <a:ext cx="67818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Overworld  ·  开放权重 · 地域条件</a:t>
            </a:r>
          </a:p>
        </p:txBody>
      </p:sp>
      <p:sp>
        <p:nvSpPr>
          <p:cNvPr id="32" name="p2-empty-left-row2">
            <a:extLst xmlns:a="http://schemas.openxmlformats.org/drawingml/2006/main">
              <a:ext uri="{FF2B5EF4-FFF2-40B4-BE49-F238E27FC236}">
                <a16:creationId xmlns:a16="http://schemas.microsoft.com/office/drawing/2014/main" id="{4EFA4392-D009-4167-9E0C-F84CA5FF6B27}"/>
              </a:ext>
            </a:extLst>
          </p:cNvPr>
          <p:cNvSpPr>
            <a:spLocks xmlns:a="http://schemas.openxmlformats.org/drawingml/2006/main" noGrp="1"/>
          </p:cNvSpPr>
          <p:nvPr/>
        </p:nvSpPr>
        <p:spPr>
          <a:xfrm xmlns:a="http://schemas.openxmlformats.org/drawingml/2006/main">
            <a:off x="1885950" y="3790950"/>
            <a:ext cx="10306050" cy="3067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i="0">
                <a:solidFill>
                  <a:srgbClr val="BDB4AA"/>
                </a:solidFill>
                <a:latin typeface="Noto Sans SC"/>
                <a:ea typeface="Noto Sans SC"/>
                <a:cs typeface="Noto Sans SC"/>
              </a:defRPr>
            </a:pPr>
            <a:r>
              <a:t>—  本轮无节点</a:t>
            </a:r>
          </a:p>
        </p:txBody>
      </p:sp>
      <p:sp>
        <p:nvSpPr>
          <p:cNvPr id="33" name="p2-empty-left-row3">
            <a:extLst xmlns:a="http://schemas.openxmlformats.org/drawingml/2006/main">
              <a:ext uri="{FF2B5EF4-FFF2-40B4-BE49-F238E27FC236}">
                <a16:creationId xmlns:a16="http://schemas.microsoft.com/office/drawing/2014/main" id="{66EFD72B-82BC-4C5E-ADC5-10A5CC26C090}"/>
              </a:ext>
            </a:extLst>
          </p:cNvPr>
          <p:cNvSpPr>
            <a:spLocks xmlns:a="http://schemas.openxmlformats.org/drawingml/2006/main" noGrp="1"/>
          </p:cNvSpPr>
          <p:nvPr/>
        </p:nvSpPr>
        <p:spPr>
          <a:xfrm xmlns:a="http://schemas.openxmlformats.org/drawingml/2006/main">
            <a:off x="1885950" y="5048250"/>
            <a:ext cx="10306050" cy="1809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ctr">
              <a:defRPr sz="1600" b="0" i="0">
                <a:solidFill>
                  <a:srgbClr val="BDB4AA"/>
                </a:solidFill>
                <a:latin typeface="Noto Sans SC"/>
                <a:ea typeface="Noto Sans SC"/>
                <a:cs typeface="Noto Sans SC"/>
              </a:defRPr>
            </a:pPr>
            <a:r>
              <a:t>—  本轮无节点</a:t>
            </a:r>
          </a:p>
        </p:txBody>
      </p:sp>
      <p:sp>
        <p:nvSpPr>
          <p:cNvPr id="34" name="p2-empty-right-row1">
            <a:extLst xmlns:a="http://schemas.openxmlformats.org/drawingml/2006/main">
              <a:ext uri="{FF2B5EF4-FFF2-40B4-BE49-F238E27FC236}">
                <a16:creationId xmlns:a16="http://schemas.microsoft.com/office/drawing/2014/main" id="{86D0AF09-D8F0-457D-A38F-C828A13465A7}"/>
              </a:ext>
            </a:extLst>
          </p:cNvPr>
          <p:cNvSpPr>
            <a:spLocks xmlns:a="http://schemas.openxmlformats.org/drawingml/2006/main" noGrp="1"/>
          </p:cNvSpPr>
          <p:nvPr/>
        </p:nvSpPr>
        <p:spPr>
          <a:xfrm xmlns:a="http://schemas.openxmlformats.org/drawingml/2006/main">
            <a:off x="8477250" y="2381250"/>
            <a:ext cx="3714750" cy="4476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BDB4AA"/>
                </a:solidFill>
                <a:latin typeface="Noto Sans SC"/>
                <a:ea typeface="Noto Sans SC"/>
                <a:cs typeface="Noto Sans SC"/>
              </a:defRPr>
            </a:pPr>
            <a:r>
              <a:t>—  本轮无节点</a:t>
            </a:r>
          </a:p>
        </p:txBody>
      </p:sp>
      <p:sp>
        <p:nvSpPr>
          <p:cNvPr id="35" name="p2-odyssey-mark">
            <a:extLst xmlns:a="http://schemas.openxmlformats.org/drawingml/2006/main">
              <a:ext uri="{FF2B5EF4-FFF2-40B4-BE49-F238E27FC236}">
                <a16:creationId xmlns:a16="http://schemas.microsoft.com/office/drawing/2014/main" id="{21907CC3-FB16-44D0-8BC8-CD2283622CF5}"/>
              </a:ext>
            </a:extLst>
          </p:cNvPr>
          <p:cNvSpPr>
            <a:spLocks xmlns:a="http://schemas.openxmlformats.org/drawingml/2006/main" noGrp="1"/>
          </p:cNvSpPr>
          <p:nvPr/>
        </p:nvSpPr>
        <p:spPr>
          <a:xfrm xmlns:a="http://schemas.openxmlformats.org/drawingml/2006/main">
            <a:off x="5181600" y="3686175"/>
            <a:ext cx="152400" cy="28575"/>
          </a:xfrm>
          <a:prstGeom xmlns:a="http://schemas.openxmlformats.org/drawingml/2006/main" prst="rect">
            <a:avLst/>
          </a:prstGeom>
          <a:solidFill xmlns:a="http://schemas.openxmlformats.org/drawingml/2006/main">
            <a:srgbClr val="75867A"/>
          </a:solidFill>
        </p:spPr>
      </p:sp>
      <p:sp>
        <p:nvSpPr>
          <p:cNvPr id="36" name="p2-odyssey-name">
            <a:extLst xmlns:a="http://schemas.openxmlformats.org/drawingml/2006/main">
              <a:ext uri="{FF2B5EF4-FFF2-40B4-BE49-F238E27FC236}">
                <a16:creationId xmlns:a16="http://schemas.microsoft.com/office/drawing/2014/main" id="{8AB2D152-86A2-4C4D-ADE1-AAC8B6CAC3A0}"/>
              </a:ext>
            </a:extLst>
          </p:cNvPr>
          <p:cNvSpPr>
            <a:spLocks xmlns:a="http://schemas.openxmlformats.org/drawingml/2006/main" noGrp="1"/>
          </p:cNvSpPr>
          <p:nvPr/>
        </p:nvSpPr>
        <p:spPr>
          <a:xfrm xmlns:a="http://schemas.openxmlformats.org/drawingml/2006/main">
            <a:off x="5410200" y="3600450"/>
            <a:ext cx="6781800" cy="3257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Odyssey</a:t>
            </a:r>
          </a:p>
        </p:txBody>
      </p:sp>
      <p:sp>
        <p:nvSpPr>
          <p:cNvPr id="37" name="p2-odyssey-access">
            <a:extLst xmlns:a="http://schemas.openxmlformats.org/drawingml/2006/main">
              <a:ext uri="{FF2B5EF4-FFF2-40B4-BE49-F238E27FC236}">
                <a16:creationId xmlns:a16="http://schemas.microsoft.com/office/drawing/2014/main" id="{1C8E68F6-C411-4CAD-91EF-3C838683309B}"/>
              </a:ext>
            </a:extLst>
          </p:cNvPr>
          <p:cNvSpPr>
            <a:spLocks xmlns:a="http://schemas.openxmlformats.org/drawingml/2006/main" noGrp="1"/>
          </p:cNvSpPr>
          <p:nvPr/>
        </p:nvSpPr>
        <p:spPr>
          <a:xfrm xmlns:a="http://schemas.openxmlformats.org/drawingml/2006/main">
            <a:off x="5410200" y="3876675"/>
            <a:ext cx="6781800" cy="2981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75867A"/>
                </a:solidFill>
                <a:latin typeface="Noto Sans SC"/>
                <a:ea typeface="Noto Sans SC"/>
                <a:cs typeface="Noto Sans SC"/>
              </a:defRPr>
            </a:pPr>
            <a:r>
              <a:t>文档化接口 / 账户未独立确认</a:t>
            </a:r>
          </a:p>
        </p:txBody>
      </p:sp>
      <p:sp>
        <p:nvSpPr>
          <p:cNvPr id="38" name="p2-decart-mark">
            <a:extLst xmlns:a="http://schemas.openxmlformats.org/drawingml/2006/main">
              <a:ext uri="{FF2B5EF4-FFF2-40B4-BE49-F238E27FC236}">
                <a16:creationId xmlns:a16="http://schemas.microsoft.com/office/drawing/2014/main" id="{C03CDB19-BFEB-446F-96E9-BEC1EB346A85}"/>
              </a:ext>
            </a:extLst>
          </p:cNvPr>
          <p:cNvSpPr>
            <a:spLocks xmlns:a="http://schemas.openxmlformats.org/drawingml/2006/main" noGrp="1"/>
          </p:cNvSpPr>
          <p:nvPr/>
        </p:nvSpPr>
        <p:spPr>
          <a:xfrm xmlns:a="http://schemas.openxmlformats.org/drawingml/2006/main">
            <a:off x="5181600" y="4333875"/>
            <a:ext cx="152400" cy="28575"/>
          </a:xfrm>
          <a:prstGeom xmlns:a="http://schemas.openxmlformats.org/drawingml/2006/main" prst="rect">
            <a:avLst/>
          </a:prstGeom>
          <a:solidFill xmlns:a="http://schemas.openxmlformats.org/drawingml/2006/main">
            <a:srgbClr val="75867A"/>
          </a:solidFill>
        </p:spPr>
      </p:sp>
      <p:sp>
        <p:nvSpPr>
          <p:cNvPr id="39" name="p2-decart-name">
            <a:extLst xmlns:a="http://schemas.openxmlformats.org/drawingml/2006/main">
              <a:ext uri="{FF2B5EF4-FFF2-40B4-BE49-F238E27FC236}">
                <a16:creationId xmlns:a16="http://schemas.microsoft.com/office/drawing/2014/main" id="{1937E05B-93BE-44B5-BECA-1CFA6BC6854D}"/>
              </a:ext>
            </a:extLst>
          </p:cNvPr>
          <p:cNvSpPr>
            <a:spLocks xmlns:a="http://schemas.openxmlformats.org/drawingml/2006/main" noGrp="1"/>
          </p:cNvSpPr>
          <p:nvPr/>
        </p:nvSpPr>
        <p:spPr>
          <a:xfrm xmlns:a="http://schemas.openxmlformats.org/drawingml/2006/main">
            <a:off x="5410200" y="4248150"/>
            <a:ext cx="6781800" cy="2609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Decart</a:t>
            </a:r>
          </a:p>
        </p:txBody>
      </p:sp>
      <p:sp>
        <p:nvSpPr>
          <p:cNvPr id="40" name="p2-decart-access">
            <a:extLst xmlns:a="http://schemas.openxmlformats.org/drawingml/2006/main">
              <a:ext uri="{FF2B5EF4-FFF2-40B4-BE49-F238E27FC236}">
                <a16:creationId xmlns:a16="http://schemas.microsoft.com/office/drawing/2014/main" id="{A7A47032-2D8A-4940-9571-EE4CF37C3A1A}"/>
              </a:ext>
            </a:extLst>
          </p:cNvPr>
          <p:cNvSpPr>
            <a:spLocks xmlns:a="http://schemas.openxmlformats.org/drawingml/2006/main" noGrp="1"/>
          </p:cNvSpPr>
          <p:nvPr/>
        </p:nvSpPr>
        <p:spPr>
          <a:xfrm xmlns:a="http://schemas.openxmlformats.org/drawingml/2006/main">
            <a:off x="5410200" y="4524375"/>
            <a:ext cx="6781800" cy="23336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75867A"/>
                </a:solidFill>
                <a:latin typeface="Noto Sans SC"/>
                <a:ea typeface="Noto Sans SC"/>
                <a:cs typeface="Noto Sans SC"/>
              </a:defRPr>
            </a:pPr>
            <a:r>
              <a:t>公开计价接口</a:t>
            </a:r>
          </a:p>
        </p:txBody>
      </p:sp>
      <p:sp>
        <p:nvSpPr>
          <p:cNvPr id="41" name="p2-cosmos-mark">
            <a:extLst xmlns:a="http://schemas.openxmlformats.org/drawingml/2006/main">
              <a:ext uri="{FF2B5EF4-FFF2-40B4-BE49-F238E27FC236}">
                <a16:creationId xmlns:a16="http://schemas.microsoft.com/office/drawing/2014/main" id="{0EF2E903-5835-4989-AF0D-4D300063DFBD}"/>
              </a:ext>
            </a:extLst>
          </p:cNvPr>
          <p:cNvSpPr>
            <a:spLocks xmlns:a="http://schemas.openxmlformats.org/drawingml/2006/main" noGrp="1"/>
          </p:cNvSpPr>
          <p:nvPr/>
        </p:nvSpPr>
        <p:spPr>
          <a:xfrm xmlns:a="http://schemas.openxmlformats.org/drawingml/2006/main">
            <a:off x="8477250" y="3686175"/>
            <a:ext cx="152400" cy="28575"/>
          </a:xfrm>
          <a:prstGeom xmlns:a="http://schemas.openxmlformats.org/drawingml/2006/main" prst="rect">
            <a:avLst/>
          </a:prstGeom>
          <a:solidFill xmlns:a="http://schemas.openxmlformats.org/drawingml/2006/main">
            <a:srgbClr val="766F82"/>
          </a:solidFill>
        </p:spPr>
      </p:sp>
      <p:sp>
        <p:nvSpPr>
          <p:cNvPr id="42" name="p2-cosmos-name">
            <a:extLst xmlns:a="http://schemas.openxmlformats.org/drawingml/2006/main">
              <a:ext uri="{FF2B5EF4-FFF2-40B4-BE49-F238E27FC236}">
                <a16:creationId xmlns:a16="http://schemas.microsoft.com/office/drawing/2014/main" id="{AB2A8764-67D1-48FE-83A3-138EC84FC53F}"/>
              </a:ext>
            </a:extLst>
          </p:cNvPr>
          <p:cNvSpPr>
            <a:spLocks xmlns:a="http://schemas.openxmlformats.org/drawingml/2006/main" noGrp="1"/>
          </p:cNvSpPr>
          <p:nvPr/>
        </p:nvSpPr>
        <p:spPr>
          <a:xfrm xmlns:a="http://schemas.openxmlformats.org/drawingml/2006/main">
            <a:off x="8705850" y="3600450"/>
            <a:ext cx="3486150" cy="3257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NVIDIA Cosmos 3</a:t>
            </a:r>
          </a:p>
        </p:txBody>
      </p:sp>
      <p:sp>
        <p:nvSpPr>
          <p:cNvPr id="43" name="p2-cosmos-access">
            <a:extLst xmlns:a="http://schemas.openxmlformats.org/drawingml/2006/main">
              <a:ext uri="{FF2B5EF4-FFF2-40B4-BE49-F238E27FC236}">
                <a16:creationId xmlns:a16="http://schemas.microsoft.com/office/drawing/2014/main" id="{40EA448B-CF69-4834-8BAD-0847FE606C53}"/>
              </a:ext>
            </a:extLst>
          </p:cNvPr>
          <p:cNvSpPr>
            <a:spLocks xmlns:a="http://schemas.openxmlformats.org/drawingml/2006/main" noGrp="1"/>
          </p:cNvSpPr>
          <p:nvPr/>
        </p:nvSpPr>
        <p:spPr>
          <a:xfrm xmlns:a="http://schemas.openxmlformats.org/drawingml/2006/main">
            <a:off x="8705850" y="3876675"/>
            <a:ext cx="3486150" cy="2981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766F82"/>
                </a:solidFill>
                <a:latin typeface="Noto Sans SC"/>
                <a:ea typeface="Noto Sans SC"/>
                <a:cs typeface="Noto Sans SC"/>
              </a:defRPr>
            </a:pPr>
            <a:r>
              <a:t>可下载 / 自托管</a:t>
            </a:r>
          </a:p>
        </p:txBody>
      </p:sp>
      <p:sp>
        <p:nvSpPr>
          <p:cNvPr id="44" name="p2-cosmos-secondary">
            <a:extLst xmlns:a="http://schemas.openxmlformats.org/drawingml/2006/main">
              <a:ext uri="{FF2B5EF4-FFF2-40B4-BE49-F238E27FC236}">
                <a16:creationId xmlns:a16="http://schemas.microsoft.com/office/drawing/2014/main" id="{212E51ED-6DE9-444E-A430-97C8443EC360}"/>
              </a:ext>
            </a:extLst>
          </p:cNvPr>
          <p:cNvSpPr>
            <a:spLocks xmlns:a="http://schemas.openxmlformats.org/drawingml/2006/main" noGrp="1"/>
          </p:cNvSpPr>
          <p:nvPr/>
        </p:nvSpPr>
        <p:spPr>
          <a:xfrm xmlns:a="http://schemas.openxmlformats.org/drawingml/2006/main">
            <a:off x="8705850" y="4133850"/>
            <a:ext cx="3486150" cy="2724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次级：规划控制</a:t>
            </a:r>
          </a:p>
        </p:txBody>
      </p:sp>
      <p:sp>
        <p:nvSpPr>
          <p:cNvPr id="45" name="p2-mira-circle">
            <a:extLst xmlns:a="http://schemas.openxmlformats.org/drawingml/2006/main">
              <a:ext uri="{FF2B5EF4-FFF2-40B4-BE49-F238E27FC236}">
                <a16:creationId xmlns:a16="http://schemas.microsoft.com/office/drawing/2014/main" id="{FAEEAD31-B88F-4BE9-B17C-12828EDD4799}"/>
              </a:ext>
            </a:extLst>
          </p:cNvPr>
          <p:cNvSpPr>
            <a:spLocks xmlns:a="http://schemas.openxmlformats.org/drawingml/2006/main" noGrp="1"/>
          </p:cNvSpPr>
          <p:nvPr/>
        </p:nvSpPr>
        <p:spPr>
          <a:xfrm xmlns:a="http://schemas.openxmlformats.org/drawingml/2006/main">
            <a:off x="8477250" y="4438650"/>
            <a:ext cx="3714750" cy="2419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a:t>
            </a:r>
          </a:p>
        </p:txBody>
      </p:sp>
      <p:sp>
        <p:nvSpPr>
          <p:cNvPr id="46" name="p2-mira-text">
            <a:extLst xmlns:a="http://schemas.openxmlformats.org/drawingml/2006/main">
              <a:ext uri="{FF2B5EF4-FFF2-40B4-BE49-F238E27FC236}">
                <a16:creationId xmlns:a16="http://schemas.microsoft.com/office/drawing/2014/main" id="{C2D094B8-A877-4686-B194-8F0BF40584F7}"/>
              </a:ext>
            </a:extLst>
          </p:cNvPr>
          <p:cNvSpPr>
            <a:spLocks xmlns:a="http://schemas.openxmlformats.org/drawingml/2006/main" noGrp="1"/>
          </p:cNvSpPr>
          <p:nvPr/>
        </p:nvSpPr>
        <p:spPr>
          <a:xfrm xmlns:a="http://schemas.openxmlformats.org/drawingml/2006/main">
            <a:off x="8705850" y="4438650"/>
            <a:ext cx="3486150" cy="2419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MIRA  ·  外部入口未核</a:t>
            </a:r>
          </a:p>
        </p:txBody>
      </p:sp>
      <p:sp>
        <p:nvSpPr>
          <p:cNvPr id="47" name="p2-meta-circle">
            <a:extLst xmlns:a="http://schemas.openxmlformats.org/drawingml/2006/main">
              <a:ext uri="{FF2B5EF4-FFF2-40B4-BE49-F238E27FC236}">
                <a16:creationId xmlns:a16="http://schemas.microsoft.com/office/drawing/2014/main" id="{108A7130-9FB9-4FCE-89B6-E9D94D5D8A5B}"/>
              </a:ext>
            </a:extLst>
          </p:cNvPr>
          <p:cNvSpPr>
            <a:spLocks xmlns:a="http://schemas.openxmlformats.org/drawingml/2006/main" noGrp="1"/>
          </p:cNvSpPr>
          <p:nvPr/>
        </p:nvSpPr>
        <p:spPr>
          <a:xfrm xmlns:a="http://schemas.openxmlformats.org/drawingml/2006/main">
            <a:off x="8477250" y="4972050"/>
            <a:ext cx="3714750" cy="1885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a:t>
            </a:r>
          </a:p>
        </p:txBody>
      </p:sp>
      <p:sp>
        <p:nvSpPr>
          <p:cNvPr id="48" name="p2-meta-text">
            <a:extLst xmlns:a="http://schemas.openxmlformats.org/drawingml/2006/main">
              <a:ext uri="{FF2B5EF4-FFF2-40B4-BE49-F238E27FC236}">
                <a16:creationId xmlns:a16="http://schemas.microsoft.com/office/drawing/2014/main" id="{B935862F-E609-4C4C-93A4-DB697002FE03}"/>
              </a:ext>
            </a:extLst>
          </p:cNvPr>
          <p:cNvSpPr>
            <a:spLocks xmlns:a="http://schemas.openxmlformats.org/drawingml/2006/main" noGrp="1"/>
          </p:cNvSpPr>
          <p:nvPr/>
        </p:nvSpPr>
        <p:spPr>
          <a:xfrm xmlns:a="http://schemas.openxmlformats.org/drawingml/2006/main">
            <a:off x="8705850" y="4972050"/>
            <a:ext cx="3486150" cy="1885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Meta V-JEPA
checkpoint 可下载 · 许可待核</a:t>
            </a:r>
          </a:p>
        </p:txBody>
      </p:sp>
      <p:sp>
        <p:nvSpPr>
          <p:cNvPr id="49" name="p2-ami-bg">
            <a:extLst xmlns:a="http://schemas.openxmlformats.org/drawingml/2006/main">
              <a:ext uri="{FF2B5EF4-FFF2-40B4-BE49-F238E27FC236}">
                <a16:creationId xmlns:a16="http://schemas.microsoft.com/office/drawing/2014/main" id="{A0CA8C68-8708-4AE0-A82D-F52EE66AB99E}"/>
              </a:ext>
            </a:extLst>
          </p:cNvPr>
          <p:cNvSpPr>
            <a:spLocks xmlns:a="http://schemas.openxmlformats.org/drawingml/2006/main" noGrp="1"/>
          </p:cNvSpPr>
          <p:nvPr/>
        </p:nvSpPr>
        <p:spPr>
          <a:xfrm xmlns:a="http://schemas.openxmlformats.org/drawingml/2006/main">
            <a:off x="1714500" y="5695950"/>
            <a:ext cx="9867900" cy="400050"/>
          </a:xfrm>
          <a:prstGeom xmlns:a="http://schemas.openxmlformats.org/drawingml/2006/main" prst="rect">
            <a:avLst/>
          </a:prstGeom>
          <a:solidFill xmlns:a="http://schemas.openxmlformats.org/drawingml/2006/main">
            <a:srgbClr val="EFE7D6"/>
          </a:solidFill>
        </p:spPr>
      </p:sp>
      <p:sp>
        <p:nvSpPr>
          <p:cNvPr id="50" name="p2-ami-accent">
            <a:extLst xmlns:a="http://schemas.openxmlformats.org/drawingml/2006/main">
              <a:ext uri="{FF2B5EF4-FFF2-40B4-BE49-F238E27FC236}">
                <a16:creationId xmlns:a16="http://schemas.microsoft.com/office/drawing/2014/main" id="{7C194382-6314-432B-805B-08821DA7CEDD}"/>
              </a:ext>
            </a:extLst>
          </p:cNvPr>
          <p:cNvSpPr>
            <a:spLocks xmlns:a="http://schemas.openxmlformats.org/drawingml/2006/main" noGrp="1"/>
          </p:cNvSpPr>
          <p:nvPr/>
        </p:nvSpPr>
        <p:spPr>
          <a:xfrm xmlns:a="http://schemas.openxmlformats.org/drawingml/2006/main">
            <a:off x="1714500" y="5695950"/>
            <a:ext cx="47625" cy="400050"/>
          </a:xfrm>
          <a:prstGeom xmlns:a="http://schemas.openxmlformats.org/drawingml/2006/main" prst="rect">
            <a:avLst/>
          </a:prstGeom>
          <a:solidFill xmlns:a="http://schemas.openxmlformats.org/drawingml/2006/main">
            <a:srgbClr val="A48755"/>
          </a:solidFill>
        </p:spPr>
      </p:sp>
      <p:sp>
        <p:nvSpPr>
          <p:cNvPr id="51" name="p2-ami-name">
            <a:extLst xmlns:a="http://schemas.openxmlformats.org/drawingml/2006/main">
              <a:ext uri="{FF2B5EF4-FFF2-40B4-BE49-F238E27FC236}">
                <a16:creationId xmlns:a16="http://schemas.microsoft.com/office/drawing/2014/main" id="{53A8CD8E-6993-4DEA-8214-DED0CB08D628}"/>
              </a:ext>
            </a:extLst>
          </p:cNvPr>
          <p:cNvSpPr>
            <a:spLocks xmlns:a="http://schemas.openxmlformats.org/drawingml/2006/main" noGrp="1"/>
          </p:cNvSpPr>
          <p:nvPr/>
        </p:nvSpPr>
        <p:spPr>
          <a:xfrm xmlns:a="http://schemas.openxmlformats.org/drawingml/2006/main">
            <a:off x="1885950" y="5772150"/>
            <a:ext cx="10306050" cy="1085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A48755"/>
                </a:solidFill>
                <a:latin typeface="Noto Sans SC"/>
                <a:ea typeface="Noto Sans SC"/>
                <a:cs typeface="Noto Sans SC"/>
              </a:defRPr>
            </a:pPr>
            <a:r>
              <a:t>早期信号 · AMI Labs</a:t>
            </a:r>
          </a:p>
        </p:txBody>
      </p:sp>
      <p:sp>
        <p:nvSpPr>
          <p:cNvPr id="52" name="p2-ami-detail">
            <a:extLst xmlns:a="http://schemas.openxmlformats.org/drawingml/2006/main">
              <a:ext uri="{FF2B5EF4-FFF2-40B4-BE49-F238E27FC236}">
                <a16:creationId xmlns:a16="http://schemas.microsoft.com/office/drawing/2014/main" id="{8522E084-C136-4DC3-9CA0-3AF484214145}"/>
              </a:ext>
            </a:extLst>
          </p:cNvPr>
          <p:cNvSpPr>
            <a:spLocks xmlns:a="http://schemas.openxmlformats.org/drawingml/2006/main" noGrp="1"/>
          </p:cNvSpPr>
          <p:nvPr/>
        </p:nvSpPr>
        <p:spPr>
          <a:xfrm xmlns:a="http://schemas.openxmlformats.org/drawingml/2006/main">
            <a:off x="4476750" y="5772150"/>
            <a:ext cx="7715250" cy="1085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无技术坐标｜自有技术资产与外部入口待核</a:t>
            </a:r>
          </a:p>
        </p:txBody>
      </p:sp>
      <p:sp>
        <p:nvSpPr>
          <p:cNvPr id="53" name="p2-status-legend">
            <a:extLst xmlns:a="http://schemas.openxmlformats.org/drawingml/2006/main">
              <a:ext uri="{FF2B5EF4-FFF2-40B4-BE49-F238E27FC236}">
                <a16:creationId xmlns:a16="http://schemas.microsoft.com/office/drawing/2014/main" id="{D3515BEE-D7C0-4107-91CC-A0FCE556D0C1}"/>
              </a:ext>
            </a:extLst>
          </p:cNvPr>
          <p:cNvSpPr>
            <a:spLocks xmlns:a="http://schemas.openxmlformats.org/drawingml/2006/main" noGrp="1"/>
          </p:cNvSpPr>
          <p:nvPr/>
        </p:nvSpPr>
        <p:spPr>
          <a:xfrm xmlns:a="http://schemas.openxmlformats.org/drawingml/2006/main">
            <a:off x="7810500" y="1428750"/>
            <a:ext cx="4381500" cy="5429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固定五席  —  粗体＋色线    观察对象  —  ○    早期信号  —  单独置于图外</a:t>
            </a:r>
          </a:p>
        </p:txBody>
      </p:sp>
      <p:sp>
        <p:nvSpPr>
          <p:cNvPr id="54" name="p2-scope">
            <a:extLst xmlns:a="http://schemas.openxmlformats.org/drawingml/2006/main">
              <a:ext uri="{FF2B5EF4-FFF2-40B4-BE49-F238E27FC236}">
                <a16:creationId xmlns:a16="http://schemas.microsoft.com/office/drawing/2014/main" id="{DF4451F2-DB76-46FC-8F50-0745226C958A}"/>
              </a:ext>
            </a:extLst>
          </p:cNvPr>
          <p:cNvSpPr>
            <a:spLocks xmlns:a="http://schemas.openxmlformats.org/drawingml/2006/main" noGrp="1"/>
          </p:cNvSpPr>
          <p:nvPr/>
        </p:nvSpPr>
        <p:spPr>
          <a:xfrm xmlns:a="http://schemas.openxmlformats.org/drawingml/2006/main">
            <a:off x="609600" y="6172200"/>
            <a:ext cx="11582400" cy="685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范围：固定五席 5｜观察对象 4｜早期信号 1。中国大陆公司、VLA、机器人基础模型、仿真/合成数据、纯视频、纯 3D 与垂直内部组件不作为节点；Manifold 只作公开比较锚点。</a:t>
            </a:r>
          </a:p>
        </p:txBody>
      </p:sp>
      <p:sp>
        <p:nvSpPr>
          <p:cNvPr id="55" name="p2-footer-rule">
            <a:extLst xmlns:a="http://schemas.openxmlformats.org/drawingml/2006/main">
              <a:ext uri="{FF2B5EF4-FFF2-40B4-BE49-F238E27FC236}">
                <a16:creationId xmlns:a16="http://schemas.microsoft.com/office/drawing/2014/main" id="{E342D54C-8308-411B-8D55-3C0327D4FB1A}"/>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56" name="p2-footer-source">
            <a:extLst xmlns:a="http://schemas.openxmlformats.org/drawingml/2006/main">
              <a:ext uri="{FF2B5EF4-FFF2-40B4-BE49-F238E27FC236}">
                <a16:creationId xmlns:a16="http://schemas.microsoft.com/office/drawing/2014/main" id="{9393E749-041A-44D8-AE09-40909CD03825}"/>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来源：官方项目、产品、代码仓库、开发者资料及公司/地域资料</a:t>
            </a:r>
          </a:p>
        </p:txBody>
      </p:sp>
      <p:sp>
        <p:nvSpPr>
          <p:cNvPr id="57" name="p2-footer-page">
            <a:extLst xmlns:a="http://schemas.openxmlformats.org/drawingml/2006/main">
              <a:ext uri="{FF2B5EF4-FFF2-40B4-BE49-F238E27FC236}">
                <a16:creationId xmlns:a16="http://schemas.microsoft.com/office/drawing/2014/main" id="{C1D5583F-AB23-4CFD-BEDA-C7A3A370CD1A}"/>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02</a:t>
            </a:r>
          </a:p>
        </p:txBody>
      </p:sp>
    </p:spTree>
    <p:extLst>
      <p:ext uri="{BB962C8B-B14F-4D97-AF65-F5344CB8AC3E}">
        <p14:creationId xmlns:p14="http://schemas.microsoft.com/office/powerpoint/2010/main" val="574636585"/>
      </p:ext>
    </p:extLst>
  </p:cSld>
</p:sld>
</file>

<file path=ppt/slides/slide3.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3-eyebrow">
            <a:extLst xmlns:a="http://schemas.openxmlformats.org/drawingml/2006/main">
              <a:ext uri="{FF2B5EF4-FFF2-40B4-BE49-F238E27FC236}">
                <a16:creationId xmlns:a16="http://schemas.microsoft.com/office/drawing/2014/main" id="{457472BE-2AAE-4CDE-974D-1693F498B577}"/>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FIVE PATHS · NO RANKING</a:t>
            </a:r>
          </a:p>
        </p:txBody>
      </p:sp>
      <p:sp>
        <p:nvSpPr>
          <p:cNvPr id="2" name="p3-title">
            <a:extLst xmlns:a="http://schemas.openxmlformats.org/drawingml/2006/main">
              <a:ext uri="{FF2B5EF4-FFF2-40B4-BE49-F238E27FC236}">
                <a16:creationId xmlns:a16="http://schemas.microsoft.com/office/drawing/2014/main" id="{0D7D52E2-0341-4095-9C87-CE95C9E739FA}"/>
              </a:ext>
            </a:extLst>
          </p:cNvPr>
          <p:cNvSpPr>
            <a:spLocks xmlns:a="http://schemas.openxmlformats.org/drawingml/2006/main" noGrp="1"/>
          </p:cNvSpPr>
          <p:nvPr/>
        </p:nvSpPr>
        <p:spPr>
          <a:xfrm xmlns:a="http://schemas.openxmlformats.org/drawingml/2006/main">
            <a:off x="609600" y="476250"/>
            <a:ext cx="11582400" cy="6381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五席走的是五条不同的路，差异在产品形态和证据成熟度</a:t>
            </a:r>
          </a:p>
        </p:txBody>
      </p:sp>
      <p:sp>
        <p:nvSpPr>
          <p:cNvPr id="3" name="p3-subtitle">
            <a:extLst xmlns:a="http://schemas.openxmlformats.org/drawingml/2006/main">
              <a:ext uri="{FF2B5EF4-FFF2-40B4-BE49-F238E27FC236}">
                <a16:creationId xmlns:a16="http://schemas.microsoft.com/office/drawing/2014/main" id="{8C5EB9D6-B52E-4D24-AC50-FFF92F2D91DC}"/>
              </a:ext>
            </a:extLst>
          </p:cNvPr>
          <p:cNvSpPr>
            <a:spLocks xmlns:a="http://schemas.openxmlformats.org/drawingml/2006/main" noGrp="1"/>
          </p:cNvSpPr>
          <p:nvPr/>
        </p:nvSpPr>
        <p:spPr>
          <a:xfrm xmlns:a="http://schemas.openxmlformats.org/drawingml/2006/main">
            <a:off x="609600" y="1066800"/>
            <a:ext cx="11582400" cy="579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固定五席体现路线互补，不构成能力、公司或商业成熟度排名。</a:t>
            </a:r>
          </a:p>
        </p:txBody>
      </p:sp>
      <p:sp>
        <p:nvSpPr>
          <p:cNvPr id="4" name="p3-header-bg">
            <a:extLst xmlns:a="http://schemas.openxmlformats.org/drawingml/2006/main">
              <a:ext uri="{FF2B5EF4-FFF2-40B4-BE49-F238E27FC236}">
                <a16:creationId xmlns:a16="http://schemas.microsoft.com/office/drawing/2014/main" id="{65076882-A8F1-4AFE-B7EE-43A2D306F33A}"/>
              </a:ext>
            </a:extLst>
          </p:cNvPr>
          <p:cNvSpPr>
            <a:spLocks xmlns:a="http://schemas.openxmlformats.org/drawingml/2006/main" noGrp="1"/>
          </p:cNvSpPr>
          <p:nvPr/>
        </p:nvSpPr>
        <p:spPr>
          <a:xfrm xmlns:a="http://schemas.openxmlformats.org/drawingml/2006/main">
            <a:off x="609600" y="1428750"/>
            <a:ext cx="10972800" cy="476250"/>
          </a:xfrm>
          <a:prstGeom xmlns:a="http://schemas.openxmlformats.org/drawingml/2006/main" prst="rect">
            <a:avLst/>
          </a:prstGeom>
          <a:solidFill xmlns:a="http://schemas.openxmlformats.org/drawingml/2006/main">
            <a:srgbClr val="EEEAE4"/>
          </a:solidFill>
        </p:spPr>
      </p:sp>
      <p:sp>
        <p:nvSpPr>
          <p:cNvPr id="5" name="p3-header-accent-0">
            <a:extLst xmlns:a="http://schemas.openxmlformats.org/drawingml/2006/main">
              <a:ext uri="{FF2B5EF4-FFF2-40B4-BE49-F238E27FC236}">
                <a16:creationId xmlns:a16="http://schemas.microsoft.com/office/drawing/2014/main" id="{FA3DE06A-5641-4DEE-8456-E4B42C6B46F6}"/>
              </a:ext>
            </a:extLst>
          </p:cNvPr>
          <p:cNvSpPr>
            <a:spLocks xmlns:a="http://schemas.openxmlformats.org/drawingml/2006/main" noGrp="1"/>
          </p:cNvSpPr>
          <p:nvPr/>
        </p:nvSpPr>
        <p:spPr>
          <a:xfrm xmlns:a="http://schemas.openxmlformats.org/drawingml/2006/main">
            <a:off x="685800" y="1504950"/>
            <a:ext cx="323850" cy="28575"/>
          </a:xfrm>
          <a:prstGeom xmlns:a="http://schemas.openxmlformats.org/drawingml/2006/main" prst="rect">
            <a:avLst/>
          </a:prstGeom>
          <a:solidFill xmlns:a="http://schemas.openxmlformats.org/drawingml/2006/main">
            <a:srgbClr val="6E6861"/>
          </a:solidFill>
        </p:spPr>
      </p:sp>
      <p:sp>
        <p:nvSpPr>
          <p:cNvPr id="6" name="p3-header-0">
            <a:extLst xmlns:a="http://schemas.openxmlformats.org/drawingml/2006/main">
              <a:ext uri="{FF2B5EF4-FFF2-40B4-BE49-F238E27FC236}">
                <a16:creationId xmlns:a16="http://schemas.microsoft.com/office/drawing/2014/main" id="{0C9CE3A5-B854-4717-B2EC-A4844DEE0417}"/>
              </a:ext>
            </a:extLst>
          </p:cNvPr>
          <p:cNvSpPr>
            <a:spLocks xmlns:a="http://schemas.openxmlformats.org/drawingml/2006/main" noGrp="1"/>
          </p:cNvSpPr>
          <p:nvPr/>
        </p:nvSpPr>
        <p:spPr>
          <a:xfrm xmlns:a="http://schemas.openxmlformats.org/drawingml/2006/main">
            <a:off x="685800" y="1590675"/>
            <a:ext cx="11506200" cy="5267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比较维度</a:t>
            </a:r>
          </a:p>
        </p:txBody>
      </p:sp>
      <p:sp>
        <p:nvSpPr>
          <p:cNvPr id="7" name="p3-header-accent-1">
            <a:extLst xmlns:a="http://schemas.openxmlformats.org/drawingml/2006/main">
              <a:ext uri="{FF2B5EF4-FFF2-40B4-BE49-F238E27FC236}">
                <a16:creationId xmlns:a16="http://schemas.microsoft.com/office/drawing/2014/main" id="{02130A31-D469-4CCC-BC4E-187126A7FB84}"/>
              </a:ext>
            </a:extLst>
          </p:cNvPr>
          <p:cNvSpPr>
            <a:spLocks xmlns:a="http://schemas.openxmlformats.org/drawingml/2006/main" noGrp="1"/>
          </p:cNvSpPr>
          <p:nvPr/>
        </p:nvSpPr>
        <p:spPr>
          <a:xfrm xmlns:a="http://schemas.openxmlformats.org/drawingml/2006/main">
            <a:off x="1924050" y="1504950"/>
            <a:ext cx="323850" cy="28575"/>
          </a:xfrm>
          <a:prstGeom xmlns:a="http://schemas.openxmlformats.org/drawingml/2006/main" prst="rect">
            <a:avLst/>
          </a:prstGeom>
          <a:solidFill xmlns:a="http://schemas.openxmlformats.org/drawingml/2006/main">
            <a:srgbClr val="C56B4D"/>
          </a:solidFill>
        </p:spPr>
      </p:sp>
      <p:sp>
        <p:nvSpPr>
          <p:cNvPr id="8" name="p3-header-1">
            <a:extLst xmlns:a="http://schemas.openxmlformats.org/drawingml/2006/main">
              <a:ext uri="{FF2B5EF4-FFF2-40B4-BE49-F238E27FC236}">
                <a16:creationId xmlns:a16="http://schemas.microsoft.com/office/drawing/2014/main" id="{BEC6878B-935E-4922-A844-CF5D759B7C64}"/>
              </a:ext>
            </a:extLst>
          </p:cNvPr>
          <p:cNvSpPr>
            <a:spLocks xmlns:a="http://schemas.openxmlformats.org/drawingml/2006/main" noGrp="1"/>
          </p:cNvSpPr>
          <p:nvPr/>
        </p:nvSpPr>
        <p:spPr>
          <a:xfrm xmlns:a="http://schemas.openxmlformats.org/drawingml/2006/main">
            <a:off x="1924050" y="1590675"/>
            <a:ext cx="10267950" cy="5267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1" i="0">
                <a:solidFill>
                  <a:srgbClr val="24211E"/>
                </a:solidFill>
                <a:latin typeface="Noto Sans SC"/>
                <a:ea typeface="Noto Sans SC"/>
                <a:cs typeface="Noto Sans SC"/>
              </a:defRPr>
            </a:pPr>
            <a:r>
              <a:t>World Labs</a:t>
            </a:r>
          </a:p>
        </p:txBody>
      </p:sp>
      <p:sp>
        <p:nvSpPr>
          <p:cNvPr id="9" name="p3-header-accent-2">
            <a:extLst xmlns:a="http://schemas.openxmlformats.org/drawingml/2006/main">
              <a:ext uri="{FF2B5EF4-FFF2-40B4-BE49-F238E27FC236}">
                <a16:creationId xmlns:a16="http://schemas.microsoft.com/office/drawing/2014/main" id="{73BDF6CC-0C7B-47C6-BB0F-15828C7AF3D8}"/>
              </a:ext>
            </a:extLst>
          </p:cNvPr>
          <p:cNvSpPr>
            <a:spLocks xmlns:a="http://schemas.openxmlformats.org/drawingml/2006/main" noGrp="1"/>
          </p:cNvSpPr>
          <p:nvPr/>
        </p:nvSpPr>
        <p:spPr>
          <a:xfrm xmlns:a="http://schemas.openxmlformats.org/drawingml/2006/main">
            <a:off x="3870960" y="1504950"/>
            <a:ext cx="323850" cy="28575"/>
          </a:xfrm>
          <a:prstGeom xmlns:a="http://schemas.openxmlformats.org/drawingml/2006/main" prst="rect">
            <a:avLst/>
          </a:prstGeom>
          <a:solidFill xmlns:a="http://schemas.openxmlformats.org/drawingml/2006/main">
            <a:srgbClr val="75867A"/>
          </a:solidFill>
        </p:spPr>
      </p:sp>
      <p:sp>
        <p:nvSpPr>
          <p:cNvPr id="10" name="p3-header-2">
            <a:extLst xmlns:a="http://schemas.openxmlformats.org/drawingml/2006/main">
              <a:ext uri="{FF2B5EF4-FFF2-40B4-BE49-F238E27FC236}">
                <a16:creationId xmlns:a16="http://schemas.microsoft.com/office/drawing/2014/main" id="{D4C3B1E0-D5D8-4A55-8347-A6189AE04D53}"/>
              </a:ext>
            </a:extLst>
          </p:cNvPr>
          <p:cNvSpPr>
            <a:spLocks xmlns:a="http://schemas.openxmlformats.org/drawingml/2006/main" noGrp="1"/>
          </p:cNvSpPr>
          <p:nvPr/>
        </p:nvSpPr>
        <p:spPr>
          <a:xfrm xmlns:a="http://schemas.openxmlformats.org/drawingml/2006/main">
            <a:off x="3870960" y="1590675"/>
            <a:ext cx="8321040" cy="5267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1" i="0">
                <a:solidFill>
                  <a:srgbClr val="24211E"/>
                </a:solidFill>
                <a:latin typeface="Noto Sans SC"/>
                <a:ea typeface="Noto Sans SC"/>
                <a:cs typeface="Noto Sans SC"/>
              </a:defRPr>
            </a:pPr>
            <a:r>
              <a:t>Odyssey</a:t>
            </a:r>
          </a:p>
        </p:txBody>
      </p:sp>
      <p:sp>
        <p:nvSpPr>
          <p:cNvPr id="11" name="p3-header-accent-3">
            <a:extLst xmlns:a="http://schemas.openxmlformats.org/drawingml/2006/main">
              <a:ext uri="{FF2B5EF4-FFF2-40B4-BE49-F238E27FC236}">
                <a16:creationId xmlns:a16="http://schemas.microsoft.com/office/drawing/2014/main" id="{5628B683-4A76-4775-9B32-F29E40A3BB1F}"/>
              </a:ext>
            </a:extLst>
          </p:cNvPr>
          <p:cNvSpPr>
            <a:spLocks xmlns:a="http://schemas.openxmlformats.org/drawingml/2006/main" noGrp="1"/>
          </p:cNvSpPr>
          <p:nvPr/>
        </p:nvSpPr>
        <p:spPr>
          <a:xfrm xmlns:a="http://schemas.openxmlformats.org/drawingml/2006/main">
            <a:off x="5817870" y="1504950"/>
            <a:ext cx="323850" cy="28575"/>
          </a:xfrm>
          <a:prstGeom xmlns:a="http://schemas.openxmlformats.org/drawingml/2006/main" prst="rect">
            <a:avLst/>
          </a:prstGeom>
          <a:solidFill xmlns:a="http://schemas.openxmlformats.org/drawingml/2006/main">
            <a:srgbClr val="75867A"/>
          </a:solidFill>
        </p:spPr>
      </p:sp>
      <p:sp>
        <p:nvSpPr>
          <p:cNvPr id="12" name="p3-header-3">
            <a:extLst xmlns:a="http://schemas.openxmlformats.org/drawingml/2006/main">
              <a:ext uri="{FF2B5EF4-FFF2-40B4-BE49-F238E27FC236}">
                <a16:creationId xmlns:a16="http://schemas.microsoft.com/office/drawing/2014/main" id="{B6C7323E-0FF2-4928-9268-2902F4478995}"/>
              </a:ext>
            </a:extLst>
          </p:cNvPr>
          <p:cNvSpPr>
            <a:spLocks xmlns:a="http://schemas.openxmlformats.org/drawingml/2006/main" noGrp="1"/>
          </p:cNvSpPr>
          <p:nvPr/>
        </p:nvSpPr>
        <p:spPr>
          <a:xfrm xmlns:a="http://schemas.openxmlformats.org/drawingml/2006/main">
            <a:off x="5817870" y="1590675"/>
            <a:ext cx="6374130" cy="5267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1" i="0">
                <a:solidFill>
                  <a:srgbClr val="24211E"/>
                </a:solidFill>
                <a:latin typeface="Noto Sans SC"/>
                <a:ea typeface="Noto Sans SC"/>
                <a:cs typeface="Noto Sans SC"/>
              </a:defRPr>
            </a:pPr>
            <a:r>
              <a:t>Runway</a:t>
            </a:r>
          </a:p>
        </p:txBody>
      </p:sp>
      <p:sp>
        <p:nvSpPr>
          <p:cNvPr id="13" name="p3-header-accent-4">
            <a:extLst xmlns:a="http://schemas.openxmlformats.org/drawingml/2006/main">
              <a:ext uri="{FF2B5EF4-FFF2-40B4-BE49-F238E27FC236}">
                <a16:creationId xmlns:a16="http://schemas.microsoft.com/office/drawing/2014/main" id="{1D48AF6F-7128-4E73-A78D-9886C212445E}"/>
              </a:ext>
            </a:extLst>
          </p:cNvPr>
          <p:cNvSpPr>
            <a:spLocks xmlns:a="http://schemas.openxmlformats.org/drawingml/2006/main" noGrp="1"/>
          </p:cNvSpPr>
          <p:nvPr/>
        </p:nvSpPr>
        <p:spPr>
          <a:xfrm xmlns:a="http://schemas.openxmlformats.org/drawingml/2006/main">
            <a:off x="7764780" y="1504950"/>
            <a:ext cx="323850" cy="28575"/>
          </a:xfrm>
          <a:prstGeom xmlns:a="http://schemas.openxmlformats.org/drawingml/2006/main" prst="rect">
            <a:avLst/>
          </a:prstGeom>
          <a:solidFill xmlns:a="http://schemas.openxmlformats.org/drawingml/2006/main">
            <a:srgbClr val="C56B4D"/>
          </a:solidFill>
        </p:spPr>
      </p:sp>
      <p:sp>
        <p:nvSpPr>
          <p:cNvPr id="14" name="p3-header-4">
            <a:extLst xmlns:a="http://schemas.openxmlformats.org/drawingml/2006/main">
              <a:ext uri="{FF2B5EF4-FFF2-40B4-BE49-F238E27FC236}">
                <a16:creationId xmlns:a16="http://schemas.microsoft.com/office/drawing/2014/main" id="{0C56B08F-2488-448C-9710-B9E0972C8D83}"/>
              </a:ext>
            </a:extLst>
          </p:cNvPr>
          <p:cNvSpPr>
            <a:spLocks xmlns:a="http://schemas.openxmlformats.org/drawingml/2006/main" noGrp="1"/>
          </p:cNvSpPr>
          <p:nvPr/>
        </p:nvSpPr>
        <p:spPr>
          <a:xfrm xmlns:a="http://schemas.openxmlformats.org/drawingml/2006/main">
            <a:off x="7764780" y="1590675"/>
            <a:ext cx="4427220" cy="5267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700" b="1" i="0">
                <a:solidFill>
                  <a:srgbClr val="24211E"/>
                </a:solidFill>
                <a:latin typeface="Noto Sans SC"/>
                <a:ea typeface="Noto Sans SC"/>
                <a:cs typeface="Noto Sans SC"/>
              </a:defRPr>
            </a:pPr>
            <a:r>
              <a:t>Decart</a:t>
            </a:r>
          </a:p>
        </p:txBody>
      </p:sp>
      <p:sp>
        <p:nvSpPr>
          <p:cNvPr id="15" name="p3-header-accent-5">
            <a:extLst xmlns:a="http://schemas.openxmlformats.org/drawingml/2006/main">
              <a:ext uri="{FF2B5EF4-FFF2-40B4-BE49-F238E27FC236}">
                <a16:creationId xmlns:a16="http://schemas.microsoft.com/office/drawing/2014/main" id="{72C14541-A410-4C27-8D65-97387DBF5C2B}"/>
              </a:ext>
            </a:extLst>
          </p:cNvPr>
          <p:cNvSpPr>
            <a:spLocks xmlns:a="http://schemas.openxmlformats.org/drawingml/2006/main" noGrp="1"/>
          </p:cNvSpPr>
          <p:nvPr/>
        </p:nvSpPr>
        <p:spPr>
          <a:xfrm xmlns:a="http://schemas.openxmlformats.org/drawingml/2006/main">
            <a:off x="9711690" y="1504950"/>
            <a:ext cx="323850" cy="28575"/>
          </a:xfrm>
          <a:prstGeom xmlns:a="http://schemas.openxmlformats.org/drawingml/2006/main" prst="rect">
            <a:avLst/>
          </a:prstGeom>
          <a:solidFill xmlns:a="http://schemas.openxmlformats.org/drawingml/2006/main">
            <a:srgbClr val="766F82"/>
          </a:solidFill>
        </p:spPr>
      </p:sp>
      <p:sp>
        <p:nvSpPr>
          <p:cNvPr id="16" name="p3-header-5">
            <a:extLst xmlns:a="http://schemas.openxmlformats.org/drawingml/2006/main">
              <a:ext uri="{FF2B5EF4-FFF2-40B4-BE49-F238E27FC236}">
                <a16:creationId xmlns:a16="http://schemas.microsoft.com/office/drawing/2014/main" id="{A1978F96-B02D-48FC-9315-B74DDC389C30}"/>
              </a:ext>
            </a:extLst>
          </p:cNvPr>
          <p:cNvSpPr>
            <a:spLocks xmlns:a="http://schemas.openxmlformats.org/drawingml/2006/main" noGrp="1"/>
          </p:cNvSpPr>
          <p:nvPr/>
        </p:nvSpPr>
        <p:spPr>
          <a:xfrm xmlns:a="http://schemas.openxmlformats.org/drawingml/2006/main">
            <a:off x="9711690" y="1590675"/>
            <a:ext cx="2480310" cy="5267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NVIDIA Cosmos 3</a:t>
            </a:r>
          </a:p>
        </p:txBody>
      </p:sp>
      <p:sp>
        <p:nvSpPr>
          <p:cNvPr id="17" name="p3-row-bg-0">
            <a:extLst xmlns:a="http://schemas.openxmlformats.org/drawingml/2006/main">
              <a:ext uri="{FF2B5EF4-FFF2-40B4-BE49-F238E27FC236}">
                <a16:creationId xmlns:a16="http://schemas.microsoft.com/office/drawing/2014/main" id="{A2252C82-587B-4ED5-9E48-8CFEB1DAFA14}"/>
              </a:ext>
            </a:extLst>
          </p:cNvPr>
          <p:cNvSpPr>
            <a:spLocks xmlns:a="http://schemas.openxmlformats.org/drawingml/2006/main" noGrp="1"/>
          </p:cNvSpPr>
          <p:nvPr/>
        </p:nvSpPr>
        <p:spPr>
          <a:xfrm xmlns:a="http://schemas.openxmlformats.org/drawingml/2006/main">
            <a:off x="609600" y="1905000"/>
            <a:ext cx="10972800" cy="1047750"/>
          </a:xfrm>
          <a:prstGeom xmlns:a="http://schemas.openxmlformats.org/drawingml/2006/main" prst="rect">
            <a:avLst/>
          </a:prstGeom>
          <a:solidFill xmlns:a="http://schemas.openxmlformats.org/drawingml/2006/main">
            <a:srgbClr val="FCFAF6"/>
          </a:solidFill>
        </p:spPr>
      </p:sp>
      <p:sp>
        <p:nvSpPr>
          <p:cNvPr id="18" name="p3-rowhead-0">
            <a:extLst xmlns:a="http://schemas.openxmlformats.org/drawingml/2006/main">
              <a:ext uri="{FF2B5EF4-FFF2-40B4-BE49-F238E27FC236}">
                <a16:creationId xmlns:a16="http://schemas.microsoft.com/office/drawing/2014/main" id="{949E9F3A-AD42-4421-81F6-39FC738816B7}"/>
              </a:ext>
            </a:extLst>
          </p:cNvPr>
          <p:cNvSpPr>
            <a:spLocks xmlns:a="http://schemas.openxmlformats.org/drawingml/2006/main" noGrp="1"/>
          </p:cNvSpPr>
          <p:nvPr/>
        </p:nvSpPr>
        <p:spPr>
          <a:xfrm xmlns:a="http://schemas.openxmlformats.org/drawingml/2006/main">
            <a:off x="685800" y="1981200"/>
            <a:ext cx="11506200" cy="487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技术证据</a:t>
            </a:r>
          </a:p>
        </p:txBody>
      </p:sp>
      <p:sp>
        <p:nvSpPr>
          <p:cNvPr id="19" name="p3-cell-0-0">
            <a:extLst xmlns:a="http://schemas.openxmlformats.org/drawingml/2006/main">
              <a:ext uri="{FF2B5EF4-FFF2-40B4-BE49-F238E27FC236}">
                <a16:creationId xmlns:a16="http://schemas.microsoft.com/office/drawing/2014/main" id="{6333D71B-BF7F-4C02-B5DD-F2C786E3E8D1}"/>
              </a:ext>
            </a:extLst>
          </p:cNvPr>
          <p:cNvSpPr>
            <a:spLocks xmlns:a="http://schemas.openxmlformats.org/drawingml/2006/main" noGrp="1"/>
          </p:cNvSpPr>
          <p:nvPr/>
        </p:nvSpPr>
        <p:spPr>
          <a:xfrm xmlns:a="http://schemas.openxmlformats.org/drawingml/2006/main">
            <a:off x="1924050" y="1981200"/>
            <a:ext cx="10267950" cy="487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位姿条件导航与
空间记忆；动态物体
仍待证</a:t>
            </a:r>
          </a:p>
        </p:txBody>
      </p:sp>
      <p:sp>
        <p:nvSpPr>
          <p:cNvPr id="20" name="p3-cell-0-1">
            <a:extLst xmlns:a="http://schemas.openxmlformats.org/drawingml/2006/main">
              <a:ext uri="{FF2B5EF4-FFF2-40B4-BE49-F238E27FC236}">
                <a16:creationId xmlns:a16="http://schemas.microsoft.com/office/drawing/2014/main" id="{0DE0E593-CC2B-43BD-B50B-73665E8F59B2}"/>
              </a:ext>
            </a:extLst>
          </p:cNvPr>
          <p:cNvSpPr>
            <a:spLocks xmlns:a="http://schemas.openxmlformats.org/drawingml/2006/main" noGrp="1"/>
          </p:cNvSpPr>
          <p:nvPr/>
        </p:nvSpPr>
        <p:spPr>
          <a:xfrm xmlns:a="http://schemas.openxmlformats.org/drawingml/2006/main">
            <a:off x="3870960" y="1981200"/>
            <a:ext cx="8321040" cy="487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历史帧和动作条件
未来；长时稳定性
未独立验证</a:t>
            </a:r>
          </a:p>
        </p:txBody>
      </p:sp>
      <p:sp>
        <p:nvSpPr>
          <p:cNvPr id="21" name="p3-cell-0-2">
            <a:extLst xmlns:a="http://schemas.openxmlformats.org/drawingml/2006/main">
              <a:ext uri="{FF2B5EF4-FFF2-40B4-BE49-F238E27FC236}">
                <a16:creationId xmlns:a16="http://schemas.microsoft.com/office/drawing/2014/main" id="{0EC2C1E9-F15E-4F75-AB1B-9BA20AF53685}"/>
              </a:ext>
            </a:extLst>
          </p:cNvPr>
          <p:cNvSpPr>
            <a:spLocks xmlns:a="http://schemas.openxmlformats.org/drawingml/2006/main" noGrp="1"/>
          </p:cNvSpPr>
          <p:nvPr/>
        </p:nvSpPr>
        <p:spPr>
          <a:xfrm xmlns:a="http://schemas.openxmlformats.org/drawingml/2006/main">
            <a:off x="5817870" y="1981200"/>
            <a:ext cx="6374130" cy="487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Worlds 支持导航
条件未来；Robotics
证据单列</a:t>
            </a:r>
          </a:p>
        </p:txBody>
      </p:sp>
      <p:sp>
        <p:nvSpPr>
          <p:cNvPr id="22" name="p3-cell-0-3">
            <a:extLst xmlns:a="http://schemas.openxmlformats.org/drawingml/2006/main">
              <a:ext uri="{FF2B5EF4-FFF2-40B4-BE49-F238E27FC236}">
                <a16:creationId xmlns:a16="http://schemas.microsoft.com/office/drawing/2014/main" id="{D31E2375-2FC3-4956-B91D-28AA5D19CCD6}"/>
              </a:ext>
            </a:extLst>
          </p:cNvPr>
          <p:cNvSpPr>
            <a:spLocks xmlns:a="http://schemas.openxmlformats.org/drawingml/2006/main" noGrp="1"/>
          </p:cNvSpPr>
          <p:nvPr/>
        </p:nvSpPr>
        <p:spPr>
          <a:xfrm xmlns:a="http://schemas.openxmlformats.org/drawingml/2006/main">
            <a:off x="7764780" y="1981200"/>
            <a:ext cx="4427220" cy="487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油门/转向驱动
三向后续视图；
动作域较窄</a:t>
            </a:r>
          </a:p>
        </p:txBody>
      </p:sp>
      <p:sp>
        <p:nvSpPr>
          <p:cNvPr id="23" name="p3-cell-0-4">
            <a:extLst xmlns:a="http://schemas.openxmlformats.org/drawingml/2006/main">
              <a:ext uri="{FF2B5EF4-FFF2-40B4-BE49-F238E27FC236}">
                <a16:creationId xmlns:a16="http://schemas.microsoft.com/office/drawing/2014/main" id="{24671966-99B8-4EAF-87C9-9051CA9E36BD}"/>
              </a:ext>
            </a:extLst>
          </p:cNvPr>
          <p:cNvSpPr>
            <a:spLocks xmlns:a="http://schemas.openxmlformats.org/drawingml/2006/main" noGrp="1"/>
          </p:cNvSpPr>
          <p:nvPr/>
        </p:nvSpPr>
        <p:spPr>
          <a:xfrm xmlns:a="http://schemas.openxmlformats.org/drawingml/2006/main">
            <a:off x="9711690" y="1981200"/>
            <a:ext cx="2480310" cy="4876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动作条件前向预测；
漂移、几何和碰撞
仍有限</a:t>
            </a:r>
          </a:p>
        </p:txBody>
      </p:sp>
      <p:sp>
        <p:nvSpPr>
          <p:cNvPr id="24" name="p3-row-bg-1">
            <a:extLst xmlns:a="http://schemas.openxmlformats.org/drawingml/2006/main">
              <a:ext uri="{FF2B5EF4-FFF2-40B4-BE49-F238E27FC236}">
                <a16:creationId xmlns:a16="http://schemas.microsoft.com/office/drawing/2014/main" id="{213EBE7F-0EF8-4421-9DF6-DCA830E38D70}"/>
              </a:ext>
            </a:extLst>
          </p:cNvPr>
          <p:cNvSpPr>
            <a:spLocks xmlns:a="http://schemas.openxmlformats.org/drawingml/2006/main" noGrp="1"/>
          </p:cNvSpPr>
          <p:nvPr/>
        </p:nvSpPr>
        <p:spPr>
          <a:xfrm xmlns:a="http://schemas.openxmlformats.org/drawingml/2006/main">
            <a:off x="609600" y="2952750"/>
            <a:ext cx="10972800" cy="1238250"/>
          </a:xfrm>
          <a:prstGeom xmlns:a="http://schemas.openxmlformats.org/drawingml/2006/main" prst="rect">
            <a:avLst/>
          </a:prstGeom>
          <a:solidFill xmlns:a="http://schemas.openxmlformats.org/drawingml/2006/main">
            <a:srgbClr val="F2EDE6"/>
          </a:solidFill>
        </p:spPr>
      </p:sp>
      <p:sp>
        <p:nvSpPr>
          <p:cNvPr id="25" name="p3-rowhead-1">
            <a:extLst xmlns:a="http://schemas.openxmlformats.org/drawingml/2006/main">
              <a:ext uri="{FF2B5EF4-FFF2-40B4-BE49-F238E27FC236}">
                <a16:creationId xmlns:a16="http://schemas.microsoft.com/office/drawing/2014/main" id="{69C59EEC-4421-4D2B-95EC-08AF3A20311A}"/>
              </a:ext>
            </a:extLst>
          </p:cNvPr>
          <p:cNvSpPr>
            <a:spLocks xmlns:a="http://schemas.openxmlformats.org/drawingml/2006/main" noGrp="1"/>
          </p:cNvSpPr>
          <p:nvPr/>
        </p:nvSpPr>
        <p:spPr>
          <a:xfrm xmlns:a="http://schemas.openxmlformats.org/drawingml/2006/main">
            <a:off x="685800" y="3028950"/>
            <a:ext cx="11506200" cy="3829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外部
可获得性</a:t>
            </a:r>
          </a:p>
        </p:txBody>
      </p:sp>
      <p:sp>
        <p:nvSpPr>
          <p:cNvPr id="26" name="p3-cell-1-0">
            <a:extLst xmlns:a="http://schemas.openxmlformats.org/drawingml/2006/main">
              <a:ext uri="{FF2B5EF4-FFF2-40B4-BE49-F238E27FC236}">
                <a16:creationId xmlns:a16="http://schemas.microsoft.com/office/drawing/2014/main" id="{F2AD49D5-8975-499B-8575-D10DD94346C7}"/>
              </a:ext>
            </a:extLst>
          </p:cNvPr>
          <p:cNvSpPr>
            <a:spLocks xmlns:a="http://schemas.openxmlformats.org/drawingml/2006/main" noGrp="1"/>
          </p:cNvSpPr>
          <p:nvPr/>
        </p:nvSpPr>
        <p:spPr>
          <a:xfrm xmlns:a="http://schemas.openxmlformats.org/drawingml/2006/main">
            <a:off x="1924050" y="3028950"/>
            <a:ext cx="10267950" cy="3829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公开计价的
专有世界接口</a:t>
            </a:r>
          </a:p>
        </p:txBody>
      </p:sp>
      <p:sp>
        <p:nvSpPr>
          <p:cNvPr id="27" name="p3-cell-1-1">
            <a:extLst xmlns:a="http://schemas.openxmlformats.org/drawingml/2006/main">
              <a:ext uri="{FF2B5EF4-FFF2-40B4-BE49-F238E27FC236}">
                <a16:creationId xmlns:a16="http://schemas.microsoft.com/office/drawing/2014/main" id="{237930E0-6FD2-4DC5-888D-35009D711054}"/>
              </a:ext>
            </a:extLst>
          </p:cNvPr>
          <p:cNvSpPr>
            <a:spLocks xmlns:a="http://schemas.openxmlformats.org/drawingml/2006/main" noGrp="1"/>
          </p:cNvSpPr>
          <p:nvPr/>
        </p:nvSpPr>
        <p:spPr>
          <a:xfrm xmlns:a="http://schemas.openxmlformats.org/drawingml/2006/main">
            <a:off x="3870960" y="3028950"/>
            <a:ext cx="8321040" cy="3829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厂商文档化
原型接口；实际账户
未确认</a:t>
            </a:r>
          </a:p>
        </p:txBody>
      </p:sp>
      <p:sp>
        <p:nvSpPr>
          <p:cNvPr id="28" name="p3-cell-1-2">
            <a:extLst xmlns:a="http://schemas.openxmlformats.org/drawingml/2006/main">
              <a:ext uri="{FF2B5EF4-FFF2-40B4-BE49-F238E27FC236}">
                <a16:creationId xmlns:a16="http://schemas.microsoft.com/office/drawing/2014/main" id="{E309A9F4-175A-4A48-BC00-804BD2E59005}"/>
              </a:ext>
            </a:extLst>
          </p:cNvPr>
          <p:cNvSpPr>
            <a:spLocks xmlns:a="http://schemas.openxmlformats.org/drawingml/2006/main" noGrp="1"/>
          </p:cNvSpPr>
          <p:nvPr/>
        </p:nvSpPr>
        <p:spPr>
          <a:xfrm xmlns:a="http://schemas.openxmlformats.org/drawingml/2006/main">
            <a:off x="5817870" y="3028950"/>
            <a:ext cx="6374130" cy="3829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Worlds 申请制；
Robotics 需洽谈</a:t>
            </a:r>
          </a:p>
        </p:txBody>
      </p:sp>
      <p:sp>
        <p:nvSpPr>
          <p:cNvPr id="29" name="p3-cell-1-3">
            <a:extLst xmlns:a="http://schemas.openxmlformats.org/drawingml/2006/main">
              <a:ext uri="{FF2B5EF4-FFF2-40B4-BE49-F238E27FC236}">
                <a16:creationId xmlns:a16="http://schemas.microsoft.com/office/drawing/2014/main" id="{7A1209D2-A3DA-4DA8-9AE3-7E0D60EFAFCB}"/>
              </a:ext>
            </a:extLst>
          </p:cNvPr>
          <p:cNvSpPr>
            <a:spLocks xmlns:a="http://schemas.openxmlformats.org/drawingml/2006/main" noGrp="1"/>
          </p:cNvSpPr>
          <p:nvPr/>
        </p:nvSpPr>
        <p:spPr>
          <a:xfrm xmlns:a="http://schemas.openxmlformats.org/drawingml/2006/main">
            <a:off x="7764780" y="3028950"/>
            <a:ext cx="4427220" cy="3829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公开账户、按秒
计费的预览接口</a:t>
            </a:r>
          </a:p>
        </p:txBody>
      </p:sp>
      <p:sp>
        <p:nvSpPr>
          <p:cNvPr id="30" name="p3-cell-1-4">
            <a:extLst xmlns:a="http://schemas.openxmlformats.org/drawingml/2006/main">
              <a:ext uri="{FF2B5EF4-FFF2-40B4-BE49-F238E27FC236}">
                <a16:creationId xmlns:a16="http://schemas.microsoft.com/office/drawing/2014/main" id="{4512DC91-749E-48F6-A50A-41F0460C19B7}"/>
              </a:ext>
            </a:extLst>
          </p:cNvPr>
          <p:cNvSpPr>
            <a:spLocks xmlns:a="http://schemas.openxmlformats.org/drawingml/2006/main" noGrp="1"/>
          </p:cNvSpPr>
          <p:nvPr/>
        </p:nvSpPr>
        <p:spPr>
          <a:xfrm xmlns:a="http://schemas.openxmlformats.org/drawingml/2006/main">
            <a:off x="9711690" y="3028950"/>
            <a:ext cx="2480310" cy="3829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模型材料可下载
并可自托管；
Generator NIM 1.0.0
只含文生/图生视频</a:t>
            </a:r>
          </a:p>
        </p:txBody>
      </p:sp>
      <p:sp>
        <p:nvSpPr>
          <p:cNvPr id="31" name="p3-row-bg-2">
            <a:extLst xmlns:a="http://schemas.openxmlformats.org/drawingml/2006/main">
              <a:ext uri="{FF2B5EF4-FFF2-40B4-BE49-F238E27FC236}">
                <a16:creationId xmlns:a16="http://schemas.microsoft.com/office/drawing/2014/main" id="{CC7AD5DE-B830-40EF-B7DE-BD6ED9F7D9F7}"/>
              </a:ext>
            </a:extLst>
          </p:cNvPr>
          <p:cNvSpPr>
            <a:spLocks xmlns:a="http://schemas.openxmlformats.org/drawingml/2006/main" noGrp="1"/>
          </p:cNvSpPr>
          <p:nvPr/>
        </p:nvSpPr>
        <p:spPr>
          <a:xfrm xmlns:a="http://schemas.openxmlformats.org/drawingml/2006/main">
            <a:off x="609600" y="4191000"/>
            <a:ext cx="10972800" cy="1219200"/>
          </a:xfrm>
          <a:prstGeom xmlns:a="http://schemas.openxmlformats.org/drawingml/2006/main" prst="rect">
            <a:avLst/>
          </a:prstGeom>
          <a:solidFill xmlns:a="http://schemas.openxmlformats.org/drawingml/2006/main">
            <a:srgbClr val="FCFAF6"/>
          </a:solidFill>
        </p:spPr>
      </p:sp>
      <p:sp>
        <p:nvSpPr>
          <p:cNvPr id="32" name="p3-rowhead-2">
            <a:extLst xmlns:a="http://schemas.openxmlformats.org/drawingml/2006/main">
              <a:ext uri="{FF2B5EF4-FFF2-40B4-BE49-F238E27FC236}">
                <a16:creationId xmlns:a16="http://schemas.microsoft.com/office/drawing/2014/main" id="{483EB3B4-D80B-49CB-BC2D-A835B66A098C}"/>
              </a:ext>
            </a:extLst>
          </p:cNvPr>
          <p:cNvSpPr>
            <a:spLocks xmlns:a="http://schemas.openxmlformats.org/drawingml/2006/main" noGrp="1"/>
          </p:cNvSpPr>
          <p:nvPr/>
        </p:nvSpPr>
        <p:spPr>
          <a:xfrm xmlns:a="http://schemas.openxmlformats.org/drawingml/2006/main">
            <a:off x="685800" y="4267200"/>
            <a:ext cx="11506200" cy="2590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商业采用
上限</a:t>
            </a:r>
          </a:p>
        </p:txBody>
      </p:sp>
      <p:sp>
        <p:nvSpPr>
          <p:cNvPr id="33" name="p3-cell-2-0">
            <a:extLst xmlns:a="http://schemas.openxmlformats.org/drawingml/2006/main">
              <a:ext uri="{FF2B5EF4-FFF2-40B4-BE49-F238E27FC236}">
                <a16:creationId xmlns:a16="http://schemas.microsoft.com/office/drawing/2014/main" id="{4BFA0660-A748-4BED-9611-453CD58E909A}"/>
              </a:ext>
            </a:extLst>
          </p:cNvPr>
          <p:cNvSpPr>
            <a:spLocks xmlns:a="http://schemas.openxmlformats.org/drawingml/2006/main" noGrp="1"/>
          </p:cNvSpPr>
          <p:nvPr/>
        </p:nvSpPr>
        <p:spPr>
          <a:xfrm xmlns:a="http://schemas.openxmlformats.org/drawingml/2006/main">
            <a:off x="1924050" y="4267200"/>
            <a:ext cx="10267950" cy="2590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供应商托管原型；
无客户第一方
生产证据</a:t>
            </a:r>
          </a:p>
        </p:txBody>
      </p:sp>
      <p:sp>
        <p:nvSpPr>
          <p:cNvPr id="34" name="p3-cell-2-1">
            <a:extLst xmlns:a="http://schemas.openxmlformats.org/drawingml/2006/main">
              <a:ext uri="{FF2B5EF4-FFF2-40B4-BE49-F238E27FC236}">
                <a16:creationId xmlns:a16="http://schemas.microsoft.com/office/drawing/2014/main" id="{E996D0B6-D5A4-403A-9A42-844A8394D555}"/>
              </a:ext>
            </a:extLst>
          </p:cNvPr>
          <p:cNvSpPr>
            <a:spLocks xmlns:a="http://schemas.openxmlformats.org/drawingml/2006/main" noGrp="1"/>
          </p:cNvSpPr>
          <p:nvPr/>
        </p:nvSpPr>
        <p:spPr>
          <a:xfrm xmlns:a="http://schemas.openxmlformats.org/drawingml/2006/main">
            <a:off x="3870960" y="4267200"/>
            <a:ext cx="8321040" cy="2590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合同框架与
自报云合作；
无具名采用证据</a:t>
            </a:r>
          </a:p>
        </p:txBody>
      </p:sp>
      <p:sp>
        <p:nvSpPr>
          <p:cNvPr id="35" name="p3-cell-2-2">
            <a:extLst xmlns:a="http://schemas.openxmlformats.org/drawingml/2006/main">
              <a:ext uri="{FF2B5EF4-FFF2-40B4-BE49-F238E27FC236}">
                <a16:creationId xmlns:a16="http://schemas.microsoft.com/office/drawing/2014/main" id="{4BB022F3-304C-49FC-80E9-E92F680C5604}"/>
              </a:ext>
            </a:extLst>
          </p:cNvPr>
          <p:cNvSpPr>
            <a:spLocks xmlns:a="http://schemas.openxmlformats.org/drawingml/2006/main" noGrp="1"/>
          </p:cNvSpPr>
          <p:nvPr/>
        </p:nvSpPr>
        <p:spPr>
          <a:xfrm xmlns:a="http://schemas.openxmlformats.org/drawingml/2006/main">
            <a:off x="5817870" y="4267200"/>
            <a:ext cx="6374130" cy="2590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公司自报合作；
无伙伴侧
部署证据</a:t>
            </a:r>
          </a:p>
        </p:txBody>
      </p:sp>
      <p:sp>
        <p:nvSpPr>
          <p:cNvPr id="36" name="p3-cell-2-3">
            <a:extLst xmlns:a="http://schemas.openxmlformats.org/drawingml/2006/main">
              <a:ext uri="{FF2B5EF4-FFF2-40B4-BE49-F238E27FC236}">
                <a16:creationId xmlns:a16="http://schemas.microsoft.com/office/drawing/2014/main" id="{C57E59EE-D2A2-4A4C-B04D-06C9FCA69E7A}"/>
              </a:ext>
            </a:extLst>
          </p:cNvPr>
          <p:cNvSpPr>
            <a:spLocks xmlns:a="http://schemas.openxmlformats.org/drawingml/2006/main" noGrp="1"/>
          </p:cNvSpPr>
          <p:nvPr/>
        </p:nvSpPr>
        <p:spPr>
          <a:xfrm xmlns:a="http://schemas.openxmlformats.org/drawingml/2006/main">
            <a:off x="7764780" y="4267200"/>
            <a:ext cx="4427220" cy="2590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有价格与独立体验；
无付费客户或
生产证据</a:t>
            </a:r>
          </a:p>
        </p:txBody>
      </p:sp>
      <p:sp>
        <p:nvSpPr>
          <p:cNvPr id="37" name="p3-cell-2-4">
            <a:extLst xmlns:a="http://schemas.openxmlformats.org/drawingml/2006/main">
              <a:ext uri="{FF2B5EF4-FFF2-40B4-BE49-F238E27FC236}">
                <a16:creationId xmlns:a16="http://schemas.microsoft.com/office/drawing/2014/main" id="{9AF532E9-60B7-4CD0-93CF-CDDBC0B5F433}"/>
              </a:ext>
            </a:extLst>
          </p:cNvPr>
          <p:cNvSpPr>
            <a:spLocks xmlns:a="http://schemas.openxmlformats.org/drawingml/2006/main" noGrp="1"/>
          </p:cNvSpPr>
          <p:nvPr/>
        </p:nvSpPr>
        <p:spPr>
          <a:xfrm xmlns:a="http://schemas.openxmlformats.org/drawingml/2006/main">
            <a:off x="9711690" y="4267200"/>
            <a:ext cx="2480310" cy="2590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伙伴自报早期测试 /
内部部署；无客户
第一方付费生产证据</a:t>
            </a:r>
          </a:p>
        </p:txBody>
      </p:sp>
      <p:sp>
        <p:nvSpPr>
          <p:cNvPr id="38" name="p3-row-bg-3">
            <a:extLst xmlns:a="http://schemas.openxmlformats.org/drawingml/2006/main">
              <a:ext uri="{FF2B5EF4-FFF2-40B4-BE49-F238E27FC236}">
                <a16:creationId xmlns:a16="http://schemas.microsoft.com/office/drawing/2014/main" id="{EAC7C86F-2C25-4114-87E0-774778F7C48B}"/>
              </a:ext>
            </a:extLst>
          </p:cNvPr>
          <p:cNvSpPr>
            <a:spLocks xmlns:a="http://schemas.openxmlformats.org/drawingml/2006/main" noGrp="1"/>
          </p:cNvSpPr>
          <p:nvPr/>
        </p:nvSpPr>
        <p:spPr>
          <a:xfrm xmlns:a="http://schemas.openxmlformats.org/drawingml/2006/main">
            <a:off x="609600" y="5410200"/>
            <a:ext cx="10972800" cy="857250"/>
          </a:xfrm>
          <a:prstGeom xmlns:a="http://schemas.openxmlformats.org/drawingml/2006/main" prst="rect">
            <a:avLst/>
          </a:prstGeom>
          <a:solidFill xmlns:a="http://schemas.openxmlformats.org/drawingml/2006/main">
            <a:srgbClr val="F2EDE6"/>
          </a:solidFill>
        </p:spPr>
      </p:sp>
      <p:sp>
        <p:nvSpPr>
          <p:cNvPr id="39" name="p3-rowhead-3">
            <a:extLst xmlns:a="http://schemas.openxmlformats.org/drawingml/2006/main">
              <a:ext uri="{FF2B5EF4-FFF2-40B4-BE49-F238E27FC236}">
                <a16:creationId xmlns:a16="http://schemas.microsoft.com/office/drawing/2014/main" id="{27D38440-DF34-43F8-8DEC-500A4FE84F48}"/>
              </a:ext>
            </a:extLst>
          </p:cNvPr>
          <p:cNvSpPr>
            <a:spLocks xmlns:a="http://schemas.openxmlformats.org/drawingml/2006/main" noGrp="1"/>
          </p:cNvSpPr>
          <p:nvPr/>
        </p:nvSpPr>
        <p:spPr>
          <a:xfrm xmlns:a="http://schemas.openxmlformats.org/drawingml/2006/main">
            <a:off x="685800" y="5486400"/>
            <a:ext cx="11506200" cy="1371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对 Manifold
的意义</a:t>
            </a:r>
          </a:p>
        </p:txBody>
      </p:sp>
      <p:sp>
        <p:nvSpPr>
          <p:cNvPr id="40" name="p3-cell-3-0">
            <a:extLst xmlns:a="http://schemas.openxmlformats.org/drawingml/2006/main">
              <a:ext uri="{FF2B5EF4-FFF2-40B4-BE49-F238E27FC236}">
                <a16:creationId xmlns:a16="http://schemas.microsoft.com/office/drawing/2014/main" id="{8CCC2E3E-8E41-46CC-9E1E-5ADC2828877C}"/>
              </a:ext>
            </a:extLst>
          </p:cNvPr>
          <p:cNvSpPr>
            <a:spLocks xmlns:a="http://schemas.openxmlformats.org/drawingml/2006/main" noGrp="1"/>
          </p:cNvSpPr>
          <p:nvPr/>
        </p:nvSpPr>
        <p:spPr>
          <a:xfrm xmlns:a="http://schemas.openxmlformats.org/drawingml/2006/main">
            <a:off x="1924050" y="5486400"/>
            <a:ext cx="10267950" cy="1371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空间世界接口可能
绕行生成与交付</a:t>
            </a:r>
          </a:p>
        </p:txBody>
      </p:sp>
      <p:sp>
        <p:nvSpPr>
          <p:cNvPr id="41" name="p3-cell-3-1">
            <a:extLst xmlns:a="http://schemas.openxmlformats.org/drawingml/2006/main">
              <a:ext uri="{FF2B5EF4-FFF2-40B4-BE49-F238E27FC236}">
                <a16:creationId xmlns:a16="http://schemas.microsoft.com/office/drawing/2014/main" id="{02AF6660-9B1E-42AD-A096-8899D0A0AC62}"/>
              </a:ext>
            </a:extLst>
          </p:cNvPr>
          <p:cNvSpPr>
            <a:spLocks xmlns:a="http://schemas.openxmlformats.org/drawingml/2006/main" noGrp="1"/>
          </p:cNvSpPr>
          <p:nvPr/>
        </p:nvSpPr>
        <p:spPr>
          <a:xfrm xmlns:a="http://schemas.openxmlformats.org/drawingml/2006/main">
            <a:off x="3870960" y="5486400"/>
            <a:ext cx="8321040" cy="1371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若接口稳定，可成为
实时世界流基础设施</a:t>
            </a:r>
          </a:p>
        </p:txBody>
      </p:sp>
      <p:sp>
        <p:nvSpPr>
          <p:cNvPr id="42" name="p3-cell-3-2">
            <a:extLst xmlns:a="http://schemas.openxmlformats.org/drawingml/2006/main">
              <a:ext uri="{FF2B5EF4-FFF2-40B4-BE49-F238E27FC236}">
                <a16:creationId xmlns:a16="http://schemas.microsoft.com/office/drawing/2014/main" id="{7D2CA647-82AF-44AC-94F0-5DEDE8B502C6}"/>
              </a:ext>
            </a:extLst>
          </p:cNvPr>
          <p:cNvSpPr>
            <a:spLocks xmlns:a="http://schemas.openxmlformats.org/drawingml/2006/main" noGrp="1"/>
          </p:cNvSpPr>
          <p:nvPr/>
        </p:nvSpPr>
        <p:spPr>
          <a:xfrm xmlns:a="http://schemas.openxmlformats.org/drawingml/2006/main">
            <a:off x="5817870" y="5486400"/>
            <a:ext cx="6374130" cy="1371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内容平台向可探索
世界和机器人应用延伸</a:t>
            </a:r>
          </a:p>
        </p:txBody>
      </p:sp>
      <p:sp>
        <p:nvSpPr>
          <p:cNvPr id="43" name="p3-cell-3-3">
            <a:extLst xmlns:a="http://schemas.openxmlformats.org/drawingml/2006/main">
              <a:ext uri="{FF2B5EF4-FFF2-40B4-BE49-F238E27FC236}">
                <a16:creationId xmlns:a16="http://schemas.microsoft.com/office/drawing/2014/main" id="{F39AEC72-4B9C-4095-BCDA-A2AD280C1E43}"/>
              </a:ext>
            </a:extLst>
          </p:cNvPr>
          <p:cNvSpPr>
            <a:spLocks xmlns:a="http://schemas.openxmlformats.org/drawingml/2006/main" noGrp="1"/>
          </p:cNvSpPr>
          <p:nvPr/>
        </p:nvSpPr>
        <p:spPr>
          <a:xfrm xmlns:a="http://schemas.openxmlformats.org/drawingml/2006/main">
            <a:off x="7764780" y="5486400"/>
            <a:ext cx="4427220" cy="1371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可计费驾驶接口把
竞争推向具体任务</a:t>
            </a:r>
          </a:p>
        </p:txBody>
      </p:sp>
      <p:sp>
        <p:nvSpPr>
          <p:cNvPr id="44" name="p3-cell-3-4">
            <a:extLst xmlns:a="http://schemas.openxmlformats.org/drawingml/2006/main">
              <a:ext uri="{FF2B5EF4-FFF2-40B4-BE49-F238E27FC236}">
                <a16:creationId xmlns:a16="http://schemas.microsoft.com/office/drawing/2014/main" id="{54278A09-28F1-45CE-8FB4-83143D943330}"/>
              </a:ext>
            </a:extLst>
          </p:cNvPr>
          <p:cNvSpPr>
            <a:spLocks xmlns:a="http://schemas.openxmlformats.org/drawingml/2006/main" noGrp="1"/>
          </p:cNvSpPr>
          <p:nvPr/>
        </p:nvSpPr>
        <p:spPr>
          <a:xfrm xmlns:a="http://schemas.openxmlformats.org/drawingml/2006/main">
            <a:off x="9711690" y="5486400"/>
            <a:ext cx="2480310" cy="1371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自托管组件可绕行
供应商，也可成为底层</a:t>
            </a:r>
          </a:p>
        </p:txBody>
      </p:sp>
      <p:sp>
        <p:nvSpPr>
          <p:cNvPr id="45" name="p3-h-0">
            <a:extLst xmlns:a="http://schemas.openxmlformats.org/drawingml/2006/main">
              <a:ext uri="{FF2B5EF4-FFF2-40B4-BE49-F238E27FC236}">
                <a16:creationId xmlns:a16="http://schemas.microsoft.com/office/drawing/2014/main" id="{985A79D2-27FB-44C7-B75D-5BF658EC023D}"/>
              </a:ext>
            </a:extLst>
          </p:cNvPr>
          <p:cNvSpPr>
            <a:spLocks xmlns:a="http://schemas.openxmlformats.org/drawingml/2006/main" noGrp="1"/>
          </p:cNvSpPr>
          <p:nvPr/>
        </p:nvSpPr>
        <p:spPr>
          <a:xfrm xmlns:a="http://schemas.openxmlformats.org/drawingml/2006/main">
            <a:off x="609600" y="1905000"/>
            <a:ext cx="10972800" cy="9525"/>
          </a:xfrm>
          <a:prstGeom xmlns:a="http://schemas.openxmlformats.org/drawingml/2006/main" prst="rect">
            <a:avLst/>
          </a:prstGeom>
          <a:solidFill xmlns:a="http://schemas.openxmlformats.org/drawingml/2006/main">
            <a:srgbClr val="BDB4AA"/>
          </a:solidFill>
        </p:spPr>
      </p:sp>
      <p:sp>
        <p:nvSpPr>
          <p:cNvPr id="46" name="p3-h-1">
            <a:extLst xmlns:a="http://schemas.openxmlformats.org/drawingml/2006/main">
              <a:ext uri="{FF2B5EF4-FFF2-40B4-BE49-F238E27FC236}">
                <a16:creationId xmlns:a16="http://schemas.microsoft.com/office/drawing/2014/main" id="{8B17FA28-CFA7-4E33-9F62-64353EB5585C}"/>
              </a:ext>
            </a:extLst>
          </p:cNvPr>
          <p:cNvSpPr>
            <a:spLocks xmlns:a="http://schemas.openxmlformats.org/drawingml/2006/main" noGrp="1"/>
          </p:cNvSpPr>
          <p:nvPr/>
        </p:nvSpPr>
        <p:spPr>
          <a:xfrm xmlns:a="http://schemas.openxmlformats.org/drawingml/2006/main">
            <a:off x="609600" y="2952750"/>
            <a:ext cx="10972800" cy="9525"/>
          </a:xfrm>
          <a:prstGeom xmlns:a="http://schemas.openxmlformats.org/drawingml/2006/main" prst="rect">
            <a:avLst/>
          </a:prstGeom>
          <a:solidFill xmlns:a="http://schemas.openxmlformats.org/drawingml/2006/main">
            <a:srgbClr val="BDB4AA"/>
          </a:solidFill>
        </p:spPr>
      </p:sp>
      <p:sp>
        <p:nvSpPr>
          <p:cNvPr id="47" name="p3-h-2">
            <a:extLst xmlns:a="http://schemas.openxmlformats.org/drawingml/2006/main">
              <a:ext uri="{FF2B5EF4-FFF2-40B4-BE49-F238E27FC236}">
                <a16:creationId xmlns:a16="http://schemas.microsoft.com/office/drawing/2014/main" id="{A7053744-2B9D-4E08-AD0C-FD008CC2542F}"/>
              </a:ext>
            </a:extLst>
          </p:cNvPr>
          <p:cNvSpPr>
            <a:spLocks xmlns:a="http://schemas.openxmlformats.org/drawingml/2006/main" noGrp="1"/>
          </p:cNvSpPr>
          <p:nvPr/>
        </p:nvSpPr>
        <p:spPr>
          <a:xfrm xmlns:a="http://schemas.openxmlformats.org/drawingml/2006/main">
            <a:off x="609600" y="4191000"/>
            <a:ext cx="10972800" cy="9525"/>
          </a:xfrm>
          <a:prstGeom xmlns:a="http://schemas.openxmlformats.org/drawingml/2006/main" prst="rect">
            <a:avLst/>
          </a:prstGeom>
          <a:solidFill xmlns:a="http://schemas.openxmlformats.org/drawingml/2006/main">
            <a:srgbClr val="BDB4AA"/>
          </a:solidFill>
        </p:spPr>
      </p:sp>
      <p:sp>
        <p:nvSpPr>
          <p:cNvPr id="48" name="p3-h-3">
            <a:extLst xmlns:a="http://schemas.openxmlformats.org/drawingml/2006/main">
              <a:ext uri="{FF2B5EF4-FFF2-40B4-BE49-F238E27FC236}">
                <a16:creationId xmlns:a16="http://schemas.microsoft.com/office/drawing/2014/main" id="{87E25E51-E8C5-4E81-991A-AEDFDAC07BDE}"/>
              </a:ext>
            </a:extLst>
          </p:cNvPr>
          <p:cNvSpPr>
            <a:spLocks xmlns:a="http://schemas.openxmlformats.org/drawingml/2006/main" noGrp="1"/>
          </p:cNvSpPr>
          <p:nvPr/>
        </p:nvSpPr>
        <p:spPr>
          <a:xfrm xmlns:a="http://schemas.openxmlformats.org/drawingml/2006/main">
            <a:off x="609600" y="5410200"/>
            <a:ext cx="10972800" cy="9525"/>
          </a:xfrm>
          <a:prstGeom xmlns:a="http://schemas.openxmlformats.org/drawingml/2006/main" prst="rect">
            <a:avLst/>
          </a:prstGeom>
          <a:solidFill xmlns:a="http://schemas.openxmlformats.org/drawingml/2006/main">
            <a:srgbClr val="BDB4AA"/>
          </a:solidFill>
        </p:spPr>
      </p:sp>
      <p:sp>
        <p:nvSpPr>
          <p:cNvPr id="49" name="p3-v-1">
            <a:extLst xmlns:a="http://schemas.openxmlformats.org/drawingml/2006/main">
              <a:ext uri="{FF2B5EF4-FFF2-40B4-BE49-F238E27FC236}">
                <a16:creationId xmlns:a16="http://schemas.microsoft.com/office/drawing/2014/main" id="{50581ED0-EF5E-4F6E-A277-5954D0250DA3}"/>
              </a:ext>
            </a:extLst>
          </p:cNvPr>
          <p:cNvSpPr>
            <a:spLocks xmlns:a="http://schemas.openxmlformats.org/drawingml/2006/main" noGrp="1"/>
          </p:cNvSpPr>
          <p:nvPr/>
        </p:nvSpPr>
        <p:spPr>
          <a:xfrm xmlns:a="http://schemas.openxmlformats.org/drawingml/2006/main">
            <a:off x="1847850" y="1428750"/>
            <a:ext cx="9525" cy="4838700"/>
          </a:xfrm>
          <a:prstGeom xmlns:a="http://schemas.openxmlformats.org/drawingml/2006/main" prst="rect">
            <a:avLst/>
          </a:prstGeom>
          <a:solidFill xmlns:a="http://schemas.openxmlformats.org/drawingml/2006/main">
            <a:srgbClr val="D8D0C6"/>
          </a:solidFill>
        </p:spPr>
      </p:sp>
      <p:sp>
        <p:nvSpPr>
          <p:cNvPr id="50" name="p3-v-2">
            <a:extLst xmlns:a="http://schemas.openxmlformats.org/drawingml/2006/main">
              <a:ext uri="{FF2B5EF4-FFF2-40B4-BE49-F238E27FC236}">
                <a16:creationId xmlns:a16="http://schemas.microsoft.com/office/drawing/2014/main" id="{DB8DC8B0-64EC-4E18-90E2-3B01E25C5CC9}"/>
              </a:ext>
            </a:extLst>
          </p:cNvPr>
          <p:cNvSpPr>
            <a:spLocks xmlns:a="http://schemas.openxmlformats.org/drawingml/2006/main" noGrp="1"/>
          </p:cNvSpPr>
          <p:nvPr/>
        </p:nvSpPr>
        <p:spPr>
          <a:xfrm xmlns:a="http://schemas.openxmlformats.org/drawingml/2006/main">
            <a:off x="3794760" y="1428750"/>
            <a:ext cx="9525" cy="4838700"/>
          </a:xfrm>
          <a:prstGeom xmlns:a="http://schemas.openxmlformats.org/drawingml/2006/main" prst="rect">
            <a:avLst/>
          </a:prstGeom>
          <a:solidFill xmlns:a="http://schemas.openxmlformats.org/drawingml/2006/main">
            <a:srgbClr val="D8D0C6"/>
          </a:solidFill>
        </p:spPr>
      </p:sp>
      <p:sp>
        <p:nvSpPr>
          <p:cNvPr id="51" name="p3-v-3">
            <a:extLst xmlns:a="http://schemas.openxmlformats.org/drawingml/2006/main">
              <a:ext uri="{FF2B5EF4-FFF2-40B4-BE49-F238E27FC236}">
                <a16:creationId xmlns:a16="http://schemas.microsoft.com/office/drawing/2014/main" id="{935E310F-E1DD-476F-882C-6C4D8728BFA9}"/>
              </a:ext>
            </a:extLst>
          </p:cNvPr>
          <p:cNvSpPr>
            <a:spLocks xmlns:a="http://schemas.openxmlformats.org/drawingml/2006/main" noGrp="1"/>
          </p:cNvSpPr>
          <p:nvPr/>
        </p:nvSpPr>
        <p:spPr>
          <a:xfrm xmlns:a="http://schemas.openxmlformats.org/drawingml/2006/main">
            <a:off x="5741670" y="1428750"/>
            <a:ext cx="9525" cy="4838700"/>
          </a:xfrm>
          <a:prstGeom xmlns:a="http://schemas.openxmlformats.org/drawingml/2006/main" prst="rect">
            <a:avLst/>
          </a:prstGeom>
          <a:solidFill xmlns:a="http://schemas.openxmlformats.org/drawingml/2006/main">
            <a:srgbClr val="D8D0C6"/>
          </a:solidFill>
        </p:spPr>
      </p:sp>
      <p:sp>
        <p:nvSpPr>
          <p:cNvPr id="52" name="p3-v-4">
            <a:extLst xmlns:a="http://schemas.openxmlformats.org/drawingml/2006/main">
              <a:ext uri="{FF2B5EF4-FFF2-40B4-BE49-F238E27FC236}">
                <a16:creationId xmlns:a16="http://schemas.microsoft.com/office/drawing/2014/main" id="{B79EDEEB-8444-4F91-8135-E60FFE0FE744}"/>
              </a:ext>
            </a:extLst>
          </p:cNvPr>
          <p:cNvSpPr>
            <a:spLocks xmlns:a="http://schemas.openxmlformats.org/drawingml/2006/main" noGrp="1"/>
          </p:cNvSpPr>
          <p:nvPr/>
        </p:nvSpPr>
        <p:spPr>
          <a:xfrm xmlns:a="http://schemas.openxmlformats.org/drawingml/2006/main">
            <a:off x="7688580" y="1428750"/>
            <a:ext cx="9525" cy="4838700"/>
          </a:xfrm>
          <a:prstGeom xmlns:a="http://schemas.openxmlformats.org/drawingml/2006/main" prst="rect">
            <a:avLst/>
          </a:prstGeom>
          <a:solidFill xmlns:a="http://schemas.openxmlformats.org/drawingml/2006/main">
            <a:srgbClr val="D8D0C6"/>
          </a:solidFill>
        </p:spPr>
      </p:sp>
      <p:sp>
        <p:nvSpPr>
          <p:cNvPr id="53" name="p3-v-5">
            <a:extLst xmlns:a="http://schemas.openxmlformats.org/drawingml/2006/main">
              <a:ext uri="{FF2B5EF4-FFF2-40B4-BE49-F238E27FC236}">
                <a16:creationId xmlns:a16="http://schemas.microsoft.com/office/drawing/2014/main" id="{36FA7EB6-537D-4B1E-9D57-4CF6E3C32613}"/>
              </a:ext>
            </a:extLst>
          </p:cNvPr>
          <p:cNvSpPr>
            <a:spLocks xmlns:a="http://schemas.openxmlformats.org/drawingml/2006/main" noGrp="1"/>
          </p:cNvSpPr>
          <p:nvPr/>
        </p:nvSpPr>
        <p:spPr>
          <a:xfrm xmlns:a="http://schemas.openxmlformats.org/drawingml/2006/main">
            <a:off x="9635490" y="1428750"/>
            <a:ext cx="9525" cy="4838700"/>
          </a:xfrm>
          <a:prstGeom xmlns:a="http://schemas.openxmlformats.org/drawingml/2006/main" prst="rect">
            <a:avLst/>
          </a:prstGeom>
          <a:solidFill xmlns:a="http://schemas.openxmlformats.org/drawingml/2006/main">
            <a:srgbClr val="D8D0C6"/>
          </a:solidFill>
        </p:spPr>
      </p:sp>
      <p:sp>
        <p:nvSpPr>
          <p:cNvPr id="54" name="p3-footer-rule">
            <a:extLst xmlns:a="http://schemas.openxmlformats.org/drawingml/2006/main">
              <a:ext uri="{FF2B5EF4-FFF2-40B4-BE49-F238E27FC236}">
                <a16:creationId xmlns:a16="http://schemas.microsoft.com/office/drawing/2014/main" id="{ACD1FED6-BE66-4323-BDA2-7CDAA55D411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55" name="p3-footer-source">
            <a:extLst xmlns:a="http://schemas.openxmlformats.org/drawingml/2006/main">
              <a:ext uri="{FF2B5EF4-FFF2-40B4-BE49-F238E27FC236}">
                <a16:creationId xmlns:a16="http://schemas.microsoft.com/office/drawing/2014/main" id="{3B71F91E-8D9E-46F3-8074-F39B7DBDE25B}"/>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来源：官方技术、产品、接入、价格和条款资料；公司/伙伴自报及独立体验</a:t>
            </a:r>
          </a:p>
        </p:txBody>
      </p:sp>
      <p:sp>
        <p:nvSpPr>
          <p:cNvPr id="56" name="p3-footer-page">
            <a:extLst xmlns:a="http://schemas.openxmlformats.org/drawingml/2006/main">
              <a:ext uri="{FF2B5EF4-FFF2-40B4-BE49-F238E27FC236}">
                <a16:creationId xmlns:a16="http://schemas.microsoft.com/office/drawing/2014/main" id="{452A522B-3DF4-4B25-A2F0-283DFFCC510E}"/>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03</a:t>
            </a:r>
          </a:p>
        </p:txBody>
      </p:sp>
    </p:spTree>
    <p:extLst>
      <p:ext uri="{BB962C8B-B14F-4D97-AF65-F5344CB8AC3E}">
        <p14:creationId xmlns:p14="http://schemas.microsoft.com/office/powerpoint/2010/main" val="614907003"/>
      </p:ext>
    </p:extLst>
  </p:cSld>
</p:sld>
</file>

<file path=ppt/slides/slide4.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4-identity">
            <a:extLst xmlns:a="http://schemas.openxmlformats.org/drawingml/2006/main">
              <a:ext uri="{FF2B5EF4-FFF2-40B4-BE49-F238E27FC236}">
                <a16:creationId xmlns:a16="http://schemas.microsoft.com/office/drawing/2014/main" id="{8880FBD3-C5A3-4D34-9316-CC6C03C7B263}"/>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创业公司 1/4 · WORLD LABS</a:t>
            </a:r>
          </a:p>
        </p:txBody>
      </p:sp>
      <p:sp>
        <p:nvSpPr>
          <p:cNvPr id="2" name="p4-title">
            <a:extLst xmlns:a="http://schemas.openxmlformats.org/drawingml/2006/main">
              <a:ext uri="{FF2B5EF4-FFF2-40B4-BE49-F238E27FC236}">
                <a16:creationId xmlns:a16="http://schemas.microsoft.com/office/drawing/2014/main" id="{8F60ABF3-60E0-4B51-9810-CF4C051BB893}"/>
              </a:ext>
            </a:extLst>
          </p:cNvPr>
          <p:cNvSpPr>
            <a:spLocks xmlns:a="http://schemas.openxmlformats.org/drawingml/2006/main" noGrp="1"/>
          </p:cNvSpPr>
          <p:nvPr/>
        </p:nvSpPr>
        <p:spPr>
          <a:xfrm xmlns:a="http://schemas.openxmlformats.org/drawingml/2006/main">
            <a:off x="609600" y="552450"/>
            <a:ext cx="11582400" cy="6305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空间世界接口已经开放，
但动态交互与客户采用仍待验证</a:t>
            </a:r>
          </a:p>
        </p:txBody>
      </p:sp>
      <p:sp>
        <p:nvSpPr>
          <p:cNvPr id="3" name="p4-route-line">
            <a:extLst xmlns:a="http://schemas.openxmlformats.org/drawingml/2006/main">
              <a:ext uri="{FF2B5EF4-FFF2-40B4-BE49-F238E27FC236}">
                <a16:creationId xmlns:a16="http://schemas.microsoft.com/office/drawing/2014/main" id="{C10F5CC1-EC64-4C7F-9BD0-0B80656BE8F7}"/>
              </a:ext>
            </a:extLst>
          </p:cNvPr>
          <p:cNvSpPr>
            <a:spLocks xmlns:a="http://schemas.openxmlformats.org/drawingml/2006/main" noGrp="1"/>
          </p:cNvSpPr>
          <p:nvPr/>
        </p:nvSpPr>
        <p:spPr>
          <a:xfrm xmlns:a="http://schemas.openxmlformats.org/drawingml/2006/main">
            <a:off x="609600" y="1752600"/>
            <a:ext cx="419100" cy="28575"/>
          </a:xfrm>
          <a:prstGeom xmlns:a="http://schemas.openxmlformats.org/drawingml/2006/main" prst="rect">
            <a:avLst/>
          </a:prstGeom>
          <a:solidFill xmlns:a="http://schemas.openxmlformats.org/drawingml/2006/main">
            <a:srgbClr val="C56B4D"/>
          </a:solidFill>
        </p:spPr>
      </p:sp>
      <p:sp>
        <p:nvSpPr>
          <p:cNvPr id="4" name="p4-route">
            <a:extLst xmlns:a="http://schemas.openxmlformats.org/drawingml/2006/main">
              <a:ext uri="{FF2B5EF4-FFF2-40B4-BE49-F238E27FC236}">
                <a16:creationId xmlns:a16="http://schemas.microsoft.com/office/drawing/2014/main" id="{2A2F470F-BBF7-4D74-8CF2-FBEC39620512}"/>
              </a:ext>
            </a:extLst>
          </p:cNvPr>
          <p:cNvSpPr>
            <a:spLocks xmlns:a="http://schemas.openxmlformats.org/drawingml/2006/main" noGrp="1"/>
          </p:cNvSpPr>
          <p:nvPr/>
        </p:nvSpPr>
        <p:spPr>
          <a:xfrm xmlns:a="http://schemas.openxmlformats.org/drawingml/2006/main">
            <a:off x="1143000" y="1647825"/>
            <a:ext cx="11049000" cy="52101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持久空间世界 · 公开计价接口</a:t>
            </a:r>
          </a:p>
        </p:txBody>
      </p:sp>
      <p:sp>
        <p:nvSpPr>
          <p:cNvPr id="5" name="p4-established-bg">
            <a:extLst xmlns:a="http://schemas.openxmlformats.org/drawingml/2006/main">
              <a:ext uri="{FF2B5EF4-FFF2-40B4-BE49-F238E27FC236}">
                <a16:creationId xmlns:a16="http://schemas.microsoft.com/office/drawing/2014/main" id="{DF09CF31-CBBC-4390-8A8E-D1180C0E3E8D}"/>
              </a:ext>
            </a:extLst>
          </p:cNvPr>
          <p:cNvSpPr>
            <a:spLocks xmlns:a="http://schemas.openxmlformats.org/drawingml/2006/main" noGrp="1"/>
          </p:cNvSpPr>
          <p:nvPr/>
        </p:nvSpPr>
        <p:spPr>
          <a:xfrm xmlns:a="http://schemas.openxmlformats.org/drawingml/2006/main">
            <a:off x="609600" y="1885950"/>
            <a:ext cx="6858000" cy="2286000"/>
          </a:xfrm>
          <a:prstGeom xmlns:a="http://schemas.openxmlformats.org/drawingml/2006/main" prst="rect">
            <a:avLst/>
          </a:prstGeom>
          <a:solidFill xmlns:a="http://schemas.openxmlformats.org/drawingml/2006/main">
            <a:srgbClr val="F1DFD5"/>
          </a:solidFill>
        </p:spPr>
      </p:sp>
      <p:sp>
        <p:nvSpPr>
          <p:cNvPr id="6" name="p4-established-rule">
            <a:extLst xmlns:a="http://schemas.openxmlformats.org/drawingml/2006/main">
              <a:ext uri="{FF2B5EF4-FFF2-40B4-BE49-F238E27FC236}">
                <a16:creationId xmlns:a16="http://schemas.microsoft.com/office/drawing/2014/main" id="{3425E585-DD20-4B60-A9F1-81FEAA853575}"/>
              </a:ext>
            </a:extLst>
          </p:cNvPr>
          <p:cNvSpPr>
            <a:spLocks xmlns:a="http://schemas.openxmlformats.org/drawingml/2006/main" noGrp="1"/>
          </p:cNvSpPr>
          <p:nvPr/>
        </p:nvSpPr>
        <p:spPr>
          <a:xfrm xmlns:a="http://schemas.openxmlformats.org/drawingml/2006/main">
            <a:off x="838200" y="2076450"/>
            <a:ext cx="361950" cy="28575"/>
          </a:xfrm>
          <a:prstGeom xmlns:a="http://schemas.openxmlformats.org/drawingml/2006/main" prst="rect">
            <a:avLst/>
          </a:prstGeom>
          <a:solidFill xmlns:a="http://schemas.openxmlformats.org/drawingml/2006/main">
            <a:srgbClr val="C56B4D"/>
          </a:solidFill>
        </p:spPr>
      </p:sp>
      <p:sp>
        <p:nvSpPr>
          <p:cNvPr id="7" name="p4-established-label">
            <a:extLst xmlns:a="http://schemas.openxmlformats.org/drawingml/2006/main">
              <a:ext uri="{FF2B5EF4-FFF2-40B4-BE49-F238E27FC236}">
                <a16:creationId xmlns:a16="http://schemas.microsoft.com/office/drawing/2014/main" id="{BD79F362-1E04-4A10-ABB7-8579BABF7E86}"/>
              </a:ext>
            </a:extLst>
          </p:cNvPr>
          <p:cNvSpPr>
            <a:spLocks xmlns:a="http://schemas.openxmlformats.org/drawingml/2006/main" noGrp="1"/>
          </p:cNvSpPr>
          <p:nvPr/>
        </p:nvSpPr>
        <p:spPr>
          <a:xfrm xmlns:a="http://schemas.openxmlformats.org/drawingml/2006/main">
            <a:off x="838200" y="2171700"/>
            <a:ext cx="11353800" cy="4686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已成立</a:t>
            </a:r>
          </a:p>
        </p:txBody>
      </p:sp>
      <p:sp>
        <p:nvSpPr>
          <p:cNvPr id="8" name="p4-component-divider">
            <a:extLst xmlns:a="http://schemas.openxmlformats.org/drawingml/2006/main">
              <a:ext uri="{FF2B5EF4-FFF2-40B4-BE49-F238E27FC236}">
                <a16:creationId xmlns:a16="http://schemas.microsoft.com/office/drawing/2014/main" id="{5C6CDA28-84EC-4A86-A633-037AD0509EF7}"/>
              </a:ext>
            </a:extLst>
          </p:cNvPr>
          <p:cNvSpPr>
            <a:spLocks xmlns:a="http://schemas.openxmlformats.org/drawingml/2006/main" noGrp="1"/>
          </p:cNvSpPr>
          <p:nvPr/>
        </p:nvSpPr>
        <p:spPr>
          <a:xfrm xmlns:a="http://schemas.openxmlformats.org/drawingml/2006/main">
            <a:off x="4000500" y="2609850"/>
            <a:ext cx="9525" cy="1219200"/>
          </a:xfrm>
          <a:prstGeom xmlns:a="http://schemas.openxmlformats.org/drawingml/2006/main" prst="rect">
            <a:avLst/>
          </a:prstGeom>
          <a:solidFill xmlns:a="http://schemas.openxmlformats.org/drawingml/2006/main">
            <a:srgbClr val="BDB4AA"/>
          </a:solidFill>
        </p:spPr>
      </p:sp>
      <p:sp>
        <p:nvSpPr>
          <p:cNvPr id="9" name="p4-rtfm-name">
            <a:extLst xmlns:a="http://schemas.openxmlformats.org/drawingml/2006/main">
              <a:ext uri="{FF2B5EF4-FFF2-40B4-BE49-F238E27FC236}">
                <a16:creationId xmlns:a16="http://schemas.microsoft.com/office/drawing/2014/main" id="{B3584DD7-89AA-4F3D-8639-C395BF7C2BA7}"/>
              </a:ext>
            </a:extLst>
          </p:cNvPr>
          <p:cNvSpPr>
            <a:spLocks xmlns:a="http://schemas.openxmlformats.org/drawingml/2006/main" noGrp="1"/>
          </p:cNvSpPr>
          <p:nvPr/>
        </p:nvSpPr>
        <p:spPr>
          <a:xfrm xmlns:a="http://schemas.openxmlformats.org/drawingml/2006/main">
            <a:off x="838200" y="2667000"/>
            <a:ext cx="11353800" cy="419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RTFM</a:t>
            </a:r>
          </a:p>
        </p:txBody>
      </p:sp>
      <p:sp>
        <p:nvSpPr>
          <p:cNvPr id="10" name="p4-rtfm-body">
            <a:extLst xmlns:a="http://schemas.openxmlformats.org/drawingml/2006/main">
              <a:ext uri="{FF2B5EF4-FFF2-40B4-BE49-F238E27FC236}">
                <a16:creationId xmlns:a16="http://schemas.microsoft.com/office/drawing/2014/main" id="{2F4D77B6-2240-4BFB-9F07-FC013B8792F7}"/>
              </a:ext>
            </a:extLst>
          </p:cNvPr>
          <p:cNvSpPr>
            <a:spLocks xmlns:a="http://schemas.openxmlformats.org/drawingml/2006/main" noGrp="1"/>
          </p:cNvSpPr>
          <p:nvPr/>
        </p:nvSpPr>
        <p:spPr>
          <a:xfrm xmlns:a="http://schemas.openxmlformats.org/drawingml/2006/main">
            <a:off x="838200" y="3086100"/>
            <a:ext cx="11353800" cy="3771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公开位姿条件未来视图与空间记忆；
动态物体仍待证。</a:t>
            </a:r>
          </a:p>
        </p:txBody>
      </p:sp>
      <p:sp>
        <p:nvSpPr>
          <p:cNvPr id="11" name="p4-api-name">
            <a:extLst xmlns:a="http://schemas.openxmlformats.org/drawingml/2006/main">
              <a:ext uri="{FF2B5EF4-FFF2-40B4-BE49-F238E27FC236}">
                <a16:creationId xmlns:a16="http://schemas.microsoft.com/office/drawing/2014/main" id="{16C86166-8446-4FFB-BBC0-434855762E45}"/>
              </a:ext>
            </a:extLst>
          </p:cNvPr>
          <p:cNvSpPr>
            <a:spLocks xmlns:a="http://schemas.openxmlformats.org/drawingml/2006/main" noGrp="1"/>
          </p:cNvSpPr>
          <p:nvPr/>
        </p:nvSpPr>
        <p:spPr>
          <a:xfrm xmlns:a="http://schemas.openxmlformats.org/drawingml/2006/main">
            <a:off x="4286250" y="2667000"/>
            <a:ext cx="7905750" cy="419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Marble / World API</a:t>
            </a:r>
          </a:p>
        </p:txBody>
      </p:sp>
      <p:sp>
        <p:nvSpPr>
          <p:cNvPr id="12" name="p4-api-body">
            <a:extLst xmlns:a="http://schemas.openxmlformats.org/drawingml/2006/main">
              <a:ext uri="{FF2B5EF4-FFF2-40B4-BE49-F238E27FC236}">
                <a16:creationId xmlns:a16="http://schemas.microsoft.com/office/drawing/2014/main" id="{18FC9599-8D73-4FF3-BC90-73C71D514105}"/>
              </a:ext>
            </a:extLst>
          </p:cNvPr>
          <p:cNvSpPr>
            <a:spLocks xmlns:a="http://schemas.openxmlformats.org/drawingml/2006/main" noGrp="1"/>
          </p:cNvSpPr>
          <p:nvPr/>
        </p:nvSpPr>
        <p:spPr>
          <a:xfrm xmlns:a="http://schemas.openxmlformats.org/drawingml/2006/main">
            <a:off x="4286250" y="3086100"/>
            <a:ext cx="7905750" cy="3771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已公开计价；与 RTFM 分立，
两条路线必须单独判断。</a:t>
            </a:r>
          </a:p>
        </p:txBody>
      </p:sp>
      <p:sp>
        <p:nvSpPr>
          <p:cNvPr id="13" name="p4-not-bg">
            <a:extLst xmlns:a="http://schemas.openxmlformats.org/drawingml/2006/main">
              <a:ext uri="{FF2B5EF4-FFF2-40B4-BE49-F238E27FC236}">
                <a16:creationId xmlns:a16="http://schemas.microsoft.com/office/drawing/2014/main" id="{EE8DB192-2025-48F8-ADF3-6ACE45C0C255}"/>
              </a:ext>
            </a:extLst>
          </p:cNvPr>
          <p:cNvSpPr>
            <a:spLocks xmlns:a="http://schemas.openxmlformats.org/drawingml/2006/main" noGrp="1"/>
          </p:cNvSpPr>
          <p:nvPr/>
        </p:nvSpPr>
        <p:spPr>
          <a:xfrm xmlns:a="http://schemas.openxmlformats.org/drawingml/2006/main">
            <a:off x="7696200" y="1885950"/>
            <a:ext cx="3886200" cy="2286000"/>
          </a:xfrm>
          <a:prstGeom xmlns:a="http://schemas.openxmlformats.org/drawingml/2006/main" prst="rect">
            <a:avLst/>
          </a:prstGeom>
          <a:solidFill xmlns:a="http://schemas.openxmlformats.org/drawingml/2006/main">
            <a:srgbClr val="EEEAE4"/>
          </a:solidFill>
        </p:spPr>
      </p:sp>
      <p:sp>
        <p:nvSpPr>
          <p:cNvPr id="14" name="p4-not-rule">
            <a:extLst xmlns:a="http://schemas.openxmlformats.org/drawingml/2006/main">
              <a:ext uri="{FF2B5EF4-FFF2-40B4-BE49-F238E27FC236}">
                <a16:creationId xmlns:a16="http://schemas.microsoft.com/office/drawing/2014/main" id="{D359FE95-8308-4D79-AF6C-5157B731EC28}"/>
              </a:ext>
            </a:extLst>
          </p:cNvPr>
          <p:cNvSpPr>
            <a:spLocks xmlns:a="http://schemas.openxmlformats.org/drawingml/2006/main" noGrp="1"/>
          </p:cNvSpPr>
          <p:nvPr/>
        </p:nvSpPr>
        <p:spPr>
          <a:xfrm xmlns:a="http://schemas.openxmlformats.org/drawingml/2006/main">
            <a:off x="7924800" y="2076450"/>
            <a:ext cx="361950" cy="28575"/>
          </a:xfrm>
          <a:prstGeom xmlns:a="http://schemas.openxmlformats.org/drawingml/2006/main" prst="rect">
            <a:avLst/>
          </a:prstGeom>
          <a:solidFill xmlns:a="http://schemas.openxmlformats.org/drawingml/2006/main">
            <a:srgbClr val="6E6861"/>
          </a:solidFill>
        </p:spPr>
      </p:sp>
      <p:sp>
        <p:nvSpPr>
          <p:cNvPr id="15" name="p4-not-label">
            <a:extLst xmlns:a="http://schemas.openxmlformats.org/drawingml/2006/main">
              <a:ext uri="{FF2B5EF4-FFF2-40B4-BE49-F238E27FC236}">
                <a16:creationId xmlns:a16="http://schemas.microsoft.com/office/drawing/2014/main" id="{1EFB2339-DCD8-4ACB-9043-EDC2E2A364BD}"/>
              </a:ext>
            </a:extLst>
          </p:cNvPr>
          <p:cNvSpPr>
            <a:spLocks xmlns:a="http://schemas.openxmlformats.org/drawingml/2006/main" noGrp="1"/>
          </p:cNvSpPr>
          <p:nvPr/>
        </p:nvSpPr>
        <p:spPr>
          <a:xfrm xmlns:a="http://schemas.openxmlformats.org/drawingml/2006/main">
            <a:off x="7924800" y="2171700"/>
            <a:ext cx="4267200" cy="4686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未成立</a:t>
            </a:r>
          </a:p>
        </p:txBody>
      </p:sp>
      <p:sp>
        <p:nvSpPr>
          <p:cNvPr id="16" name="p4-not-list-dot-0">
            <a:extLst xmlns:a="http://schemas.openxmlformats.org/drawingml/2006/main">
              <a:ext uri="{FF2B5EF4-FFF2-40B4-BE49-F238E27FC236}">
                <a16:creationId xmlns:a16="http://schemas.microsoft.com/office/drawing/2014/main" id="{101809AD-2E9C-4D57-8BDA-F691E97A8DA9}"/>
              </a:ext>
            </a:extLst>
          </p:cNvPr>
          <p:cNvSpPr>
            <a:spLocks xmlns:a="http://schemas.openxmlformats.org/drawingml/2006/main" noGrp="1"/>
          </p:cNvSpPr>
          <p:nvPr/>
        </p:nvSpPr>
        <p:spPr>
          <a:xfrm xmlns:a="http://schemas.openxmlformats.org/drawingml/2006/main">
            <a:off x="7924800" y="2628900"/>
            <a:ext cx="4267200" cy="4229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17" name="p4-not-list-text-0">
            <a:extLst xmlns:a="http://schemas.openxmlformats.org/drawingml/2006/main">
              <a:ext uri="{FF2B5EF4-FFF2-40B4-BE49-F238E27FC236}">
                <a16:creationId xmlns:a16="http://schemas.microsoft.com/office/drawing/2014/main" id="{967B8BFB-96FA-47D1-8E2D-685273633E25}"/>
              </a:ext>
            </a:extLst>
          </p:cNvPr>
          <p:cNvSpPr>
            <a:spLocks xmlns:a="http://schemas.openxmlformats.org/drawingml/2006/main" noGrp="1"/>
          </p:cNvSpPr>
          <p:nvPr/>
        </p:nvSpPr>
        <p:spPr>
          <a:xfrm xmlns:a="http://schemas.openxmlformats.org/drawingml/2006/main">
            <a:off x="8153400" y="2628900"/>
            <a:ext cx="4038600" cy="4229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持久动态物体</a:t>
            </a:r>
          </a:p>
        </p:txBody>
      </p:sp>
      <p:sp>
        <p:nvSpPr>
          <p:cNvPr id="18" name="p4-not-list-dot-1">
            <a:extLst xmlns:a="http://schemas.openxmlformats.org/drawingml/2006/main">
              <a:ext uri="{FF2B5EF4-FFF2-40B4-BE49-F238E27FC236}">
                <a16:creationId xmlns:a16="http://schemas.microsoft.com/office/drawing/2014/main" id="{963F6231-0D37-4E13-9A44-F3B5D925C0CF}"/>
              </a:ext>
            </a:extLst>
          </p:cNvPr>
          <p:cNvSpPr>
            <a:spLocks xmlns:a="http://schemas.openxmlformats.org/drawingml/2006/main" noGrp="1"/>
          </p:cNvSpPr>
          <p:nvPr/>
        </p:nvSpPr>
        <p:spPr>
          <a:xfrm xmlns:a="http://schemas.openxmlformats.org/drawingml/2006/main">
            <a:off x="7924800" y="2971800"/>
            <a:ext cx="4267200" cy="3886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19" name="p4-not-list-text-1">
            <a:extLst xmlns:a="http://schemas.openxmlformats.org/drawingml/2006/main">
              <a:ext uri="{FF2B5EF4-FFF2-40B4-BE49-F238E27FC236}">
                <a16:creationId xmlns:a16="http://schemas.microsoft.com/office/drawing/2014/main" id="{AAE2F9B4-570C-41E3-A6AF-E922DAF91C77}"/>
              </a:ext>
            </a:extLst>
          </p:cNvPr>
          <p:cNvSpPr>
            <a:spLocks xmlns:a="http://schemas.openxmlformats.org/drawingml/2006/main" noGrp="1"/>
          </p:cNvSpPr>
          <p:nvPr/>
        </p:nvSpPr>
        <p:spPr>
          <a:xfrm xmlns:a="http://schemas.openxmlformats.org/drawingml/2006/main">
            <a:off x="8153400" y="2971800"/>
            <a:ext cx="4038600" cy="3886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独立系统复现</a:t>
            </a:r>
          </a:p>
        </p:txBody>
      </p:sp>
      <p:sp>
        <p:nvSpPr>
          <p:cNvPr id="20" name="p4-not-list-dot-2">
            <a:extLst xmlns:a="http://schemas.openxmlformats.org/drawingml/2006/main">
              <a:ext uri="{FF2B5EF4-FFF2-40B4-BE49-F238E27FC236}">
                <a16:creationId xmlns:a16="http://schemas.microsoft.com/office/drawing/2014/main" id="{94B18D7C-42C1-4F0C-AE3A-F9D3DB57D1D1}"/>
              </a:ext>
            </a:extLst>
          </p:cNvPr>
          <p:cNvSpPr>
            <a:spLocks xmlns:a="http://schemas.openxmlformats.org/drawingml/2006/main" noGrp="1"/>
          </p:cNvSpPr>
          <p:nvPr/>
        </p:nvSpPr>
        <p:spPr>
          <a:xfrm xmlns:a="http://schemas.openxmlformats.org/drawingml/2006/main">
            <a:off x="7924800" y="3314700"/>
            <a:ext cx="4267200" cy="3543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21" name="p4-not-list-text-2">
            <a:extLst xmlns:a="http://schemas.openxmlformats.org/drawingml/2006/main">
              <a:ext uri="{FF2B5EF4-FFF2-40B4-BE49-F238E27FC236}">
                <a16:creationId xmlns:a16="http://schemas.microsoft.com/office/drawing/2014/main" id="{2B1A1832-D744-4A1F-AF63-0EBCD1EF0602}"/>
              </a:ext>
            </a:extLst>
          </p:cNvPr>
          <p:cNvSpPr>
            <a:spLocks xmlns:a="http://schemas.openxmlformats.org/drawingml/2006/main" noGrp="1"/>
          </p:cNvSpPr>
          <p:nvPr/>
        </p:nvSpPr>
        <p:spPr>
          <a:xfrm xmlns:a="http://schemas.openxmlformats.org/drawingml/2006/main">
            <a:off x="8153400" y="3314700"/>
            <a:ext cx="4038600" cy="3543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客户第一方付费生产采用</a:t>
            </a:r>
          </a:p>
        </p:txBody>
      </p:sp>
      <p:sp>
        <p:nvSpPr>
          <p:cNvPr id="22" name="p4-not-list-dot-3">
            <a:extLst xmlns:a="http://schemas.openxmlformats.org/drawingml/2006/main">
              <a:ext uri="{FF2B5EF4-FFF2-40B4-BE49-F238E27FC236}">
                <a16:creationId xmlns:a16="http://schemas.microsoft.com/office/drawing/2014/main" id="{4319A929-C03C-49C8-9686-5BEFAB7387B9}"/>
              </a:ext>
            </a:extLst>
          </p:cNvPr>
          <p:cNvSpPr>
            <a:spLocks xmlns:a="http://schemas.openxmlformats.org/drawingml/2006/main" noGrp="1"/>
          </p:cNvSpPr>
          <p:nvPr/>
        </p:nvSpPr>
        <p:spPr>
          <a:xfrm xmlns:a="http://schemas.openxmlformats.org/drawingml/2006/main">
            <a:off x="7924800" y="3657600"/>
            <a:ext cx="4267200" cy="3200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23" name="p4-not-list-text-3">
            <a:extLst xmlns:a="http://schemas.openxmlformats.org/drawingml/2006/main">
              <a:ext uri="{FF2B5EF4-FFF2-40B4-BE49-F238E27FC236}">
                <a16:creationId xmlns:a16="http://schemas.microsoft.com/office/drawing/2014/main" id="{1CE3F51E-BF08-4479-9B5E-2A85BA612A4B}"/>
              </a:ext>
            </a:extLst>
          </p:cNvPr>
          <p:cNvSpPr>
            <a:spLocks xmlns:a="http://schemas.openxmlformats.org/drawingml/2006/main" noGrp="1"/>
          </p:cNvSpPr>
          <p:nvPr/>
        </p:nvSpPr>
        <p:spPr>
          <a:xfrm xmlns:a="http://schemas.openxmlformats.org/drawingml/2006/main">
            <a:off x="8153400" y="3657600"/>
            <a:ext cx="4038600" cy="3200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服务与用户内容权仍有采购摩擦</a:t>
            </a:r>
          </a:p>
        </p:txBody>
      </p:sp>
      <p:sp>
        <p:nvSpPr>
          <p:cNvPr id="24" name="p4-meaning-bg">
            <a:extLst xmlns:a="http://schemas.openxmlformats.org/drawingml/2006/main">
              <a:ext uri="{FF2B5EF4-FFF2-40B4-BE49-F238E27FC236}">
                <a16:creationId xmlns:a16="http://schemas.microsoft.com/office/drawing/2014/main" id="{F64DEE48-E331-4FE5-BA58-C44D2C69817D}"/>
              </a:ext>
            </a:extLst>
          </p:cNvPr>
          <p:cNvSpPr>
            <a:spLocks xmlns:a="http://schemas.openxmlformats.org/drawingml/2006/main" noGrp="1"/>
          </p:cNvSpPr>
          <p:nvPr/>
        </p:nvSpPr>
        <p:spPr>
          <a:xfrm xmlns:a="http://schemas.openxmlformats.org/drawingml/2006/main">
            <a:off x="609600" y="4400550"/>
            <a:ext cx="6858000" cy="1676400"/>
          </a:xfrm>
          <a:prstGeom xmlns:a="http://schemas.openxmlformats.org/drawingml/2006/main" prst="rect">
            <a:avLst/>
          </a:prstGeom>
          <a:solidFill xmlns:a="http://schemas.openxmlformats.org/drawingml/2006/main">
            <a:srgbClr val="FCFAF6"/>
          </a:solidFill>
        </p:spPr>
      </p:sp>
      <p:sp>
        <p:nvSpPr>
          <p:cNvPr id="25" name="p4-meaning-rule">
            <a:extLst xmlns:a="http://schemas.openxmlformats.org/drawingml/2006/main">
              <a:ext uri="{FF2B5EF4-FFF2-40B4-BE49-F238E27FC236}">
                <a16:creationId xmlns:a16="http://schemas.microsoft.com/office/drawing/2014/main" id="{A5E40F29-8AB5-4DD5-B103-A9641BE8C90B}"/>
              </a:ext>
            </a:extLst>
          </p:cNvPr>
          <p:cNvSpPr>
            <a:spLocks xmlns:a="http://schemas.openxmlformats.org/drawingml/2006/main" noGrp="1"/>
          </p:cNvSpPr>
          <p:nvPr/>
        </p:nvSpPr>
        <p:spPr>
          <a:xfrm xmlns:a="http://schemas.openxmlformats.org/drawingml/2006/main">
            <a:off x="838200" y="4591050"/>
            <a:ext cx="361950" cy="28575"/>
          </a:xfrm>
          <a:prstGeom xmlns:a="http://schemas.openxmlformats.org/drawingml/2006/main" prst="rect">
            <a:avLst/>
          </a:prstGeom>
          <a:solidFill xmlns:a="http://schemas.openxmlformats.org/drawingml/2006/main">
            <a:srgbClr val="75867A"/>
          </a:solidFill>
        </p:spPr>
      </p:sp>
      <p:sp>
        <p:nvSpPr>
          <p:cNvPr id="26" name="p4-meaning-label">
            <a:extLst xmlns:a="http://schemas.openxmlformats.org/drawingml/2006/main">
              <a:ext uri="{FF2B5EF4-FFF2-40B4-BE49-F238E27FC236}">
                <a16:creationId xmlns:a16="http://schemas.microsoft.com/office/drawing/2014/main" id="{DB37B1A8-9198-4B52-9C77-587F44C631F5}"/>
              </a:ext>
            </a:extLst>
          </p:cNvPr>
          <p:cNvSpPr>
            <a:spLocks xmlns:a="http://schemas.openxmlformats.org/drawingml/2006/main" noGrp="1"/>
          </p:cNvSpPr>
          <p:nvPr/>
        </p:nvSpPr>
        <p:spPr>
          <a:xfrm xmlns:a="http://schemas.openxmlformats.org/drawingml/2006/main">
            <a:off x="838200" y="4686300"/>
            <a:ext cx="11353800" cy="2171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对 Manifold 的意义</a:t>
            </a:r>
          </a:p>
        </p:txBody>
      </p:sp>
      <p:sp>
        <p:nvSpPr>
          <p:cNvPr id="27" name="p4-meaning-body">
            <a:extLst xmlns:a="http://schemas.openxmlformats.org/drawingml/2006/main">
              <a:ext uri="{FF2B5EF4-FFF2-40B4-BE49-F238E27FC236}">
                <a16:creationId xmlns:a16="http://schemas.microsoft.com/office/drawing/2014/main" id="{173A1C1E-3833-4929-A33F-98F24EF73CC4}"/>
              </a:ext>
            </a:extLst>
          </p:cNvPr>
          <p:cNvSpPr>
            <a:spLocks xmlns:a="http://schemas.openxmlformats.org/drawingml/2006/main" noGrp="1"/>
          </p:cNvSpPr>
          <p:nvPr/>
        </p:nvSpPr>
        <p:spPr>
          <a:xfrm xmlns:a="http://schemas.openxmlformats.org/drawingml/2006/main">
            <a:off x="838200" y="5086350"/>
            <a:ext cx="11353800" cy="1771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空间世界接口可能绕行专有生成与交付环节，
但不能据此确认双方已经争夺相同客户或预算。</a:t>
            </a:r>
          </a:p>
        </p:txBody>
      </p:sp>
      <p:sp>
        <p:nvSpPr>
          <p:cNvPr id="28" name="p4-trigger-bg">
            <a:extLst xmlns:a="http://schemas.openxmlformats.org/drawingml/2006/main">
              <a:ext uri="{FF2B5EF4-FFF2-40B4-BE49-F238E27FC236}">
                <a16:creationId xmlns:a16="http://schemas.microsoft.com/office/drawing/2014/main" id="{D8A828C0-B06E-40A4-BEC1-B780C5B1A7F5}"/>
              </a:ext>
            </a:extLst>
          </p:cNvPr>
          <p:cNvSpPr>
            <a:spLocks xmlns:a="http://schemas.openxmlformats.org/drawingml/2006/main" noGrp="1"/>
          </p:cNvSpPr>
          <p:nvPr/>
        </p:nvSpPr>
        <p:spPr>
          <a:xfrm xmlns:a="http://schemas.openxmlformats.org/drawingml/2006/main">
            <a:off x="7696200" y="4400550"/>
            <a:ext cx="3886200" cy="1676400"/>
          </a:xfrm>
          <a:prstGeom xmlns:a="http://schemas.openxmlformats.org/drawingml/2006/main" prst="rect">
            <a:avLst/>
          </a:prstGeom>
          <a:solidFill xmlns:a="http://schemas.openxmlformats.org/drawingml/2006/main">
            <a:srgbClr val="E5EBE5"/>
          </a:solidFill>
        </p:spPr>
      </p:sp>
      <p:sp>
        <p:nvSpPr>
          <p:cNvPr id="29" name="p4-trigger-rule">
            <a:extLst xmlns:a="http://schemas.openxmlformats.org/drawingml/2006/main">
              <a:ext uri="{FF2B5EF4-FFF2-40B4-BE49-F238E27FC236}">
                <a16:creationId xmlns:a16="http://schemas.microsoft.com/office/drawing/2014/main" id="{23E3E0FD-AD9E-46A6-8E8B-6FB8CCB78126}"/>
              </a:ext>
            </a:extLst>
          </p:cNvPr>
          <p:cNvSpPr>
            <a:spLocks xmlns:a="http://schemas.openxmlformats.org/drawingml/2006/main" noGrp="1"/>
          </p:cNvSpPr>
          <p:nvPr/>
        </p:nvSpPr>
        <p:spPr>
          <a:xfrm xmlns:a="http://schemas.openxmlformats.org/drawingml/2006/main">
            <a:off x="7924800" y="4591050"/>
            <a:ext cx="361950" cy="28575"/>
          </a:xfrm>
          <a:prstGeom xmlns:a="http://schemas.openxmlformats.org/drawingml/2006/main" prst="rect">
            <a:avLst/>
          </a:prstGeom>
          <a:solidFill xmlns:a="http://schemas.openxmlformats.org/drawingml/2006/main">
            <a:srgbClr val="75867A"/>
          </a:solidFill>
        </p:spPr>
      </p:sp>
      <p:sp>
        <p:nvSpPr>
          <p:cNvPr id="30" name="p4-trigger-label">
            <a:extLst xmlns:a="http://schemas.openxmlformats.org/drawingml/2006/main">
              <a:ext uri="{FF2B5EF4-FFF2-40B4-BE49-F238E27FC236}">
                <a16:creationId xmlns:a16="http://schemas.microsoft.com/office/drawing/2014/main" id="{8F939311-E03C-4028-86F5-CF40CE4AB8AA}"/>
              </a:ext>
            </a:extLst>
          </p:cNvPr>
          <p:cNvSpPr>
            <a:spLocks xmlns:a="http://schemas.openxmlformats.org/drawingml/2006/main" noGrp="1"/>
          </p:cNvSpPr>
          <p:nvPr/>
        </p:nvSpPr>
        <p:spPr>
          <a:xfrm xmlns:a="http://schemas.openxmlformats.org/drawingml/2006/main">
            <a:off x="7924800" y="4686300"/>
            <a:ext cx="4267200" cy="2171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关键触发器</a:t>
            </a:r>
          </a:p>
        </p:txBody>
      </p:sp>
      <p:sp>
        <p:nvSpPr>
          <p:cNvPr id="31" name="p4-trigger-body">
            <a:extLst xmlns:a="http://schemas.openxmlformats.org/drawingml/2006/main">
              <a:ext uri="{FF2B5EF4-FFF2-40B4-BE49-F238E27FC236}">
                <a16:creationId xmlns:a16="http://schemas.microsoft.com/office/drawing/2014/main" id="{4C5D708C-C976-43F0-88A3-6E6AC4CBC92B}"/>
              </a:ext>
            </a:extLst>
          </p:cNvPr>
          <p:cNvSpPr>
            <a:spLocks xmlns:a="http://schemas.openxmlformats.org/drawingml/2006/main" noGrp="1"/>
          </p:cNvSpPr>
          <p:nvPr/>
        </p:nvSpPr>
        <p:spPr>
          <a:xfrm xmlns:a="http://schemas.openxmlformats.org/drawingml/2006/main">
            <a:off x="7924800" y="5086350"/>
            <a:ext cx="4267200" cy="1771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RTFM 获得独立复现，
或 World API 形成版本化服务。</a:t>
            </a:r>
          </a:p>
        </p:txBody>
      </p:sp>
      <p:sp>
        <p:nvSpPr>
          <p:cNvPr id="32" name="p4-footer-rule">
            <a:extLst xmlns:a="http://schemas.openxmlformats.org/drawingml/2006/main">
              <a:ext uri="{FF2B5EF4-FFF2-40B4-BE49-F238E27FC236}">
                <a16:creationId xmlns:a16="http://schemas.microsoft.com/office/drawing/2014/main" id="{0A46B1F0-CFD1-49B4-9220-A9D3D71D266C}"/>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33" name="p4-footer-source">
            <a:extLst xmlns:a="http://schemas.openxmlformats.org/drawingml/2006/main">
              <a:ext uri="{FF2B5EF4-FFF2-40B4-BE49-F238E27FC236}">
                <a16:creationId xmlns:a16="http://schemas.microsoft.com/office/drawing/2014/main" id="{B1AC649E-2108-4A5E-897A-736D1627D091}"/>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RTFM 与 World API 分立｜来源：官方研究/项目页、API、价格、条款及厂商案例</a:t>
            </a:r>
          </a:p>
        </p:txBody>
      </p:sp>
      <p:sp>
        <p:nvSpPr>
          <p:cNvPr id="34" name="p4-footer-page">
            <a:extLst xmlns:a="http://schemas.openxmlformats.org/drawingml/2006/main">
              <a:ext uri="{FF2B5EF4-FFF2-40B4-BE49-F238E27FC236}">
                <a16:creationId xmlns:a16="http://schemas.microsoft.com/office/drawing/2014/main" id="{B1A0E58C-4118-4162-91F6-F3F12067E83D}"/>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04</a:t>
            </a:r>
          </a:p>
        </p:txBody>
      </p:sp>
    </p:spTree>
    <p:extLst>
      <p:ext uri="{BB962C8B-B14F-4D97-AF65-F5344CB8AC3E}">
        <p14:creationId xmlns:p14="http://schemas.microsoft.com/office/powerpoint/2010/main" val="1571737781"/>
      </p:ext>
    </p:extLst>
  </p:cSld>
</p:sld>
</file>

<file path=ppt/slides/slide5.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5-identity">
            <a:extLst xmlns:a="http://schemas.openxmlformats.org/drawingml/2006/main">
              <a:ext uri="{FF2B5EF4-FFF2-40B4-BE49-F238E27FC236}">
                <a16:creationId xmlns:a16="http://schemas.microsoft.com/office/drawing/2014/main" id="{AC84A96C-2876-46FB-A256-BB3FE1C3387E}"/>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5867A"/>
                </a:solidFill>
                <a:latin typeface="Noto Sans SC"/>
                <a:ea typeface="Noto Sans SC"/>
                <a:cs typeface="Noto Sans SC"/>
              </a:defRPr>
            </a:pPr>
            <a:r>
              <a:t>创业公司 2/4 · ODYSSEY</a:t>
            </a:r>
          </a:p>
        </p:txBody>
      </p:sp>
      <p:sp>
        <p:nvSpPr>
          <p:cNvPr id="2" name="p5-title">
            <a:extLst xmlns:a="http://schemas.openxmlformats.org/drawingml/2006/main">
              <a:ext uri="{FF2B5EF4-FFF2-40B4-BE49-F238E27FC236}">
                <a16:creationId xmlns:a16="http://schemas.microsoft.com/office/drawing/2014/main" id="{4ADEFB34-49C9-409A-8FC7-78588BD3A780}"/>
              </a:ext>
            </a:extLst>
          </p:cNvPr>
          <p:cNvSpPr>
            <a:spLocks xmlns:a="http://schemas.openxmlformats.org/drawingml/2006/main" noGrp="1"/>
          </p:cNvSpPr>
          <p:nvPr/>
        </p:nvSpPr>
        <p:spPr>
          <a:xfrm xmlns:a="http://schemas.openxmlformats.org/drawingml/2006/main">
            <a:off x="609600" y="552450"/>
            <a:ext cx="11582400" cy="6305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实时世界流已经写进开发者接口，
实际开放和稳定服务仍待验证</a:t>
            </a:r>
          </a:p>
        </p:txBody>
      </p:sp>
      <p:sp>
        <p:nvSpPr>
          <p:cNvPr id="3" name="p5-route-line">
            <a:extLst xmlns:a="http://schemas.openxmlformats.org/drawingml/2006/main">
              <a:ext uri="{FF2B5EF4-FFF2-40B4-BE49-F238E27FC236}">
                <a16:creationId xmlns:a16="http://schemas.microsoft.com/office/drawing/2014/main" id="{E64DAD68-03A4-4426-9DC1-AE0B74D416C4}"/>
              </a:ext>
            </a:extLst>
          </p:cNvPr>
          <p:cNvSpPr>
            <a:spLocks xmlns:a="http://schemas.openxmlformats.org/drawingml/2006/main" noGrp="1"/>
          </p:cNvSpPr>
          <p:nvPr/>
        </p:nvSpPr>
        <p:spPr>
          <a:xfrm xmlns:a="http://schemas.openxmlformats.org/drawingml/2006/main">
            <a:off x="609600" y="1752600"/>
            <a:ext cx="419100" cy="28575"/>
          </a:xfrm>
          <a:prstGeom xmlns:a="http://schemas.openxmlformats.org/drawingml/2006/main" prst="rect">
            <a:avLst/>
          </a:prstGeom>
          <a:solidFill xmlns:a="http://schemas.openxmlformats.org/drawingml/2006/main">
            <a:srgbClr val="75867A"/>
          </a:solidFill>
        </p:spPr>
      </p:sp>
      <p:sp>
        <p:nvSpPr>
          <p:cNvPr id="4" name="p5-route">
            <a:extLst xmlns:a="http://schemas.openxmlformats.org/drawingml/2006/main">
              <a:ext uri="{FF2B5EF4-FFF2-40B4-BE49-F238E27FC236}">
                <a16:creationId xmlns:a16="http://schemas.microsoft.com/office/drawing/2014/main" id="{69826495-2D6D-4CF5-A1CF-B2182B6D82BE}"/>
              </a:ext>
            </a:extLst>
          </p:cNvPr>
          <p:cNvSpPr>
            <a:spLocks xmlns:a="http://schemas.openxmlformats.org/drawingml/2006/main" noGrp="1"/>
          </p:cNvSpPr>
          <p:nvPr/>
        </p:nvSpPr>
        <p:spPr>
          <a:xfrm xmlns:a="http://schemas.openxmlformats.org/drawingml/2006/main">
            <a:off x="1143000" y="1647825"/>
            <a:ext cx="11049000" cy="52101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实时世界流 · 文档化接口</a:t>
            </a:r>
          </a:p>
        </p:txBody>
      </p:sp>
      <p:sp>
        <p:nvSpPr>
          <p:cNvPr id="5" name="p5-left-bg">
            <a:extLst xmlns:a="http://schemas.openxmlformats.org/drawingml/2006/main">
              <a:ext uri="{FF2B5EF4-FFF2-40B4-BE49-F238E27FC236}">
                <a16:creationId xmlns:a16="http://schemas.microsoft.com/office/drawing/2014/main" id="{0A63C123-F4E8-49B0-8E50-BC0C0C9D8742}"/>
              </a:ext>
            </a:extLst>
          </p:cNvPr>
          <p:cNvSpPr>
            <a:spLocks xmlns:a="http://schemas.openxmlformats.org/drawingml/2006/main" noGrp="1"/>
          </p:cNvSpPr>
          <p:nvPr/>
        </p:nvSpPr>
        <p:spPr>
          <a:xfrm xmlns:a="http://schemas.openxmlformats.org/drawingml/2006/main">
            <a:off x="609600" y="1885950"/>
            <a:ext cx="6438900" cy="4191000"/>
          </a:xfrm>
          <a:prstGeom xmlns:a="http://schemas.openxmlformats.org/drawingml/2006/main" prst="rect">
            <a:avLst/>
          </a:prstGeom>
          <a:solidFill xmlns:a="http://schemas.openxmlformats.org/drawingml/2006/main">
            <a:srgbClr val="FCFAF6"/>
          </a:solidFill>
        </p:spPr>
      </p:sp>
      <p:sp>
        <p:nvSpPr>
          <p:cNvPr id="6" name="p5-established-rule">
            <a:extLst xmlns:a="http://schemas.openxmlformats.org/drawingml/2006/main">
              <a:ext uri="{FF2B5EF4-FFF2-40B4-BE49-F238E27FC236}">
                <a16:creationId xmlns:a16="http://schemas.microsoft.com/office/drawing/2014/main" id="{E1445A70-C147-4054-906C-440938909B5A}"/>
              </a:ext>
            </a:extLst>
          </p:cNvPr>
          <p:cNvSpPr>
            <a:spLocks xmlns:a="http://schemas.openxmlformats.org/drawingml/2006/main" noGrp="1"/>
          </p:cNvSpPr>
          <p:nvPr/>
        </p:nvSpPr>
        <p:spPr>
          <a:xfrm xmlns:a="http://schemas.openxmlformats.org/drawingml/2006/main">
            <a:off x="838200" y="2076450"/>
            <a:ext cx="361950" cy="28575"/>
          </a:xfrm>
          <a:prstGeom xmlns:a="http://schemas.openxmlformats.org/drawingml/2006/main" prst="rect">
            <a:avLst/>
          </a:prstGeom>
          <a:solidFill xmlns:a="http://schemas.openxmlformats.org/drawingml/2006/main">
            <a:srgbClr val="75867A"/>
          </a:solidFill>
        </p:spPr>
      </p:sp>
      <p:sp>
        <p:nvSpPr>
          <p:cNvPr id="7" name="p5-established-label">
            <a:extLst xmlns:a="http://schemas.openxmlformats.org/drawingml/2006/main">
              <a:ext uri="{FF2B5EF4-FFF2-40B4-BE49-F238E27FC236}">
                <a16:creationId xmlns:a16="http://schemas.microsoft.com/office/drawing/2014/main" id="{908DB6BE-5B39-493B-9FFD-37DFF8312345}"/>
              </a:ext>
            </a:extLst>
          </p:cNvPr>
          <p:cNvSpPr>
            <a:spLocks xmlns:a="http://schemas.openxmlformats.org/drawingml/2006/main" noGrp="1"/>
          </p:cNvSpPr>
          <p:nvPr/>
        </p:nvSpPr>
        <p:spPr>
          <a:xfrm xmlns:a="http://schemas.openxmlformats.org/drawingml/2006/main">
            <a:off x="838200" y="2171700"/>
            <a:ext cx="11353800" cy="4686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已成立</a:t>
            </a:r>
          </a:p>
        </p:txBody>
      </p:sp>
      <p:sp>
        <p:nvSpPr>
          <p:cNvPr id="8" name="p5-established-body">
            <a:extLst xmlns:a="http://schemas.openxmlformats.org/drawingml/2006/main">
              <a:ext uri="{FF2B5EF4-FFF2-40B4-BE49-F238E27FC236}">
                <a16:creationId xmlns:a16="http://schemas.microsoft.com/office/drawing/2014/main" id="{A694E48A-6ECF-4079-BDC1-0D356D9617E9}"/>
              </a:ext>
            </a:extLst>
          </p:cNvPr>
          <p:cNvSpPr>
            <a:spLocks xmlns:a="http://schemas.openxmlformats.org/drawingml/2006/main" noGrp="1"/>
          </p:cNvSpPr>
          <p:nvPr/>
        </p:nvSpPr>
        <p:spPr>
          <a:xfrm xmlns:a="http://schemas.openxmlformats.org/drawingml/2006/main">
            <a:off x="838200" y="2571750"/>
            <a:ext cx="11353800" cy="428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Odyssey-2 Pro 以历史状态和用户动作生成后续画面；
厂商文档提供密钥、JavaScript / Python 接入和连接规则。</a:t>
            </a:r>
          </a:p>
        </p:txBody>
      </p:sp>
      <p:sp>
        <p:nvSpPr>
          <p:cNvPr id="9" name="p5-left-rule">
            <a:extLst xmlns:a="http://schemas.openxmlformats.org/drawingml/2006/main">
              <a:ext uri="{FF2B5EF4-FFF2-40B4-BE49-F238E27FC236}">
                <a16:creationId xmlns:a16="http://schemas.microsoft.com/office/drawing/2014/main" id="{CB4C4F49-C289-4E6C-A39A-1707C8236F77}"/>
              </a:ext>
            </a:extLst>
          </p:cNvPr>
          <p:cNvSpPr>
            <a:spLocks xmlns:a="http://schemas.openxmlformats.org/drawingml/2006/main" noGrp="1"/>
          </p:cNvSpPr>
          <p:nvPr/>
        </p:nvSpPr>
        <p:spPr>
          <a:xfrm xmlns:a="http://schemas.openxmlformats.org/drawingml/2006/main">
            <a:off x="838200" y="3581400"/>
            <a:ext cx="5753100" cy="9525"/>
          </a:xfrm>
          <a:prstGeom xmlns:a="http://schemas.openxmlformats.org/drawingml/2006/main" prst="rect">
            <a:avLst/>
          </a:prstGeom>
          <a:solidFill xmlns:a="http://schemas.openxmlformats.org/drawingml/2006/main">
            <a:srgbClr val="D8D0C6"/>
          </a:solidFill>
        </p:spPr>
      </p:sp>
      <p:sp>
        <p:nvSpPr>
          <p:cNvPr id="10" name="p5-meaning-rule">
            <a:extLst xmlns:a="http://schemas.openxmlformats.org/drawingml/2006/main">
              <a:ext uri="{FF2B5EF4-FFF2-40B4-BE49-F238E27FC236}">
                <a16:creationId xmlns:a16="http://schemas.microsoft.com/office/drawing/2014/main" id="{FF627652-59A7-44EB-89B2-6FFB5CB6EA0E}"/>
              </a:ext>
            </a:extLst>
          </p:cNvPr>
          <p:cNvSpPr>
            <a:spLocks xmlns:a="http://schemas.openxmlformats.org/drawingml/2006/main" noGrp="1"/>
          </p:cNvSpPr>
          <p:nvPr/>
        </p:nvSpPr>
        <p:spPr>
          <a:xfrm xmlns:a="http://schemas.openxmlformats.org/drawingml/2006/main">
            <a:off x="838200" y="3790950"/>
            <a:ext cx="361950" cy="28575"/>
          </a:xfrm>
          <a:prstGeom xmlns:a="http://schemas.openxmlformats.org/drawingml/2006/main" prst="rect">
            <a:avLst/>
          </a:prstGeom>
          <a:solidFill xmlns:a="http://schemas.openxmlformats.org/drawingml/2006/main">
            <a:srgbClr val="C56B4D"/>
          </a:solidFill>
        </p:spPr>
      </p:sp>
      <p:sp>
        <p:nvSpPr>
          <p:cNvPr id="11" name="p5-meaning-label">
            <a:extLst xmlns:a="http://schemas.openxmlformats.org/drawingml/2006/main">
              <a:ext uri="{FF2B5EF4-FFF2-40B4-BE49-F238E27FC236}">
                <a16:creationId xmlns:a16="http://schemas.microsoft.com/office/drawing/2014/main" id="{08969626-2A49-46D1-AD12-7D3BAA4BDBF0}"/>
              </a:ext>
            </a:extLst>
          </p:cNvPr>
          <p:cNvSpPr>
            <a:spLocks xmlns:a="http://schemas.openxmlformats.org/drawingml/2006/main" noGrp="1"/>
          </p:cNvSpPr>
          <p:nvPr/>
        </p:nvSpPr>
        <p:spPr>
          <a:xfrm xmlns:a="http://schemas.openxmlformats.org/drawingml/2006/main">
            <a:off x="838200" y="3886200"/>
            <a:ext cx="11353800" cy="2971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对 Manifold 的意义</a:t>
            </a:r>
          </a:p>
        </p:txBody>
      </p:sp>
      <p:sp>
        <p:nvSpPr>
          <p:cNvPr id="12" name="p5-meaning-body">
            <a:extLst xmlns:a="http://schemas.openxmlformats.org/drawingml/2006/main">
              <a:ext uri="{FF2B5EF4-FFF2-40B4-BE49-F238E27FC236}">
                <a16:creationId xmlns:a16="http://schemas.microsoft.com/office/drawing/2014/main" id="{3D67F4B2-6586-4D5C-AAE0-4E0D45DACE37}"/>
              </a:ext>
            </a:extLst>
          </p:cNvPr>
          <p:cNvSpPr>
            <a:spLocks xmlns:a="http://schemas.openxmlformats.org/drawingml/2006/main" noGrp="1"/>
          </p:cNvSpPr>
          <p:nvPr/>
        </p:nvSpPr>
        <p:spPr>
          <a:xfrm xmlns:a="http://schemas.openxmlformats.org/drawingml/2006/main">
            <a:off x="838200" y="4286250"/>
            <a:ext cx="11353800" cy="2571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如果账户、可靠性和单位经济性闭合，
它可能成为实时世界流基础设施；现在只能作条件性判断。</a:t>
            </a:r>
          </a:p>
        </p:txBody>
      </p:sp>
      <p:sp>
        <p:nvSpPr>
          <p:cNvPr id="13" name="p5-trigger-top">
            <a:extLst xmlns:a="http://schemas.openxmlformats.org/drawingml/2006/main">
              <a:ext uri="{FF2B5EF4-FFF2-40B4-BE49-F238E27FC236}">
                <a16:creationId xmlns:a16="http://schemas.microsoft.com/office/drawing/2014/main" id="{9589F3FE-8079-4D2A-A084-8092B3BB5EDF}"/>
              </a:ext>
            </a:extLst>
          </p:cNvPr>
          <p:cNvSpPr>
            <a:spLocks xmlns:a="http://schemas.openxmlformats.org/drawingml/2006/main" noGrp="1"/>
          </p:cNvSpPr>
          <p:nvPr/>
        </p:nvSpPr>
        <p:spPr>
          <a:xfrm xmlns:a="http://schemas.openxmlformats.org/drawingml/2006/main">
            <a:off x="838200" y="5200650"/>
            <a:ext cx="533400" cy="38100"/>
          </a:xfrm>
          <a:prstGeom xmlns:a="http://schemas.openxmlformats.org/drawingml/2006/main" prst="rect">
            <a:avLst/>
          </a:prstGeom>
          <a:solidFill xmlns:a="http://schemas.openxmlformats.org/drawingml/2006/main">
            <a:srgbClr val="C56B4D"/>
          </a:solidFill>
        </p:spPr>
      </p:sp>
      <p:sp>
        <p:nvSpPr>
          <p:cNvPr id="14" name="p5-trigger-label">
            <a:extLst xmlns:a="http://schemas.openxmlformats.org/drawingml/2006/main">
              <a:ext uri="{FF2B5EF4-FFF2-40B4-BE49-F238E27FC236}">
                <a16:creationId xmlns:a16="http://schemas.microsoft.com/office/drawing/2014/main" id="{18F02EC3-88CF-467E-A5C6-B09DB363ACD3}"/>
              </a:ext>
            </a:extLst>
          </p:cNvPr>
          <p:cNvSpPr>
            <a:spLocks xmlns:a="http://schemas.openxmlformats.org/drawingml/2006/main" noGrp="1"/>
          </p:cNvSpPr>
          <p:nvPr/>
        </p:nvSpPr>
        <p:spPr>
          <a:xfrm xmlns:a="http://schemas.openxmlformats.org/drawingml/2006/main">
            <a:off x="838200" y="5353050"/>
            <a:ext cx="11353800" cy="1504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关键触发器</a:t>
            </a:r>
          </a:p>
        </p:txBody>
      </p:sp>
      <p:sp>
        <p:nvSpPr>
          <p:cNvPr id="15" name="p5-trigger-body">
            <a:extLst xmlns:a="http://schemas.openxmlformats.org/drawingml/2006/main">
              <a:ext uri="{FF2B5EF4-FFF2-40B4-BE49-F238E27FC236}">
                <a16:creationId xmlns:a16="http://schemas.microsoft.com/office/drawing/2014/main" id="{55EE75F1-BA89-4D5D-826B-2BA568D9D9C0}"/>
              </a:ext>
            </a:extLst>
          </p:cNvPr>
          <p:cNvSpPr>
            <a:spLocks xmlns:a="http://schemas.openxmlformats.org/drawingml/2006/main" noGrp="1"/>
          </p:cNvSpPr>
          <p:nvPr/>
        </p:nvSpPr>
        <p:spPr>
          <a:xfrm xmlns:a="http://schemas.openxmlformats.org/drawingml/2006/main">
            <a:off x="838200" y="5715000"/>
            <a:ext cx="11353800" cy="1143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独立账户在公开价格和服务等级下完成长时稳定调用。</a:t>
            </a:r>
          </a:p>
        </p:txBody>
      </p:sp>
      <p:sp>
        <p:nvSpPr>
          <p:cNvPr id="16" name="p5-limits-bg">
            <a:extLst xmlns:a="http://schemas.openxmlformats.org/drawingml/2006/main">
              <a:ext uri="{FF2B5EF4-FFF2-40B4-BE49-F238E27FC236}">
                <a16:creationId xmlns:a16="http://schemas.microsoft.com/office/drawing/2014/main" id="{1EE3E9B7-9AB3-4E28-B813-9D5F38E50E49}"/>
              </a:ext>
            </a:extLst>
          </p:cNvPr>
          <p:cNvSpPr>
            <a:spLocks xmlns:a="http://schemas.openxmlformats.org/drawingml/2006/main" noGrp="1"/>
          </p:cNvSpPr>
          <p:nvPr/>
        </p:nvSpPr>
        <p:spPr>
          <a:xfrm xmlns:a="http://schemas.openxmlformats.org/drawingml/2006/main">
            <a:off x="7277100" y="1885950"/>
            <a:ext cx="4305300" cy="4191000"/>
          </a:xfrm>
          <a:prstGeom xmlns:a="http://schemas.openxmlformats.org/drawingml/2006/main" prst="rect">
            <a:avLst/>
          </a:prstGeom>
          <a:solidFill xmlns:a="http://schemas.openxmlformats.org/drawingml/2006/main">
            <a:srgbClr val="E5EBE5"/>
          </a:solidFill>
        </p:spPr>
      </p:sp>
      <p:sp>
        <p:nvSpPr>
          <p:cNvPr id="17" name="p5-limits-title">
            <a:extLst xmlns:a="http://schemas.openxmlformats.org/drawingml/2006/main">
              <a:ext uri="{FF2B5EF4-FFF2-40B4-BE49-F238E27FC236}">
                <a16:creationId xmlns:a16="http://schemas.microsoft.com/office/drawing/2014/main" id="{EF7B138F-6923-44E5-B374-DBBB28665278}"/>
              </a:ext>
            </a:extLst>
          </p:cNvPr>
          <p:cNvSpPr>
            <a:spLocks xmlns:a="http://schemas.openxmlformats.org/drawingml/2006/main" noGrp="1"/>
          </p:cNvSpPr>
          <p:nvPr/>
        </p:nvSpPr>
        <p:spPr>
          <a:xfrm xmlns:a="http://schemas.openxmlformats.org/drawingml/2006/main">
            <a:off x="7543800" y="2095500"/>
            <a:ext cx="4648200" cy="476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仍未闭合的服务条件</a:t>
            </a:r>
          </a:p>
        </p:txBody>
      </p:sp>
      <p:sp>
        <p:nvSpPr>
          <p:cNvPr id="18" name="p5-limit-big-0">
            <a:extLst xmlns:a="http://schemas.openxmlformats.org/drawingml/2006/main">
              <a:ext uri="{FF2B5EF4-FFF2-40B4-BE49-F238E27FC236}">
                <a16:creationId xmlns:a16="http://schemas.microsoft.com/office/drawing/2014/main" id="{F86CE943-0DD3-4DF6-82DD-10DB9A5963A7}"/>
              </a:ext>
            </a:extLst>
          </p:cNvPr>
          <p:cNvSpPr>
            <a:spLocks xmlns:a="http://schemas.openxmlformats.org/drawingml/2006/main" noGrp="1"/>
          </p:cNvSpPr>
          <p:nvPr/>
        </p:nvSpPr>
        <p:spPr>
          <a:xfrm xmlns:a="http://schemas.openxmlformats.org/drawingml/2006/main">
            <a:off x="7543800" y="2647950"/>
            <a:ext cx="4648200" cy="421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6E6861"/>
                </a:solidFill>
                <a:latin typeface="Noto Sans SC"/>
                <a:ea typeface="Noto Sans SC"/>
                <a:cs typeface="Noto Sans SC"/>
              </a:defRPr>
            </a:pPr>
            <a:r>
              <a:t>账户</a:t>
            </a:r>
          </a:p>
        </p:txBody>
      </p:sp>
      <p:sp>
        <p:nvSpPr>
          <p:cNvPr id="19" name="p5-limit-small-0">
            <a:extLst xmlns:a="http://schemas.openxmlformats.org/drawingml/2006/main">
              <a:ext uri="{FF2B5EF4-FFF2-40B4-BE49-F238E27FC236}">
                <a16:creationId xmlns:a16="http://schemas.microsoft.com/office/drawing/2014/main" id="{DCB7ABF2-711F-4C02-9AE9-E30FAC47E6B3}"/>
              </a:ext>
            </a:extLst>
          </p:cNvPr>
          <p:cNvSpPr>
            <a:spLocks xmlns:a="http://schemas.openxmlformats.org/drawingml/2006/main" noGrp="1"/>
          </p:cNvSpPr>
          <p:nvPr/>
        </p:nvSpPr>
        <p:spPr>
          <a:xfrm xmlns:a="http://schemas.openxmlformats.org/drawingml/2006/main">
            <a:off x="8858250" y="2647950"/>
            <a:ext cx="3333750" cy="421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实际账户与持续调用未独立确认</a:t>
            </a:r>
          </a:p>
        </p:txBody>
      </p:sp>
      <p:sp>
        <p:nvSpPr>
          <p:cNvPr id="20" name="p5-limit-rule-1">
            <a:extLst xmlns:a="http://schemas.openxmlformats.org/drawingml/2006/main">
              <a:ext uri="{FF2B5EF4-FFF2-40B4-BE49-F238E27FC236}">
                <a16:creationId xmlns:a16="http://schemas.microsoft.com/office/drawing/2014/main" id="{69E23C1F-D0E9-409C-9A98-DB258A359B52}"/>
              </a:ext>
            </a:extLst>
          </p:cNvPr>
          <p:cNvSpPr>
            <a:spLocks xmlns:a="http://schemas.openxmlformats.org/drawingml/2006/main" noGrp="1"/>
          </p:cNvSpPr>
          <p:nvPr/>
        </p:nvSpPr>
        <p:spPr>
          <a:xfrm xmlns:a="http://schemas.openxmlformats.org/drawingml/2006/main">
            <a:off x="7543800" y="3219450"/>
            <a:ext cx="3619500" cy="9525"/>
          </a:xfrm>
          <a:prstGeom xmlns:a="http://schemas.openxmlformats.org/drawingml/2006/main" prst="rect">
            <a:avLst/>
          </a:prstGeom>
          <a:solidFill xmlns:a="http://schemas.openxmlformats.org/drawingml/2006/main">
            <a:srgbClr val="BDB4AA"/>
          </a:solidFill>
        </p:spPr>
      </p:sp>
      <p:sp>
        <p:nvSpPr>
          <p:cNvPr id="21" name="p5-limit-big-1">
            <a:extLst xmlns:a="http://schemas.openxmlformats.org/drawingml/2006/main">
              <a:ext uri="{FF2B5EF4-FFF2-40B4-BE49-F238E27FC236}">
                <a16:creationId xmlns:a16="http://schemas.microsoft.com/office/drawing/2014/main" id="{8786BE5D-4C3E-4218-90CD-FA923D9AA8B6}"/>
              </a:ext>
            </a:extLst>
          </p:cNvPr>
          <p:cNvSpPr>
            <a:spLocks xmlns:a="http://schemas.openxmlformats.org/drawingml/2006/main" noGrp="1"/>
          </p:cNvSpPr>
          <p:nvPr/>
        </p:nvSpPr>
        <p:spPr>
          <a:xfrm xmlns:a="http://schemas.openxmlformats.org/drawingml/2006/main">
            <a:off x="7543800" y="3333750"/>
            <a:ext cx="4648200" cy="3524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75867A"/>
                </a:solidFill>
                <a:latin typeface="Noto Sans SC"/>
                <a:ea typeface="Noto Sans SC"/>
                <a:cs typeface="Noto Sans SC"/>
              </a:defRPr>
            </a:pPr>
            <a:r>
              <a:t>150 秒</a:t>
            </a:r>
          </a:p>
        </p:txBody>
      </p:sp>
      <p:sp>
        <p:nvSpPr>
          <p:cNvPr id="22" name="p5-limit-small-1">
            <a:extLst xmlns:a="http://schemas.openxmlformats.org/drawingml/2006/main">
              <a:ext uri="{FF2B5EF4-FFF2-40B4-BE49-F238E27FC236}">
                <a16:creationId xmlns:a16="http://schemas.microsoft.com/office/drawing/2014/main" id="{4A605339-51A4-4884-9D9A-9B379E68930F}"/>
              </a:ext>
            </a:extLst>
          </p:cNvPr>
          <p:cNvSpPr>
            <a:spLocks xmlns:a="http://schemas.openxmlformats.org/drawingml/2006/main" noGrp="1"/>
          </p:cNvSpPr>
          <p:nvPr/>
        </p:nvSpPr>
        <p:spPr>
          <a:xfrm xmlns:a="http://schemas.openxmlformats.org/drawingml/2006/main">
            <a:off x="8858250" y="3333750"/>
            <a:ext cx="3333750" cy="3524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当前默认单流上限</a:t>
            </a:r>
          </a:p>
        </p:txBody>
      </p:sp>
      <p:sp>
        <p:nvSpPr>
          <p:cNvPr id="23" name="p5-limit-rule-2">
            <a:extLst xmlns:a="http://schemas.openxmlformats.org/drawingml/2006/main">
              <a:ext uri="{FF2B5EF4-FFF2-40B4-BE49-F238E27FC236}">
                <a16:creationId xmlns:a16="http://schemas.microsoft.com/office/drawing/2014/main" id="{DF11197A-A74B-4EA9-A975-48446500A08B}"/>
              </a:ext>
            </a:extLst>
          </p:cNvPr>
          <p:cNvSpPr>
            <a:spLocks xmlns:a="http://schemas.openxmlformats.org/drawingml/2006/main" noGrp="1"/>
          </p:cNvSpPr>
          <p:nvPr/>
        </p:nvSpPr>
        <p:spPr>
          <a:xfrm xmlns:a="http://schemas.openxmlformats.org/drawingml/2006/main">
            <a:off x="7543800" y="3905250"/>
            <a:ext cx="3619500" cy="9525"/>
          </a:xfrm>
          <a:prstGeom xmlns:a="http://schemas.openxmlformats.org/drawingml/2006/main" prst="rect">
            <a:avLst/>
          </a:prstGeom>
          <a:solidFill xmlns:a="http://schemas.openxmlformats.org/drawingml/2006/main">
            <a:srgbClr val="BDB4AA"/>
          </a:solidFill>
        </p:spPr>
      </p:sp>
      <p:sp>
        <p:nvSpPr>
          <p:cNvPr id="24" name="p5-limit-big-2">
            <a:extLst xmlns:a="http://schemas.openxmlformats.org/drawingml/2006/main">
              <a:ext uri="{FF2B5EF4-FFF2-40B4-BE49-F238E27FC236}">
                <a16:creationId xmlns:a16="http://schemas.microsoft.com/office/drawing/2014/main" id="{4E2C0C50-AEBF-433C-98EE-676197EE7918}"/>
              </a:ext>
            </a:extLst>
          </p:cNvPr>
          <p:cNvSpPr>
            <a:spLocks xmlns:a="http://schemas.openxmlformats.org/drawingml/2006/main" noGrp="1"/>
          </p:cNvSpPr>
          <p:nvPr/>
        </p:nvSpPr>
        <p:spPr>
          <a:xfrm xmlns:a="http://schemas.openxmlformats.org/drawingml/2006/main">
            <a:off x="7543800" y="4019550"/>
            <a:ext cx="4648200" cy="2838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75867A"/>
                </a:solidFill>
                <a:latin typeface="Noto Sans SC"/>
                <a:ea typeface="Noto Sans SC"/>
                <a:cs typeface="Noto Sans SC"/>
              </a:defRPr>
            </a:pPr>
            <a:r>
              <a:t>60 分钟</a:t>
            </a:r>
          </a:p>
        </p:txBody>
      </p:sp>
      <p:sp>
        <p:nvSpPr>
          <p:cNvPr id="25" name="p5-limit-small-2">
            <a:extLst xmlns:a="http://schemas.openxmlformats.org/drawingml/2006/main">
              <a:ext uri="{FF2B5EF4-FFF2-40B4-BE49-F238E27FC236}">
                <a16:creationId xmlns:a16="http://schemas.microsoft.com/office/drawing/2014/main" id="{4436E7EF-E6E7-47AE-B723-0142DC7F96B9}"/>
              </a:ext>
            </a:extLst>
          </p:cNvPr>
          <p:cNvSpPr>
            <a:spLocks xmlns:a="http://schemas.openxmlformats.org/drawingml/2006/main" noGrp="1"/>
          </p:cNvSpPr>
          <p:nvPr/>
        </p:nvSpPr>
        <p:spPr>
          <a:xfrm xmlns:a="http://schemas.openxmlformats.org/drawingml/2006/main">
            <a:off x="8858250" y="4019550"/>
            <a:ext cx="3333750" cy="2838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当前默认单连接上限</a:t>
            </a:r>
          </a:p>
        </p:txBody>
      </p:sp>
      <p:sp>
        <p:nvSpPr>
          <p:cNvPr id="26" name="p5-limit-rule-3">
            <a:extLst xmlns:a="http://schemas.openxmlformats.org/drawingml/2006/main">
              <a:ext uri="{FF2B5EF4-FFF2-40B4-BE49-F238E27FC236}">
                <a16:creationId xmlns:a16="http://schemas.microsoft.com/office/drawing/2014/main" id="{A8C75222-DA00-450C-895D-2D0C4A2BE127}"/>
              </a:ext>
            </a:extLst>
          </p:cNvPr>
          <p:cNvSpPr>
            <a:spLocks xmlns:a="http://schemas.openxmlformats.org/drawingml/2006/main" noGrp="1"/>
          </p:cNvSpPr>
          <p:nvPr/>
        </p:nvSpPr>
        <p:spPr>
          <a:xfrm xmlns:a="http://schemas.openxmlformats.org/drawingml/2006/main">
            <a:off x="7543800" y="4591050"/>
            <a:ext cx="3619500" cy="9525"/>
          </a:xfrm>
          <a:prstGeom xmlns:a="http://schemas.openxmlformats.org/drawingml/2006/main" prst="rect">
            <a:avLst/>
          </a:prstGeom>
          <a:solidFill xmlns:a="http://schemas.openxmlformats.org/drawingml/2006/main">
            <a:srgbClr val="BDB4AA"/>
          </a:solidFill>
        </p:spPr>
      </p:sp>
      <p:sp>
        <p:nvSpPr>
          <p:cNvPr id="27" name="p5-limit-big-3">
            <a:extLst xmlns:a="http://schemas.openxmlformats.org/drawingml/2006/main">
              <a:ext uri="{FF2B5EF4-FFF2-40B4-BE49-F238E27FC236}">
                <a16:creationId xmlns:a16="http://schemas.microsoft.com/office/drawing/2014/main" id="{542FF30F-047D-40C3-8FCD-680D67CD6D7E}"/>
              </a:ext>
            </a:extLst>
          </p:cNvPr>
          <p:cNvSpPr>
            <a:spLocks xmlns:a="http://schemas.openxmlformats.org/drawingml/2006/main" noGrp="1"/>
          </p:cNvSpPr>
          <p:nvPr/>
        </p:nvSpPr>
        <p:spPr>
          <a:xfrm xmlns:a="http://schemas.openxmlformats.org/drawingml/2006/main">
            <a:off x="7543800" y="4705350"/>
            <a:ext cx="4648200" cy="2152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75867A"/>
                </a:solidFill>
                <a:latin typeface="Noto Sans SC"/>
                <a:ea typeface="Noto Sans SC"/>
                <a:cs typeface="Noto Sans SC"/>
              </a:defRPr>
            </a:pPr>
            <a:r>
              <a:t>15 分钟</a:t>
            </a:r>
          </a:p>
        </p:txBody>
      </p:sp>
      <p:sp>
        <p:nvSpPr>
          <p:cNvPr id="28" name="p5-limit-small-3">
            <a:extLst xmlns:a="http://schemas.openxmlformats.org/drawingml/2006/main">
              <a:ext uri="{FF2B5EF4-FFF2-40B4-BE49-F238E27FC236}">
                <a16:creationId xmlns:a16="http://schemas.microsoft.com/office/drawing/2014/main" id="{792F8CE8-6456-4ED7-A270-FA92E7B2A8A9}"/>
              </a:ext>
            </a:extLst>
          </p:cNvPr>
          <p:cNvSpPr>
            <a:spLocks xmlns:a="http://schemas.openxmlformats.org/drawingml/2006/main" noGrp="1"/>
          </p:cNvSpPr>
          <p:nvPr/>
        </p:nvSpPr>
        <p:spPr>
          <a:xfrm xmlns:a="http://schemas.openxmlformats.org/drawingml/2006/main">
            <a:off x="8858250" y="4705350"/>
            <a:ext cx="3333750" cy="2152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无活动流自动断开</a:t>
            </a:r>
          </a:p>
        </p:txBody>
      </p:sp>
      <p:sp>
        <p:nvSpPr>
          <p:cNvPr id="29" name="p5-limit-note">
            <a:extLst xmlns:a="http://schemas.openxmlformats.org/drawingml/2006/main">
              <a:ext uri="{FF2B5EF4-FFF2-40B4-BE49-F238E27FC236}">
                <a16:creationId xmlns:a16="http://schemas.microsoft.com/office/drawing/2014/main" id="{AA0D6C83-099D-48AF-AF66-113046C03468}"/>
              </a:ext>
            </a:extLst>
          </p:cNvPr>
          <p:cNvSpPr>
            <a:spLocks xmlns:a="http://schemas.openxmlformats.org/drawingml/2006/main" noGrp="1"/>
          </p:cNvSpPr>
          <p:nvPr/>
        </p:nvSpPr>
        <p:spPr>
          <a:xfrm xmlns:a="http://schemas.openxmlformats.org/drawingml/2006/main">
            <a:off x="7543800" y="5524500"/>
            <a:ext cx="4648200" cy="1333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这些运营限制均不构成服务等级保证。</a:t>
            </a:r>
          </a:p>
        </p:txBody>
      </p:sp>
      <p:sp>
        <p:nvSpPr>
          <p:cNvPr id="30" name="p5-footer-rule">
            <a:extLst xmlns:a="http://schemas.openxmlformats.org/drawingml/2006/main">
              <a:ext uri="{FF2B5EF4-FFF2-40B4-BE49-F238E27FC236}">
                <a16:creationId xmlns:a16="http://schemas.microsoft.com/office/drawing/2014/main" id="{56ADFBE7-92C4-4273-9F43-B22F0DD23703}"/>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31" name="p5-footer-source">
            <a:extLst xmlns:a="http://schemas.openxmlformats.org/drawingml/2006/main">
              <a:ext uri="{FF2B5EF4-FFF2-40B4-BE49-F238E27FC236}">
                <a16:creationId xmlns:a16="http://schemas.microsoft.com/office/drawing/2014/main" id="{234F2714-E245-4EEC-9165-9C518E486529}"/>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来源：官方开发者文档、运营限制与条款；公司自报云合作</a:t>
            </a:r>
          </a:p>
        </p:txBody>
      </p:sp>
      <p:sp>
        <p:nvSpPr>
          <p:cNvPr id="32" name="p5-footer-page">
            <a:extLst xmlns:a="http://schemas.openxmlformats.org/drawingml/2006/main">
              <a:ext uri="{FF2B5EF4-FFF2-40B4-BE49-F238E27FC236}">
                <a16:creationId xmlns:a16="http://schemas.microsoft.com/office/drawing/2014/main" id="{72EECE36-53D8-40AB-88CF-F33CDD0FB2CC}"/>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05</a:t>
            </a:r>
          </a:p>
        </p:txBody>
      </p:sp>
    </p:spTree>
    <p:extLst>
      <p:ext uri="{BB962C8B-B14F-4D97-AF65-F5344CB8AC3E}">
        <p14:creationId xmlns:p14="http://schemas.microsoft.com/office/powerpoint/2010/main" val="728886692"/>
      </p:ext>
    </p:extLst>
  </p:cSld>
</p:sld>
</file>

<file path=ppt/slides/slide6.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6-identity">
            <a:extLst xmlns:a="http://schemas.openxmlformats.org/drawingml/2006/main">
              <a:ext uri="{FF2B5EF4-FFF2-40B4-BE49-F238E27FC236}">
                <a16:creationId xmlns:a16="http://schemas.microsoft.com/office/drawing/2014/main" id="{7EECA8C7-0059-43CF-A758-AA1B7BB6DE7B}"/>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66F82"/>
                </a:solidFill>
                <a:latin typeface="Noto Sans SC"/>
                <a:ea typeface="Noto Sans SC"/>
                <a:cs typeface="Noto Sans SC"/>
              </a:defRPr>
            </a:pPr>
            <a:r>
              <a:t>创业公司 3/4 · RUNWAY</a:t>
            </a:r>
          </a:p>
        </p:txBody>
      </p:sp>
      <p:sp>
        <p:nvSpPr>
          <p:cNvPr id="2" name="p6-title">
            <a:extLst xmlns:a="http://schemas.openxmlformats.org/drawingml/2006/main">
              <a:ext uri="{FF2B5EF4-FFF2-40B4-BE49-F238E27FC236}">
                <a16:creationId xmlns:a16="http://schemas.microsoft.com/office/drawing/2014/main" id="{AE303106-9621-435F-A60E-035547F0FCB7}"/>
              </a:ext>
            </a:extLst>
          </p:cNvPr>
          <p:cNvSpPr>
            <a:spLocks xmlns:a="http://schemas.openxmlformats.org/drawingml/2006/main" noGrp="1"/>
          </p:cNvSpPr>
          <p:nvPr/>
        </p:nvSpPr>
        <p:spPr>
          <a:xfrm xmlns:a="http://schemas.openxmlformats.org/drawingml/2006/main">
            <a:off x="609600" y="552450"/>
            <a:ext cx="11582400" cy="6305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Runway 同时押注可探索世界和机器人，
两条路线都还处在早期</a:t>
            </a:r>
          </a:p>
        </p:txBody>
      </p:sp>
      <p:sp>
        <p:nvSpPr>
          <p:cNvPr id="3" name="p6-route-line">
            <a:extLst xmlns:a="http://schemas.openxmlformats.org/drawingml/2006/main">
              <a:ext uri="{FF2B5EF4-FFF2-40B4-BE49-F238E27FC236}">
                <a16:creationId xmlns:a16="http://schemas.microsoft.com/office/drawing/2014/main" id="{FAEA9F71-AE51-4864-8BB1-1F3E07469635}"/>
              </a:ext>
            </a:extLst>
          </p:cNvPr>
          <p:cNvSpPr>
            <a:spLocks xmlns:a="http://schemas.openxmlformats.org/drawingml/2006/main" noGrp="1"/>
          </p:cNvSpPr>
          <p:nvPr/>
        </p:nvSpPr>
        <p:spPr>
          <a:xfrm xmlns:a="http://schemas.openxmlformats.org/drawingml/2006/main">
            <a:off x="609600" y="1752600"/>
            <a:ext cx="419100" cy="28575"/>
          </a:xfrm>
          <a:prstGeom xmlns:a="http://schemas.openxmlformats.org/drawingml/2006/main" prst="rect">
            <a:avLst/>
          </a:prstGeom>
          <a:solidFill xmlns:a="http://schemas.openxmlformats.org/drawingml/2006/main">
            <a:srgbClr val="766F82"/>
          </a:solidFill>
        </p:spPr>
      </p:sp>
      <p:sp>
        <p:nvSpPr>
          <p:cNvPr id="4" name="p6-route">
            <a:extLst xmlns:a="http://schemas.openxmlformats.org/drawingml/2006/main">
              <a:ext uri="{FF2B5EF4-FFF2-40B4-BE49-F238E27FC236}">
                <a16:creationId xmlns:a16="http://schemas.microsoft.com/office/drawing/2014/main" id="{E80C26AD-ACC4-4728-BAE8-B995D9C688E3}"/>
              </a:ext>
            </a:extLst>
          </p:cNvPr>
          <p:cNvSpPr>
            <a:spLocks xmlns:a="http://schemas.openxmlformats.org/drawingml/2006/main" noGrp="1"/>
          </p:cNvSpPr>
          <p:nvPr/>
        </p:nvSpPr>
        <p:spPr>
          <a:xfrm xmlns:a="http://schemas.openxmlformats.org/drawingml/2006/main">
            <a:off x="1143000" y="1647825"/>
            <a:ext cx="11049000" cy="52101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内容平台外延 · 申请制入口</a:t>
            </a:r>
          </a:p>
        </p:txBody>
      </p:sp>
      <p:sp>
        <p:nvSpPr>
          <p:cNvPr id="5" name="p6-worlds-bg">
            <a:extLst xmlns:a="http://schemas.openxmlformats.org/drawingml/2006/main">
              <a:ext uri="{FF2B5EF4-FFF2-40B4-BE49-F238E27FC236}">
                <a16:creationId xmlns:a16="http://schemas.microsoft.com/office/drawing/2014/main" id="{250923B2-8659-4E4B-82FA-7FA731A416B5}"/>
              </a:ext>
            </a:extLst>
          </p:cNvPr>
          <p:cNvSpPr>
            <a:spLocks xmlns:a="http://schemas.openxmlformats.org/drawingml/2006/main" noGrp="1"/>
          </p:cNvSpPr>
          <p:nvPr/>
        </p:nvSpPr>
        <p:spPr>
          <a:xfrm xmlns:a="http://schemas.openxmlformats.org/drawingml/2006/main">
            <a:off x="609600" y="1885950"/>
            <a:ext cx="5257800" cy="1905000"/>
          </a:xfrm>
          <a:prstGeom xmlns:a="http://schemas.openxmlformats.org/drawingml/2006/main" prst="rect">
            <a:avLst/>
          </a:prstGeom>
          <a:solidFill xmlns:a="http://schemas.openxmlformats.org/drawingml/2006/main">
            <a:srgbClr val="E9E5ED"/>
          </a:solidFill>
        </p:spPr>
      </p:sp>
      <p:sp>
        <p:nvSpPr>
          <p:cNvPr id="6" name="p6-worlds-kicker">
            <a:extLst xmlns:a="http://schemas.openxmlformats.org/drawingml/2006/main">
              <a:ext uri="{FF2B5EF4-FFF2-40B4-BE49-F238E27FC236}">
                <a16:creationId xmlns:a16="http://schemas.microsoft.com/office/drawing/2014/main" id="{F1517C6C-3E38-4108-91F2-838B45AD8B75}"/>
              </a:ext>
            </a:extLst>
          </p:cNvPr>
          <p:cNvSpPr>
            <a:spLocks xmlns:a="http://schemas.openxmlformats.org/drawingml/2006/main" noGrp="1"/>
          </p:cNvSpPr>
          <p:nvPr/>
        </p:nvSpPr>
        <p:spPr>
          <a:xfrm xmlns:a="http://schemas.openxmlformats.org/drawingml/2006/main">
            <a:off x="838200" y="2095500"/>
            <a:ext cx="11353800" cy="476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66F82"/>
                </a:solidFill>
                <a:latin typeface="Noto Sans SC"/>
                <a:ea typeface="Noto Sans SC"/>
                <a:cs typeface="Noto Sans SC"/>
              </a:defRPr>
            </a:pPr>
            <a:r>
              <a:t>已成立 · 路线 A</a:t>
            </a:r>
          </a:p>
        </p:txBody>
      </p:sp>
      <p:sp>
        <p:nvSpPr>
          <p:cNvPr id="7" name="p6-worlds-name">
            <a:extLst xmlns:a="http://schemas.openxmlformats.org/drawingml/2006/main">
              <a:ext uri="{FF2B5EF4-FFF2-40B4-BE49-F238E27FC236}">
                <a16:creationId xmlns:a16="http://schemas.microsoft.com/office/drawing/2014/main" id="{0F2E912A-63F3-4F5F-BF65-DC7DC8C25207}"/>
              </a:ext>
            </a:extLst>
          </p:cNvPr>
          <p:cNvSpPr>
            <a:spLocks xmlns:a="http://schemas.openxmlformats.org/drawingml/2006/main" noGrp="1"/>
          </p:cNvSpPr>
          <p:nvPr/>
        </p:nvSpPr>
        <p:spPr>
          <a:xfrm xmlns:a="http://schemas.openxmlformats.org/drawingml/2006/main">
            <a:off x="838200" y="2438400"/>
            <a:ext cx="11353800" cy="441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Worlds</a:t>
            </a:r>
          </a:p>
        </p:txBody>
      </p:sp>
      <p:sp>
        <p:nvSpPr>
          <p:cNvPr id="8" name="p6-worlds-access">
            <a:extLst xmlns:a="http://schemas.openxmlformats.org/drawingml/2006/main">
              <a:ext uri="{FF2B5EF4-FFF2-40B4-BE49-F238E27FC236}">
                <a16:creationId xmlns:a16="http://schemas.microsoft.com/office/drawing/2014/main" id="{96E7CDF0-2820-4E07-814C-A98C1607E4AD}"/>
              </a:ext>
            </a:extLst>
          </p:cNvPr>
          <p:cNvSpPr>
            <a:spLocks xmlns:a="http://schemas.openxmlformats.org/drawingml/2006/main" noGrp="1"/>
          </p:cNvSpPr>
          <p:nvPr/>
        </p:nvSpPr>
        <p:spPr>
          <a:xfrm xmlns:a="http://schemas.openxmlformats.org/drawingml/2006/main">
            <a:off x="838200" y="2914650"/>
            <a:ext cx="11353800" cy="3943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公开申请制 early access；实际访问未独立确认。</a:t>
            </a:r>
          </a:p>
        </p:txBody>
      </p:sp>
      <p:sp>
        <p:nvSpPr>
          <p:cNvPr id="9" name="p6-robotics-bg">
            <a:extLst xmlns:a="http://schemas.openxmlformats.org/drawingml/2006/main">
              <a:ext uri="{FF2B5EF4-FFF2-40B4-BE49-F238E27FC236}">
                <a16:creationId xmlns:a16="http://schemas.microsoft.com/office/drawing/2014/main" id="{CE6B49EF-51A9-461B-8E20-4E82D4CA004A}"/>
              </a:ext>
            </a:extLst>
          </p:cNvPr>
          <p:cNvSpPr>
            <a:spLocks xmlns:a="http://schemas.openxmlformats.org/drawingml/2006/main" noGrp="1"/>
          </p:cNvSpPr>
          <p:nvPr/>
        </p:nvSpPr>
        <p:spPr>
          <a:xfrm xmlns:a="http://schemas.openxmlformats.org/drawingml/2006/main">
            <a:off x="6096000" y="1885950"/>
            <a:ext cx="5486400" cy="1905000"/>
          </a:xfrm>
          <a:prstGeom xmlns:a="http://schemas.openxmlformats.org/drawingml/2006/main" prst="rect">
            <a:avLst/>
          </a:prstGeom>
          <a:solidFill xmlns:a="http://schemas.openxmlformats.org/drawingml/2006/main">
            <a:srgbClr val="E5EBE5"/>
          </a:solidFill>
        </p:spPr>
      </p:sp>
      <p:sp>
        <p:nvSpPr>
          <p:cNvPr id="10" name="p6-robotics-kicker">
            <a:extLst xmlns:a="http://schemas.openxmlformats.org/drawingml/2006/main">
              <a:ext uri="{FF2B5EF4-FFF2-40B4-BE49-F238E27FC236}">
                <a16:creationId xmlns:a16="http://schemas.microsoft.com/office/drawing/2014/main" id="{D58E5040-111E-487F-B19C-3784753E14C0}"/>
              </a:ext>
            </a:extLst>
          </p:cNvPr>
          <p:cNvSpPr>
            <a:spLocks xmlns:a="http://schemas.openxmlformats.org/drawingml/2006/main" noGrp="1"/>
          </p:cNvSpPr>
          <p:nvPr/>
        </p:nvSpPr>
        <p:spPr>
          <a:xfrm xmlns:a="http://schemas.openxmlformats.org/drawingml/2006/main">
            <a:off x="6324600" y="2095500"/>
            <a:ext cx="5867400" cy="476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5867A"/>
                </a:solidFill>
                <a:latin typeface="Noto Sans SC"/>
                <a:ea typeface="Noto Sans SC"/>
                <a:cs typeface="Noto Sans SC"/>
              </a:defRPr>
            </a:pPr>
            <a:r>
              <a:t>已成立 · 路线 B</a:t>
            </a:r>
          </a:p>
        </p:txBody>
      </p:sp>
      <p:sp>
        <p:nvSpPr>
          <p:cNvPr id="11" name="p6-robotics-name">
            <a:extLst xmlns:a="http://schemas.openxmlformats.org/drawingml/2006/main">
              <a:ext uri="{FF2B5EF4-FFF2-40B4-BE49-F238E27FC236}">
                <a16:creationId xmlns:a16="http://schemas.microsoft.com/office/drawing/2014/main" id="{920C0F99-78C6-4F9D-84BF-AC5BBCB6D063}"/>
              </a:ext>
            </a:extLst>
          </p:cNvPr>
          <p:cNvSpPr>
            <a:spLocks xmlns:a="http://schemas.openxmlformats.org/drawingml/2006/main" noGrp="1"/>
          </p:cNvSpPr>
          <p:nvPr/>
        </p:nvSpPr>
        <p:spPr>
          <a:xfrm xmlns:a="http://schemas.openxmlformats.org/drawingml/2006/main">
            <a:off x="6324600" y="2438400"/>
            <a:ext cx="5867400" cy="4419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Robotics</a:t>
            </a:r>
          </a:p>
        </p:txBody>
      </p:sp>
      <p:sp>
        <p:nvSpPr>
          <p:cNvPr id="12" name="p6-robotics-access">
            <a:extLst xmlns:a="http://schemas.openxmlformats.org/drawingml/2006/main">
              <a:ext uri="{FF2B5EF4-FFF2-40B4-BE49-F238E27FC236}">
                <a16:creationId xmlns:a16="http://schemas.microsoft.com/office/drawing/2014/main" id="{B0EA7BD8-E84D-408C-82DD-406A3130F384}"/>
              </a:ext>
            </a:extLst>
          </p:cNvPr>
          <p:cNvSpPr>
            <a:spLocks xmlns:a="http://schemas.openxmlformats.org/drawingml/2006/main" noGrp="1"/>
          </p:cNvSpPr>
          <p:nvPr/>
        </p:nvSpPr>
        <p:spPr>
          <a:xfrm xmlns:a="http://schemas.openxmlformats.org/drawingml/2006/main">
            <a:off x="6324600" y="2914650"/>
            <a:ext cx="5867400" cy="3943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动作条件展开、Python SDK，以及云端、定制和本地部署洽谈路径。</a:t>
            </a:r>
          </a:p>
        </p:txBody>
      </p:sp>
      <p:sp>
        <p:nvSpPr>
          <p:cNvPr id="13" name="p6-gap-bg">
            <a:extLst xmlns:a="http://schemas.openxmlformats.org/drawingml/2006/main">
              <a:ext uri="{FF2B5EF4-FFF2-40B4-BE49-F238E27FC236}">
                <a16:creationId xmlns:a16="http://schemas.microsoft.com/office/drawing/2014/main" id="{9EB39493-CB4B-4CB8-B434-AA5FF4219000}"/>
              </a:ext>
            </a:extLst>
          </p:cNvPr>
          <p:cNvSpPr>
            <a:spLocks xmlns:a="http://schemas.openxmlformats.org/drawingml/2006/main" noGrp="1"/>
          </p:cNvSpPr>
          <p:nvPr/>
        </p:nvSpPr>
        <p:spPr>
          <a:xfrm xmlns:a="http://schemas.openxmlformats.org/drawingml/2006/main">
            <a:off x="609600" y="4000500"/>
            <a:ext cx="10972800" cy="971550"/>
          </a:xfrm>
          <a:prstGeom xmlns:a="http://schemas.openxmlformats.org/drawingml/2006/main" prst="rect">
            <a:avLst/>
          </a:prstGeom>
          <a:solidFill xmlns:a="http://schemas.openxmlformats.org/drawingml/2006/main">
            <a:srgbClr val="EEEAE4"/>
          </a:solidFill>
        </p:spPr>
      </p:sp>
      <p:sp>
        <p:nvSpPr>
          <p:cNvPr id="14" name="p6-gap-title">
            <a:extLst xmlns:a="http://schemas.openxmlformats.org/drawingml/2006/main">
              <a:ext uri="{FF2B5EF4-FFF2-40B4-BE49-F238E27FC236}">
                <a16:creationId xmlns:a16="http://schemas.microsoft.com/office/drawing/2014/main" id="{7F8C9F14-636A-474E-8FED-16A82425ADAE}"/>
              </a:ext>
            </a:extLst>
          </p:cNvPr>
          <p:cNvSpPr>
            <a:spLocks xmlns:a="http://schemas.openxmlformats.org/drawingml/2006/main" noGrp="1"/>
          </p:cNvSpPr>
          <p:nvPr/>
        </p:nvSpPr>
        <p:spPr>
          <a:xfrm xmlns:a="http://schemas.openxmlformats.org/drawingml/2006/main">
            <a:off x="838200" y="4210050"/>
            <a:ext cx="11353800" cy="2647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共同缺口</a:t>
            </a:r>
          </a:p>
        </p:txBody>
      </p:sp>
      <p:sp>
        <p:nvSpPr>
          <p:cNvPr id="15" name="p6-gap-body">
            <a:extLst xmlns:a="http://schemas.openxmlformats.org/drawingml/2006/main">
              <a:ext uri="{FF2B5EF4-FFF2-40B4-BE49-F238E27FC236}">
                <a16:creationId xmlns:a16="http://schemas.microsoft.com/office/drawing/2014/main" id="{1BB53AC9-59AE-4EF8-A126-420EA41FDC25}"/>
              </a:ext>
            </a:extLst>
          </p:cNvPr>
          <p:cNvSpPr>
            <a:spLocks xmlns:a="http://schemas.openxmlformats.org/drawingml/2006/main" noGrp="1"/>
          </p:cNvSpPr>
          <p:nvPr/>
        </p:nvSpPr>
        <p:spPr>
          <a:xfrm xmlns:a="http://schemas.openxmlformats.org/drawingml/2006/main">
            <a:off x="2571750" y="4210050"/>
            <a:ext cx="9620250" cy="2647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两条路线都缺公开价格、服务等级和独立复现；合作只见 Runway 单方说明，尚未恢复伙伴侧试点、生产部署或收入证据。</a:t>
            </a:r>
          </a:p>
        </p:txBody>
      </p:sp>
      <p:sp>
        <p:nvSpPr>
          <p:cNvPr id="16" name="p6-meaning-bg">
            <a:extLst xmlns:a="http://schemas.openxmlformats.org/drawingml/2006/main">
              <a:ext uri="{FF2B5EF4-FFF2-40B4-BE49-F238E27FC236}">
                <a16:creationId xmlns:a16="http://schemas.microsoft.com/office/drawing/2014/main" id="{C241A195-058C-4213-84D8-2A9C608A79B4}"/>
              </a:ext>
            </a:extLst>
          </p:cNvPr>
          <p:cNvSpPr>
            <a:spLocks xmlns:a="http://schemas.openxmlformats.org/drawingml/2006/main" noGrp="1"/>
          </p:cNvSpPr>
          <p:nvPr/>
        </p:nvSpPr>
        <p:spPr>
          <a:xfrm xmlns:a="http://schemas.openxmlformats.org/drawingml/2006/main">
            <a:off x="609600" y="5181600"/>
            <a:ext cx="6858000" cy="895350"/>
          </a:xfrm>
          <a:prstGeom xmlns:a="http://schemas.openxmlformats.org/drawingml/2006/main" prst="rect">
            <a:avLst/>
          </a:prstGeom>
          <a:solidFill xmlns:a="http://schemas.openxmlformats.org/drawingml/2006/main">
            <a:srgbClr val="FCFAF6"/>
          </a:solidFill>
        </p:spPr>
      </p:sp>
      <p:sp>
        <p:nvSpPr>
          <p:cNvPr id="17" name="p6-meaning-title">
            <a:extLst xmlns:a="http://schemas.openxmlformats.org/drawingml/2006/main">
              <a:ext uri="{FF2B5EF4-FFF2-40B4-BE49-F238E27FC236}">
                <a16:creationId xmlns:a16="http://schemas.microsoft.com/office/drawing/2014/main" id="{D479FDBF-BEF1-4085-BDB2-A5B49EA9E47C}"/>
              </a:ext>
            </a:extLst>
          </p:cNvPr>
          <p:cNvSpPr>
            <a:spLocks xmlns:a="http://schemas.openxmlformats.org/drawingml/2006/main" noGrp="1"/>
          </p:cNvSpPr>
          <p:nvPr/>
        </p:nvSpPr>
        <p:spPr>
          <a:xfrm xmlns:a="http://schemas.openxmlformats.org/drawingml/2006/main">
            <a:off x="838200" y="5314950"/>
            <a:ext cx="11353800" cy="1543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对 Manifold 的意义</a:t>
            </a:r>
          </a:p>
        </p:txBody>
      </p:sp>
      <p:sp>
        <p:nvSpPr>
          <p:cNvPr id="18" name="p6-meaning-body">
            <a:extLst xmlns:a="http://schemas.openxmlformats.org/drawingml/2006/main">
              <a:ext uri="{FF2B5EF4-FFF2-40B4-BE49-F238E27FC236}">
                <a16:creationId xmlns:a16="http://schemas.microsoft.com/office/drawing/2014/main" id="{86DCDFBC-7624-4677-A437-F8E859AF3350}"/>
              </a:ext>
            </a:extLst>
          </p:cNvPr>
          <p:cNvSpPr>
            <a:spLocks xmlns:a="http://schemas.openxmlformats.org/drawingml/2006/main" noGrp="1"/>
          </p:cNvSpPr>
          <p:nvPr/>
        </p:nvSpPr>
        <p:spPr>
          <a:xfrm xmlns:a="http://schemas.openxmlformats.org/drawingml/2006/main">
            <a:off x="838200" y="5657850"/>
            <a:ext cx="11353800" cy="1200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内容平台可能把创作客户、模型和分发能力延伸到可探索世界；
机器人路线只构成相邻压力，不能借证给 Worlds。</a:t>
            </a:r>
          </a:p>
        </p:txBody>
      </p:sp>
      <p:sp>
        <p:nvSpPr>
          <p:cNvPr id="19" name="p6-trigger-bg">
            <a:extLst xmlns:a="http://schemas.openxmlformats.org/drawingml/2006/main">
              <a:ext uri="{FF2B5EF4-FFF2-40B4-BE49-F238E27FC236}">
                <a16:creationId xmlns:a16="http://schemas.microsoft.com/office/drawing/2014/main" id="{84700781-7262-489C-9031-F9ED7534D8DE}"/>
              </a:ext>
            </a:extLst>
          </p:cNvPr>
          <p:cNvSpPr>
            <a:spLocks xmlns:a="http://schemas.openxmlformats.org/drawingml/2006/main" noGrp="1"/>
          </p:cNvSpPr>
          <p:nvPr/>
        </p:nvSpPr>
        <p:spPr>
          <a:xfrm xmlns:a="http://schemas.openxmlformats.org/drawingml/2006/main">
            <a:off x="7696200" y="5181600"/>
            <a:ext cx="3886200" cy="895350"/>
          </a:xfrm>
          <a:prstGeom xmlns:a="http://schemas.openxmlformats.org/drawingml/2006/main" prst="rect">
            <a:avLst/>
          </a:prstGeom>
          <a:solidFill xmlns:a="http://schemas.openxmlformats.org/drawingml/2006/main">
            <a:srgbClr val="F1DFD5"/>
          </a:solidFill>
        </p:spPr>
      </p:sp>
      <p:sp>
        <p:nvSpPr>
          <p:cNvPr id="20" name="p6-trigger-title">
            <a:extLst xmlns:a="http://schemas.openxmlformats.org/drawingml/2006/main">
              <a:ext uri="{FF2B5EF4-FFF2-40B4-BE49-F238E27FC236}">
                <a16:creationId xmlns:a16="http://schemas.microsoft.com/office/drawing/2014/main" id="{FBDB1E31-0C28-444C-B263-157E26184A14}"/>
              </a:ext>
            </a:extLst>
          </p:cNvPr>
          <p:cNvSpPr>
            <a:spLocks xmlns:a="http://schemas.openxmlformats.org/drawingml/2006/main" noGrp="1"/>
          </p:cNvSpPr>
          <p:nvPr/>
        </p:nvSpPr>
        <p:spPr>
          <a:xfrm xmlns:a="http://schemas.openxmlformats.org/drawingml/2006/main">
            <a:off x="7924800" y="5314950"/>
            <a:ext cx="4267200" cy="1543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关键触发器</a:t>
            </a:r>
          </a:p>
        </p:txBody>
      </p:sp>
      <p:sp>
        <p:nvSpPr>
          <p:cNvPr id="21" name="p6-trigger-body">
            <a:extLst xmlns:a="http://schemas.openxmlformats.org/drawingml/2006/main">
              <a:ext uri="{FF2B5EF4-FFF2-40B4-BE49-F238E27FC236}">
                <a16:creationId xmlns:a16="http://schemas.microsoft.com/office/drawing/2014/main" id="{5934A94C-5874-4E84-AA52-9D8928BA9F9D}"/>
              </a:ext>
            </a:extLst>
          </p:cNvPr>
          <p:cNvSpPr>
            <a:spLocks xmlns:a="http://schemas.openxmlformats.org/drawingml/2006/main" noGrp="1"/>
          </p:cNvSpPr>
          <p:nvPr/>
        </p:nvSpPr>
        <p:spPr>
          <a:xfrm xmlns:a="http://schemas.openxmlformats.org/drawingml/2006/main">
            <a:off x="7924800" y="5657850"/>
            <a:ext cx="4267200" cy="12001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任一组件获得独立调用，
并获得伙伴侧生产确认。</a:t>
            </a:r>
          </a:p>
        </p:txBody>
      </p:sp>
      <p:sp>
        <p:nvSpPr>
          <p:cNvPr id="22" name="p6-footer-rule">
            <a:extLst xmlns:a="http://schemas.openxmlformats.org/drawingml/2006/main">
              <a:ext uri="{FF2B5EF4-FFF2-40B4-BE49-F238E27FC236}">
                <a16:creationId xmlns:a16="http://schemas.microsoft.com/office/drawing/2014/main" id="{B277669E-78A6-420F-812F-BCA5BCB8C234}"/>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23" name="p6-footer-source">
            <a:extLst xmlns:a="http://schemas.openxmlformats.org/drawingml/2006/main">
              <a:ext uri="{FF2B5EF4-FFF2-40B4-BE49-F238E27FC236}">
                <a16:creationId xmlns:a16="http://schemas.microsoft.com/office/drawing/2014/main" id="{CEFF9614-FBC2-4C80-BCD8-D51738E045FF}"/>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Worlds ≠ Robotics｜来源：官方产品、申请入口、SDK/部署资料及公司自报</a:t>
            </a:r>
          </a:p>
        </p:txBody>
      </p:sp>
      <p:sp>
        <p:nvSpPr>
          <p:cNvPr id="24" name="p6-footer-page">
            <a:extLst xmlns:a="http://schemas.openxmlformats.org/drawingml/2006/main">
              <a:ext uri="{FF2B5EF4-FFF2-40B4-BE49-F238E27FC236}">
                <a16:creationId xmlns:a16="http://schemas.microsoft.com/office/drawing/2014/main" id="{BA0339FA-B094-4A9F-A3AB-03C27972AC26}"/>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06</a:t>
            </a:r>
          </a:p>
        </p:txBody>
      </p:sp>
    </p:spTree>
    <p:extLst>
      <p:ext uri="{BB962C8B-B14F-4D97-AF65-F5344CB8AC3E}">
        <p14:creationId xmlns:p14="http://schemas.microsoft.com/office/powerpoint/2010/main" val="1121465959"/>
      </p:ext>
    </p:extLst>
  </p:cSld>
</p:sld>
</file>

<file path=ppt/slides/slide7.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7-identity">
            <a:extLst xmlns:a="http://schemas.openxmlformats.org/drawingml/2006/main">
              <a:ext uri="{FF2B5EF4-FFF2-40B4-BE49-F238E27FC236}">
                <a16:creationId xmlns:a16="http://schemas.microsoft.com/office/drawing/2014/main" id="{95140235-0D81-4A18-83EC-66732852E338}"/>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创业公司 4/4 · DECART</a:t>
            </a:r>
          </a:p>
        </p:txBody>
      </p:sp>
      <p:sp>
        <p:nvSpPr>
          <p:cNvPr id="2" name="p7-title">
            <a:extLst xmlns:a="http://schemas.openxmlformats.org/drawingml/2006/main">
              <a:ext uri="{FF2B5EF4-FFF2-40B4-BE49-F238E27FC236}">
                <a16:creationId xmlns:a16="http://schemas.microsoft.com/office/drawing/2014/main" id="{EEDC784F-23F4-4EBB-97CC-D446797C080F}"/>
              </a:ext>
            </a:extLst>
          </p:cNvPr>
          <p:cNvSpPr>
            <a:spLocks xmlns:a="http://schemas.openxmlformats.org/drawingml/2006/main" noGrp="1"/>
          </p:cNvSpPr>
          <p:nvPr/>
        </p:nvSpPr>
        <p:spPr>
          <a:xfrm xmlns:a="http://schemas.openxmlformats.org/drawingml/2006/main">
            <a:off x="609600" y="552450"/>
            <a:ext cx="11582400" cy="6305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驾驶世界已经按秒计费，
企业可靠性仍待验证</a:t>
            </a:r>
          </a:p>
        </p:txBody>
      </p:sp>
      <p:sp>
        <p:nvSpPr>
          <p:cNvPr id="3" name="p7-route-line">
            <a:extLst xmlns:a="http://schemas.openxmlformats.org/drawingml/2006/main">
              <a:ext uri="{FF2B5EF4-FFF2-40B4-BE49-F238E27FC236}">
                <a16:creationId xmlns:a16="http://schemas.microsoft.com/office/drawing/2014/main" id="{A9E59EA4-C111-45B5-8698-631DE3F8363E}"/>
              </a:ext>
            </a:extLst>
          </p:cNvPr>
          <p:cNvSpPr>
            <a:spLocks xmlns:a="http://schemas.openxmlformats.org/drawingml/2006/main" noGrp="1"/>
          </p:cNvSpPr>
          <p:nvPr/>
        </p:nvSpPr>
        <p:spPr>
          <a:xfrm xmlns:a="http://schemas.openxmlformats.org/drawingml/2006/main">
            <a:off x="609600" y="1752600"/>
            <a:ext cx="419100" cy="28575"/>
          </a:xfrm>
          <a:prstGeom xmlns:a="http://schemas.openxmlformats.org/drawingml/2006/main" prst="rect">
            <a:avLst/>
          </a:prstGeom>
          <a:solidFill xmlns:a="http://schemas.openxmlformats.org/drawingml/2006/main">
            <a:srgbClr val="C56B4D"/>
          </a:solidFill>
        </p:spPr>
      </p:sp>
      <p:sp>
        <p:nvSpPr>
          <p:cNvPr id="4" name="p7-route">
            <a:extLst xmlns:a="http://schemas.openxmlformats.org/drawingml/2006/main">
              <a:ext uri="{FF2B5EF4-FFF2-40B4-BE49-F238E27FC236}">
                <a16:creationId xmlns:a16="http://schemas.microsoft.com/office/drawing/2014/main" id="{6729CD5D-455F-4AC8-BCA0-6D34FB9CF69C}"/>
              </a:ext>
            </a:extLst>
          </p:cNvPr>
          <p:cNvSpPr>
            <a:spLocks xmlns:a="http://schemas.openxmlformats.org/drawingml/2006/main" noGrp="1"/>
          </p:cNvSpPr>
          <p:nvPr/>
        </p:nvSpPr>
        <p:spPr>
          <a:xfrm xmlns:a="http://schemas.openxmlformats.org/drawingml/2006/main">
            <a:off x="1143000" y="1647825"/>
            <a:ext cx="11049000" cy="52101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具体驾驶任务 · 公开计价接口</a:t>
            </a:r>
          </a:p>
        </p:txBody>
      </p:sp>
      <p:sp>
        <p:nvSpPr>
          <p:cNvPr id="5" name="p7-price-bg">
            <a:extLst xmlns:a="http://schemas.openxmlformats.org/drawingml/2006/main">
              <a:ext uri="{FF2B5EF4-FFF2-40B4-BE49-F238E27FC236}">
                <a16:creationId xmlns:a16="http://schemas.microsoft.com/office/drawing/2014/main" id="{11E209B1-9D21-4FD2-9BED-577F7A79CD66}"/>
              </a:ext>
            </a:extLst>
          </p:cNvPr>
          <p:cNvSpPr>
            <a:spLocks xmlns:a="http://schemas.openxmlformats.org/drawingml/2006/main" noGrp="1"/>
          </p:cNvSpPr>
          <p:nvPr/>
        </p:nvSpPr>
        <p:spPr>
          <a:xfrm xmlns:a="http://schemas.openxmlformats.org/drawingml/2006/main">
            <a:off x="609600" y="1885950"/>
            <a:ext cx="3276600" cy="4191000"/>
          </a:xfrm>
          <a:prstGeom xmlns:a="http://schemas.openxmlformats.org/drawingml/2006/main" prst="rect">
            <a:avLst/>
          </a:prstGeom>
          <a:solidFill xmlns:a="http://schemas.openxmlformats.org/drawingml/2006/main">
            <a:srgbClr val="F1DFD5"/>
          </a:solidFill>
        </p:spPr>
      </p:sp>
      <p:sp>
        <p:nvSpPr>
          <p:cNvPr id="6" name="p7-price-kicker">
            <a:extLst xmlns:a="http://schemas.openxmlformats.org/drawingml/2006/main">
              <a:ext uri="{FF2B5EF4-FFF2-40B4-BE49-F238E27FC236}">
                <a16:creationId xmlns:a16="http://schemas.microsoft.com/office/drawing/2014/main" id="{5E6B2F54-4068-46DD-B17F-546760DBFD8D}"/>
              </a:ext>
            </a:extLst>
          </p:cNvPr>
          <p:cNvSpPr>
            <a:spLocks xmlns:a="http://schemas.openxmlformats.org/drawingml/2006/main" noGrp="1"/>
          </p:cNvSpPr>
          <p:nvPr/>
        </p:nvSpPr>
        <p:spPr>
          <a:xfrm xmlns:a="http://schemas.openxmlformats.org/drawingml/2006/main">
            <a:off x="838200" y="2114550"/>
            <a:ext cx="11353800" cy="4743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价格锚点</a:t>
            </a:r>
          </a:p>
        </p:txBody>
      </p:sp>
      <p:sp>
        <p:nvSpPr>
          <p:cNvPr id="7" name="p7-price">
            <a:extLst xmlns:a="http://schemas.openxmlformats.org/drawingml/2006/main">
              <a:ext uri="{FF2B5EF4-FFF2-40B4-BE49-F238E27FC236}">
                <a16:creationId xmlns:a16="http://schemas.microsoft.com/office/drawing/2014/main" id="{1D47517E-D07A-4517-8ABA-D56E0BE5D045}"/>
              </a:ext>
            </a:extLst>
          </p:cNvPr>
          <p:cNvSpPr>
            <a:spLocks xmlns:a="http://schemas.openxmlformats.org/drawingml/2006/main" noGrp="1"/>
          </p:cNvSpPr>
          <p:nvPr/>
        </p:nvSpPr>
        <p:spPr>
          <a:xfrm xmlns:a="http://schemas.openxmlformats.org/drawingml/2006/main">
            <a:off x="838200" y="2514600"/>
            <a:ext cx="11353800" cy="4343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5000" b="1" i="0">
                <a:solidFill>
                  <a:srgbClr val="C56B4D"/>
                </a:solidFill>
                <a:latin typeface="Noto Serif SC"/>
                <a:ea typeface="Noto Serif SC"/>
                <a:cs typeface="Noto Serif SC"/>
              </a:defRPr>
            </a:pPr>
            <a:r>
              <a:t>0.02</a:t>
            </a:r>
          </a:p>
        </p:txBody>
      </p:sp>
      <p:sp>
        <p:nvSpPr>
          <p:cNvPr id="8" name="p7-price-unit">
            <a:extLst xmlns:a="http://schemas.openxmlformats.org/drawingml/2006/main">
              <a:ext uri="{FF2B5EF4-FFF2-40B4-BE49-F238E27FC236}">
                <a16:creationId xmlns:a16="http://schemas.microsoft.com/office/drawing/2014/main" id="{932196C6-EB20-4A8F-BD8D-C0A2551C7314}"/>
              </a:ext>
            </a:extLst>
          </p:cNvPr>
          <p:cNvSpPr>
            <a:spLocks xmlns:a="http://schemas.openxmlformats.org/drawingml/2006/main" noGrp="1"/>
          </p:cNvSpPr>
          <p:nvPr/>
        </p:nvSpPr>
        <p:spPr>
          <a:xfrm xmlns:a="http://schemas.openxmlformats.org/drawingml/2006/main">
            <a:off x="838200" y="3333750"/>
            <a:ext cx="11353800" cy="3524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美元 / 秒</a:t>
            </a:r>
          </a:p>
        </p:txBody>
      </p:sp>
      <p:sp>
        <p:nvSpPr>
          <p:cNvPr id="9" name="p7-price-rule">
            <a:extLst xmlns:a="http://schemas.openxmlformats.org/drawingml/2006/main">
              <a:ext uri="{FF2B5EF4-FFF2-40B4-BE49-F238E27FC236}">
                <a16:creationId xmlns:a16="http://schemas.microsoft.com/office/drawing/2014/main" id="{D0EA26DC-B913-4762-AB3D-0A716122B115}"/>
              </a:ext>
            </a:extLst>
          </p:cNvPr>
          <p:cNvSpPr>
            <a:spLocks xmlns:a="http://schemas.openxmlformats.org/drawingml/2006/main" noGrp="1"/>
          </p:cNvSpPr>
          <p:nvPr/>
        </p:nvSpPr>
        <p:spPr>
          <a:xfrm xmlns:a="http://schemas.openxmlformats.org/drawingml/2006/main">
            <a:off x="838200" y="3886200"/>
            <a:ext cx="2590800" cy="9525"/>
          </a:xfrm>
          <a:prstGeom xmlns:a="http://schemas.openxmlformats.org/drawingml/2006/main" prst="rect">
            <a:avLst/>
          </a:prstGeom>
          <a:solidFill xmlns:a="http://schemas.openxmlformats.org/drawingml/2006/main">
            <a:srgbClr val="BDB4AA"/>
          </a:solidFill>
        </p:spPr>
      </p:sp>
      <p:sp>
        <p:nvSpPr>
          <p:cNvPr id="10" name="p7-flow">
            <a:extLst xmlns:a="http://schemas.openxmlformats.org/drawingml/2006/main">
              <a:ext uri="{FF2B5EF4-FFF2-40B4-BE49-F238E27FC236}">
                <a16:creationId xmlns:a16="http://schemas.microsoft.com/office/drawing/2014/main" id="{F078CEE4-4B64-4552-B82C-B0770692C6A4}"/>
              </a:ext>
            </a:extLst>
          </p:cNvPr>
          <p:cNvSpPr>
            <a:spLocks xmlns:a="http://schemas.openxmlformats.org/drawingml/2006/main" noGrp="1"/>
          </p:cNvSpPr>
          <p:nvPr/>
        </p:nvSpPr>
        <p:spPr>
          <a:xfrm xmlns:a="http://schemas.openxmlformats.org/drawingml/2006/main">
            <a:off x="838200" y="4095750"/>
            <a:ext cx="11353800" cy="2762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油门 / 转向
↓
有状态会话
↓
前 / 左 / 右后续视图</a:t>
            </a:r>
          </a:p>
        </p:txBody>
      </p:sp>
      <p:sp>
        <p:nvSpPr>
          <p:cNvPr id="11" name="p7-scope">
            <a:extLst xmlns:a="http://schemas.openxmlformats.org/drawingml/2006/main">
              <a:ext uri="{FF2B5EF4-FFF2-40B4-BE49-F238E27FC236}">
                <a16:creationId xmlns:a16="http://schemas.microsoft.com/office/drawing/2014/main" id="{A2E3644E-3F00-454C-86B2-18AE5FDCBD46}"/>
              </a:ext>
            </a:extLst>
          </p:cNvPr>
          <p:cNvSpPr>
            <a:spLocks xmlns:a="http://schemas.openxmlformats.org/drawingml/2006/main" noGrp="1"/>
          </p:cNvSpPr>
          <p:nvPr/>
        </p:nvSpPr>
        <p:spPr>
          <a:xfrm xmlns:a="http://schemas.openxmlformats.org/drawingml/2006/main">
            <a:off x="838200" y="5562600"/>
            <a:ext cx="11353800" cy="1295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具体驾驶任务，
不外推为通用世界能力。</a:t>
            </a:r>
          </a:p>
        </p:txBody>
      </p:sp>
      <p:sp>
        <p:nvSpPr>
          <p:cNvPr id="12" name="p7-established-bg">
            <a:extLst xmlns:a="http://schemas.openxmlformats.org/drawingml/2006/main">
              <a:ext uri="{FF2B5EF4-FFF2-40B4-BE49-F238E27FC236}">
                <a16:creationId xmlns:a16="http://schemas.microsoft.com/office/drawing/2014/main" id="{A02E03BA-0FC5-4EE6-922C-F1454B8C28B9}"/>
              </a:ext>
            </a:extLst>
          </p:cNvPr>
          <p:cNvSpPr>
            <a:spLocks xmlns:a="http://schemas.openxmlformats.org/drawingml/2006/main" noGrp="1"/>
          </p:cNvSpPr>
          <p:nvPr/>
        </p:nvSpPr>
        <p:spPr>
          <a:xfrm xmlns:a="http://schemas.openxmlformats.org/drawingml/2006/main">
            <a:off x="4114800" y="1885950"/>
            <a:ext cx="7467600" cy="1028700"/>
          </a:xfrm>
          <a:prstGeom xmlns:a="http://schemas.openxmlformats.org/drawingml/2006/main" prst="rect">
            <a:avLst/>
          </a:prstGeom>
          <a:solidFill xmlns:a="http://schemas.openxmlformats.org/drawingml/2006/main">
            <a:srgbClr val="FCFAF6"/>
          </a:solidFill>
        </p:spPr>
      </p:sp>
      <p:sp>
        <p:nvSpPr>
          <p:cNvPr id="13" name="p7-established-title">
            <a:extLst xmlns:a="http://schemas.openxmlformats.org/drawingml/2006/main">
              <a:ext uri="{FF2B5EF4-FFF2-40B4-BE49-F238E27FC236}">
                <a16:creationId xmlns:a16="http://schemas.microsoft.com/office/drawing/2014/main" id="{6C1B4A7B-77C3-4154-9F93-C2BB6EC9DBCF}"/>
              </a:ext>
            </a:extLst>
          </p:cNvPr>
          <p:cNvSpPr>
            <a:spLocks xmlns:a="http://schemas.openxmlformats.org/drawingml/2006/main" noGrp="1"/>
          </p:cNvSpPr>
          <p:nvPr/>
        </p:nvSpPr>
        <p:spPr>
          <a:xfrm xmlns:a="http://schemas.openxmlformats.org/drawingml/2006/main">
            <a:off x="4343400" y="2095500"/>
            <a:ext cx="7848600" cy="476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已成立</a:t>
            </a:r>
          </a:p>
        </p:txBody>
      </p:sp>
      <p:sp>
        <p:nvSpPr>
          <p:cNvPr id="14" name="p7-established-body">
            <a:extLst xmlns:a="http://schemas.openxmlformats.org/drawingml/2006/main">
              <a:ext uri="{FF2B5EF4-FFF2-40B4-BE49-F238E27FC236}">
                <a16:creationId xmlns:a16="http://schemas.microsoft.com/office/drawing/2014/main" id="{B8FFFBF2-912B-4024-ABD6-90D4A5F244E3}"/>
              </a:ext>
            </a:extLst>
          </p:cNvPr>
          <p:cNvSpPr>
            <a:spLocks xmlns:a="http://schemas.openxmlformats.org/drawingml/2006/main" noGrp="1"/>
          </p:cNvSpPr>
          <p:nvPr/>
        </p:nvSpPr>
        <p:spPr>
          <a:xfrm xmlns:a="http://schemas.openxmlformats.org/drawingml/2006/main">
            <a:off x="5905500" y="2095500"/>
            <a:ext cx="6286500" cy="476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公开账户按 0.02 美元/秒计费；有状态会话持续接收油门和转向动作，并生成前、左、右后续视图。</a:t>
            </a:r>
          </a:p>
        </p:txBody>
      </p:sp>
      <p:sp>
        <p:nvSpPr>
          <p:cNvPr id="15" name="p7-not-bg">
            <a:extLst xmlns:a="http://schemas.openxmlformats.org/drawingml/2006/main">
              <a:ext uri="{FF2B5EF4-FFF2-40B4-BE49-F238E27FC236}">
                <a16:creationId xmlns:a16="http://schemas.microsoft.com/office/drawing/2014/main" id="{57C551C0-7216-4D29-8C34-9B32B07592FB}"/>
              </a:ext>
            </a:extLst>
          </p:cNvPr>
          <p:cNvSpPr>
            <a:spLocks xmlns:a="http://schemas.openxmlformats.org/drawingml/2006/main" noGrp="1"/>
          </p:cNvSpPr>
          <p:nvPr/>
        </p:nvSpPr>
        <p:spPr>
          <a:xfrm xmlns:a="http://schemas.openxmlformats.org/drawingml/2006/main">
            <a:off x="4114800" y="3105150"/>
            <a:ext cx="7467600" cy="1657350"/>
          </a:xfrm>
          <a:prstGeom xmlns:a="http://schemas.openxmlformats.org/drawingml/2006/main" prst="rect">
            <a:avLst/>
          </a:prstGeom>
          <a:solidFill xmlns:a="http://schemas.openxmlformats.org/drawingml/2006/main">
            <a:srgbClr val="EEEAE4"/>
          </a:solidFill>
        </p:spPr>
      </p:sp>
      <p:sp>
        <p:nvSpPr>
          <p:cNvPr id="16" name="p7-not-title">
            <a:extLst xmlns:a="http://schemas.openxmlformats.org/drawingml/2006/main">
              <a:ext uri="{FF2B5EF4-FFF2-40B4-BE49-F238E27FC236}">
                <a16:creationId xmlns:a16="http://schemas.microsoft.com/office/drawing/2014/main" id="{9B63BA7A-6F19-4898-95A3-0EE21CFC088A}"/>
              </a:ext>
            </a:extLst>
          </p:cNvPr>
          <p:cNvSpPr>
            <a:spLocks xmlns:a="http://schemas.openxmlformats.org/drawingml/2006/main" noGrp="1"/>
          </p:cNvSpPr>
          <p:nvPr/>
        </p:nvSpPr>
        <p:spPr>
          <a:xfrm xmlns:a="http://schemas.openxmlformats.org/drawingml/2006/main">
            <a:off x="4343400" y="3314700"/>
            <a:ext cx="7848600" cy="3543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未成立</a:t>
            </a:r>
          </a:p>
        </p:txBody>
      </p:sp>
      <p:sp>
        <p:nvSpPr>
          <p:cNvPr id="17" name="p7-not-body">
            <a:extLst xmlns:a="http://schemas.openxmlformats.org/drawingml/2006/main">
              <a:ext uri="{FF2B5EF4-FFF2-40B4-BE49-F238E27FC236}">
                <a16:creationId xmlns:a16="http://schemas.microsoft.com/office/drawing/2014/main" id="{DF13EF54-7CA9-403F-9FF5-2A7D49ED6610}"/>
              </a:ext>
            </a:extLst>
          </p:cNvPr>
          <p:cNvSpPr>
            <a:spLocks xmlns:a="http://schemas.openxmlformats.org/drawingml/2006/main" noGrp="1"/>
          </p:cNvSpPr>
          <p:nvPr/>
        </p:nvSpPr>
        <p:spPr>
          <a:xfrm xmlns:a="http://schemas.openxmlformats.org/drawingml/2006/main">
            <a:off x="5905500" y="3314700"/>
            <a:ext cx="6286500" cy="3543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预览服务可撤销且无连续性保证；输入/输出可用于训练改进；独立体验报告路线记忆、控制、漂移和碰撞问题；尚未恢复付费客户或生产部署证据。</a:t>
            </a:r>
          </a:p>
        </p:txBody>
      </p:sp>
      <p:sp>
        <p:nvSpPr>
          <p:cNvPr id="18" name="p7-meaning-bg">
            <a:extLst xmlns:a="http://schemas.openxmlformats.org/drawingml/2006/main">
              <a:ext uri="{FF2B5EF4-FFF2-40B4-BE49-F238E27FC236}">
                <a16:creationId xmlns:a16="http://schemas.microsoft.com/office/drawing/2014/main" id="{B37F87F1-E287-47BC-8C19-1CB7145F27D1}"/>
              </a:ext>
            </a:extLst>
          </p:cNvPr>
          <p:cNvSpPr>
            <a:spLocks xmlns:a="http://schemas.openxmlformats.org/drawingml/2006/main" noGrp="1"/>
          </p:cNvSpPr>
          <p:nvPr/>
        </p:nvSpPr>
        <p:spPr>
          <a:xfrm xmlns:a="http://schemas.openxmlformats.org/drawingml/2006/main">
            <a:off x="4114800" y="4953000"/>
            <a:ext cx="4457700" cy="1123950"/>
          </a:xfrm>
          <a:prstGeom xmlns:a="http://schemas.openxmlformats.org/drawingml/2006/main" prst="rect">
            <a:avLst/>
          </a:prstGeom>
          <a:solidFill xmlns:a="http://schemas.openxmlformats.org/drawingml/2006/main">
            <a:srgbClr val="E5EBE5"/>
          </a:solidFill>
        </p:spPr>
      </p:sp>
      <p:sp>
        <p:nvSpPr>
          <p:cNvPr id="19" name="p7-meaning-title">
            <a:extLst xmlns:a="http://schemas.openxmlformats.org/drawingml/2006/main">
              <a:ext uri="{FF2B5EF4-FFF2-40B4-BE49-F238E27FC236}">
                <a16:creationId xmlns:a16="http://schemas.microsoft.com/office/drawing/2014/main" id="{055BE875-0316-4A6A-A68A-AF543B1DAA47}"/>
              </a:ext>
            </a:extLst>
          </p:cNvPr>
          <p:cNvSpPr>
            <a:spLocks xmlns:a="http://schemas.openxmlformats.org/drawingml/2006/main" noGrp="1"/>
          </p:cNvSpPr>
          <p:nvPr/>
        </p:nvSpPr>
        <p:spPr>
          <a:xfrm xmlns:a="http://schemas.openxmlformats.org/drawingml/2006/main">
            <a:off x="4343400" y="5143500"/>
            <a:ext cx="7848600" cy="1714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对 Manifold 的意义</a:t>
            </a:r>
          </a:p>
        </p:txBody>
      </p:sp>
      <p:sp>
        <p:nvSpPr>
          <p:cNvPr id="20" name="p7-meaning-body">
            <a:extLst xmlns:a="http://schemas.openxmlformats.org/drawingml/2006/main">
              <a:ext uri="{FF2B5EF4-FFF2-40B4-BE49-F238E27FC236}">
                <a16:creationId xmlns:a16="http://schemas.microsoft.com/office/drawing/2014/main" id="{0C62C219-78D8-4F44-9986-26152C4967EF}"/>
              </a:ext>
            </a:extLst>
          </p:cNvPr>
          <p:cNvSpPr>
            <a:spLocks xmlns:a="http://schemas.openxmlformats.org/drawingml/2006/main" noGrp="1"/>
          </p:cNvSpPr>
          <p:nvPr/>
        </p:nvSpPr>
        <p:spPr>
          <a:xfrm xmlns:a="http://schemas.openxmlformats.org/drawingml/2006/main">
            <a:off x="4343400" y="5524500"/>
            <a:ext cx="7848600" cy="1333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竞争已经进入可计量的具体驾驶任务，
但不能外推为通用世界能力或企业级采用。</a:t>
            </a:r>
          </a:p>
        </p:txBody>
      </p:sp>
      <p:sp>
        <p:nvSpPr>
          <p:cNvPr id="21" name="p7-trigger-bg">
            <a:extLst xmlns:a="http://schemas.openxmlformats.org/drawingml/2006/main">
              <a:ext uri="{FF2B5EF4-FFF2-40B4-BE49-F238E27FC236}">
                <a16:creationId xmlns:a16="http://schemas.microsoft.com/office/drawing/2014/main" id="{4394A59B-E44F-445A-8911-E98FD0A1DB2D}"/>
              </a:ext>
            </a:extLst>
          </p:cNvPr>
          <p:cNvSpPr>
            <a:spLocks xmlns:a="http://schemas.openxmlformats.org/drawingml/2006/main" noGrp="1"/>
          </p:cNvSpPr>
          <p:nvPr/>
        </p:nvSpPr>
        <p:spPr>
          <a:xfrm xmlns:a="http://schemas.openxmlformats.org/drawingml/2006/main">
            <a:off x="8801100" y="4953000"/>
            <a:ext cx="2781300" cy="1123950"/>
          </a:xfrm>
          <a:prstGeom xmlns:a="http://schemas.openxmlformats.org/drawingml/2006/main" prst="rect">
            <a:avLst/>
          </a:prstGeom>
          <a:solidFill xmlns:a="http://schemas.openxmlformats.org/drawingml/2006/main">
            <a:srgbClr val="FCFAF6"/>
          </a:solidFill>
        </p:spPr>
      </p:sp>
      <p:sp>
        <p:nvSpPr>
          <p:cNvPr id="22" name="p7-trigger-title">
            <a:extLst xmlns:a="http://schemas.openxmlformats.org/drawingml/2006/main">
              <a:ext uri="{FF2B5EF4-FFF2-40B4-BE49-F238E27FC236}">
                <a16:creationId xmlns:a16="http://schemas.microsoft.com/office/drawing/2014/main" id="{F7FAD505-65B2-4718-AD3A-5020CD8DDCEF}"/>
              </a:ext>
            </a:extLst>
          </p:cNvPr>
          <p:cNvSpPr>
            <a:spLocks xmlns:a="http://schemas.openxmlformats.org/drawingml/2006/main" noGrp="1"/>
          </p:cNvSpPr>
          <p:nvPr/>
        </p:nvSpPr>
        <p:spPr>
          <a:xfrm xmlns:a="http://schemas.openxmlformats.org/drawingml/2006/main">
            <a:off x="9029700" y="5143500"/>
            <a:ext cx="3162300" cy="1714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关键触发器</a:t>
            </a:r>
          </a:p>
        </p:txBody>
      </p:sp>
      <p:sp>
        <p:nvSpPr>
          <p:cNvPr id="23" name="p7-trigger-body">
            <a:extLst xmlns:a="http://schemas.openxmlformats.org/drawingml/2006/main">
              <a:ext uri="{FF2B5EF4-FFF2-40B4-BE49-F238E27FC236}">
                <a16:creationId xmlns:a16="http://schemas.microsoft.com/office/drawing/2014/main" id="{99FBC3D3-EAE4-4423-9CCD-D3F27DE24E12}"/>
              </a:ext>
            </a:extLst>
          </p:cNvPr>
          <p:cNvSpPr>
            <a:spLocks xmlns:a="http://schemas.openxmlformats.org/drawingml/2006/main" noGrp="1"/>
          </p:cNvSpPr>
          <p:nvPr/>
        </p:nvSpPr>
        <p:spPr>
          <a:xfrm xmlns:a="http://schemas.openxmlformats.org/drawingml/2006/main">
            <a:off x="9029700" y="5524500"/>
            <a:ext cx="3162300" cy="1333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预览接口进入正式商用，
并闭合服务等级、
数据和责任边界。</a:t>
            </a:r>
          </a:p>
        </p:txBody>
      </p:sp>
      <p:sp>
        <p:nvSpPr>
          <p:cNvPr id="24" name="p7-footer-rule">
            <a:extLst xmlns:a="http://schemas.openxmlformats.org/drawingml/2006/main">
              <a:ext uri="{FF2B5EF4-FFF2-40B4-BE49-F238E27FC236}">
                <a16:creationId xmlns:a16="http://schemas.microsoft.com/office/drawing/2014/main" id="{974AB403-4345-4A2B-A2F4-A969D03FE8C1}"/>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25" name="p7-footer-source">
            <a:extLst xmlns:a="http://schemas.openxmlformats.org/drawingml/2006/main">
              <a:ext uri="{FF2B5EF4-FFF2-40B4-BE49-F238E27FC236}">
                <a16:creationId xmlns:a16="http://schemas.microsoft.com/office/drawing/2014/main" id="{6FA41F68-0738-4666-B230-BB8B4412F114}"/>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来源：官方产品/API、价格、条款及独立产品体验</a:t>
            </a:r>
          </a:p>
        </p:txBody>
      </p:sp>
      <p:sp>
        <p:nvSpPr>
          <p:cNvPr id="26" name="p7-footer-page">
            <a:extLst xmlns:a="http://schemas.openxmlformats.org/drawingml/2006/main">
              <a:ext uri="{FF2B5EF4-FFF2-40B4-BE49-F238E27FC236}">
                <a16:creationId xmlns:a16="http://schemas.microsoft.com/office/drawing/2014/main" id="{C382773C-5756-4E3F-8589-E39C22E6D82E}"/>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07</a:t>
            </a:r>
          </a:p>
        </p:txBody>
      </p:sp>
    </p:spTree>
    <p:extLst>
      <p:ext uri="{BB962C8B-B14F-4D97-AF65-F5344CB8AC3E}">
        <p14:creationId xmlns:p14="http://schemas.microsoft.com/office/powerpoint/2010/main" val="1851549199"/>
      </p:ext>
    </p:extLst>
  </p:cSld>
</p:sld>
</file>

<file path=ppt/slides/slide8.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8-identity">
            <a:extLst xmlns:a="http://schemas.openxmlformats.org/drawingml/2006/main">
              <a:ext uri="{FF2B5EF4-FFF2-40B4-BE49-F238E27FC236}">
                <a16:creationId xmlns:a16="http://schemas.microsoft.com/office/drawing/2014/main" id="{216B6FD2-1EB3-44A3-AF4A-E10C8B3DF1AD}"/>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66F82"/>
                </a:solidFill>
                <a:latin typeface="Noto Sans SC"/>
                <a:ea typeface="Noto Sans SC"/>
                <a:cs typeface="Noto Sans SC"/>
              </a:defRPr>
            </a:pPr>
            <a:r>
              <a:t>大厂项目 1/1 · NVIDIA COSMOS 3</a:t>
            </a:r>
          </a:p>
        </p:txBody>
      </p:sp>
      <p:sp>
        <p:nvSpPr>
          <p:cNvPr id="2" name="p8-title">
            <a:extLst xmlns:a="http://schemas.openxmlformats.org/drawingml/2006/main">
              <a:ext uri="{FF2B5EF4-FFF2-40B4-BE49-F238E27FC236}">
                <a16:creationId xmlns:a16="http://schemas.microsoft.com/office/drawing/2014/main" id="{7013B03E-8B0B-48F9-B078-9BDD9EBD5691}"/>
              </a:ext>
            </a:extLst>
          </p:cNvPr>
          <p:cNvSpPr>
            <a:spLocks xmlns:a="http://schemas.openxmlformats.org/drawingml/2006/main" noGrp="1"/>
          </p:cNvSpPr>
          <p:nvPr/>
        </p:nvSpPr>
        <p:spPr>
          <a:xfrm xmlns:a="http://schemas.openxmlformats.org/drawingml/2006/main">
            <a:off x="609600" y="552450"/>
            <a:ext cx="11582400" cy="6305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Cosmos 3 已形成自托管组件路径，
但动作产品还没有闭合</a:t>
            </a:r>
          </a:p>
        </p:txBody>
      </p:sp>
      <p:sp>
        <p:nvSpPr>
          <p:cNvPr id="3" name="p8-route-line">
            <a:extLst xmlns:a="http://schemas.openxmlformats.org/drawingml/2006/main">
              <a:ext uri="{FF2B5EF4-FFF2-40B4-BE49-F238E27FC236}">
                <a16:creationId xmlns:a16="http://schemas.microsoft.com/office/drawing/2014/main" id="{369CE82C-DE69-4FA5-AE86-899821834AF6}"/>
              </a:ext>
            </a:extLst>
          </p:cNvPr>
          <p:cNvSpPr>
            <a:spLocks xmlns:a="http://schemas.openxmlformats.org/drawingml/2006/main" noGrp="1"/>
          </p:cNvSpPr>
          <p:nvPr/>
        </p:nvSpPr>
        <p:spPr>
          <a:xfrm xmlns:a="http://schemas.openxmlformats.org/drawingml/2006/main">
            <a:off x="609600" y="1752600"/>
            <a:ext cx="419100" cy="28575"/>
          </a:xfrm>
          <a:prstGeom xmlns:a="http://schemas.openxmlformats.org/drawingml/2006/main" prst="rect">
            <a:avLst/>
          </a:prstGeom>
          <a:solidFill xmlns:a="http://schemas.openxmlformats.org/drawingml/2006/main">
            <a:srgbClr val="766F82"/>
          </a:solidFill>
        </p:spPr>
      </p:sp>
      <p:sp>
        <p:nvSpPr>
          <p:cNvPr id="4" name="p8-route">
            <a:extLst xmlns:a="http://schemas.openxmlformats.org/drawingml/2006/main">
              <a:ext uri="{FF2B5EF4-FFF2-40B4-BE49-F238E27FC236}">
                <a16:creationId xmlns:a16="http://schemas.microsoft.com/office/drawing/2014/main" id="{6D839EA8-8241-4E78-A659-BBA6501220D8}"/>
              </a:ext>
            </a:extLst>
          </p:cNvPr>
          <p:cNvSpPr>
            <a:spLocks xmlns:a="http://schemas.openxmlformats.org/drawingml/2006/main" noGrp="1"/>
          </p:cNvSpPr>
          <p:nvPr/>
        </p:nvSpPr>
        <p:spPr>
          <a:xfrm xmlns:a="http://schemas.openxmlformats.org/drawingml/2006/main">
            <a:off x="1143000" y="1647825"/>
            <a:ext cx="11049000" cy="52101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动作条件物理智能组件 · 可下载 / 自托管</a:t>
            </a:r>
          </a:p>
        </p:txBody>
      </p:sp>
      <p:sp>
        <p:nvSpPr>
          <p:cNvPr id="5" name="p8-stack-bg">
            <a:extLst xmlns:a="http://schemas.openxmlformats.org/drawingml/2006/main">
              <a:ext uri="{FF2B5EF4-FFF2-40B4-BE49-F238E27FC236}">
                <a16:creationId xmlns:a16="http://schemas.microsoft.com/office/drawing/2014/main" id="{BDA63C63-B042-4CD8-9418-2F2DC21AD975}"/>
              </a:ext>
            </a:extLst>
          </p:cNvPr>
          <p:cNvSpPr>
            <a:spLocks xmlns:a="http://schemas.openxmlformats.org/drawingml/2006/main" noGrp="1"/>
          </p:cNvSpPr>
          <p:nvPr/>
        </p:nvSpPr>
        <p:spPr>
          <a:xfrm xmlns:a="http://schemas.openxmlformats.org/drawingml/2006/main">
            <a:off x="609600" y="1885950"/>
            <a:ext cx="6667500" cy="2781300"/>
          </a:xfrm>
          <a:prstGeom xmlns:a="http://schemas.openxmlformats.org/drawingml/2006/main" prst="rect">
            <a:avLst/>
          </a:prstGeom>
          <a:solidFill xmlns:a="http://schemas.openxmlformats.org/drawingml/2006/main">
            <a:srgbClr val="E9E5ED"/>
          </a:solidFill>
        </p:spPr>
      </p:sp>
      <p:sp>
        <p:nvSpPr>
          <p:cNvPr id="6" name="p8-established-label">
            <a:extLst xmlns:a="http://schemas.openxmlformats.org/drawingml/2006/main">
              <a:ext uri="{FF2B5EF4-FFF2-40B4-BE49-F238E27FC236}">
                <a16:creationId xmlns:a16="http://schemas.microsoft.com/office/drawing/2014/main" id="{170C7FB1-0280-48BF-8941-CC08A1085885}"/>
              </a:ext>
            </a:extLst>
          </p:cNvPr>
          <p:cNvSpPr>
            <a:spLocks xmlns:a="http://schemas.openxmlformats.org/drawingml/2006/main" noGrp="1"/>
          </p:cNvSpPr>
          <p:nvPr/>
        </p:nvSpPr>
        <p:spPr>
          <a:xfrm xmlns:a="http://schemas.openxmlformats.org/drawingml/2006/main">
            <a:off x="838200" y="2095500"/>
            <a:ext cx="11353800" cy="47625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66F82"/>
                </a:solidFill>
                <a:latin typeface="Noto Sans SC"/>
                <a:ea typeface="Noto Sans SC"/>
                <a:cs typeface="Noto Sans SC"/>
              </a:defRPr>
            </a:pPr>
            <a:r>
              <a:t>已成立 · 三层证据必须分开看</a:t>
            </a:r>
          </a:p>
        </p:txBody>
      </p:sp>
      <p:sp>
        <p:nvSpPr>
          <p:cNvPr id="7" name="p8-stack-num-0">
            <a:extLst xmlns:a="http://schemas.openxmlformats.org/drawingml/2006/main">
              <a:ext uri="{FF2B5EF4-FFF2-40B4-BE49-F238E27FC236}">
                <a16:creationId xmlns:a16="http://schemas.microsoft.com/office/drawing/2014/main" id="{D603CE60-6DEA-4EC8-9F26-4CD18C91A534}"/>
              </a:ext>
            </a:extLst>
          </p:cNvPr>
          <p:cNvSpPr>
            <a:spLocks xmlns:a="http://schemas.openxmlformats.org/drawingml/2006/main" noGrp="1"/>
          </p:cNvSpPr>
          <p:nvPr/>
        </p:nvSpPr>
        <p:spPr>
          <a:xfrm xmlns:a="http://schemas.openxmlformats.org/drawingml/2006/main">
            <a:off x="838200" y="2571750"/>
            <a:ext cx="11353800" cy="428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66F82"/>
                </a:solidFill>
                <a:latin typeface="Noto Sans SC"/>
                <a:ea typeface="Noto Sans SC"/>
                <a:cs typeface="Noto Sans SC"/>
              </a:defRPr>
            </a:pPr>
            <a:r>
              <a:t>01</a:t>
            </a:r>
          </a:p>
        </p:txBody>
      </p:sp>
      <p:sp>
        <p:nvSpPr>
          <p:cNvPr id="8" name="p8-stack-head-0">
            <a:extLst xmlns:a="http://schemas.openxmlformats.org/drawingml/2006/main">
              <a:ext uri="{FF2B5EF4-FFF2-40B4-BE49-F238E27FC236}">
                <a16:creationId xmlns:a16="http://schemas.microsoft.com/office/drawing/2014/main" id="{0F14A030-F83B-4DAC-AA31-64944A0CD6F8}"/>
              </a:ext>
            </a:extLst>
          </p:cNvPr>
          <p:cNvSpPr>
            <a:spLocks xmlns:a="http://schemas.openxmlformats.org/drawingml/2006/main" noGrp="1"/>
          </p:cNvSpPr>
          <p:nvPr/>
        </p:nvSpPr>
        <p:spPr>
          <a:xfrm xmlns:a="http://schemas.openxmlformats.org/drawingml/2006/main">
            <a:off x="1371600" y="2571750"/>
            <a:ext cx="10820400" cy="428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动作条件前向动力学</a:t>
            </a:r>
          </a:p>
        </p:txBody>
      </p:sp>
      <p:sp>
        <p:nvSpPr>
          <p:cNvPr id="9" name="p8-stack-body-0">
            <a:extLst xmlns:a="http://schemas.openxmlformats.org/drawingml/2006/main">
              <a:ext uri="{FF2B5EF4-FFF2-40B4-BE49-F238E27FC236}">
                <a16:creationId xmlns:a16="http://schemas.microsoft.com/office/drawing/2014/main" id="{C8037ED5-3F88-4CBC-A38F-B47DFF8957CC}"/>
              </a:ext>
            </a:extLst>
          </p:cNvPr>
          <p:cNvSpPr>
            <a:spLocks xmlns:a="http://schemas.openxmlformats.org/drawingml/2006/main" noGrp="1"/>
          </p:cNvSpPr>
          <p:nvPr/>
        </p:nvSpPr>
        <p:spPr>
          <a:xfrm xmlns:a="http://schemas.openxmlformats.org/drawingml/2006/main">
            <a:off x="4495800" y="2571750"/>
            <a:ext cx="7696200" cy="4286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已有可运行材料</a:t>
            </a:r>
          </a:p>
        </p:txBody>
      </p:sp>
      <p:sp>
        <p:nvSpPr>
          <p:cNvPr id="10" name="p8-stack-rule-0">
            <a:extLst xmlns:a="http://schemas.openxmlformats.org/drawingml/2006/main">
              <a:ext uri="{FF2B5EF4-FFF2-40B4-BE49-F238E27FC236}">
                <a16:creationId xmlns:a16="http://schemas.microsoft.com/office/drawing/2014/main" id="{3F21F6C7-F133-499E-BB38-0CF692492F80}"/>
              </a:ext>
            </a:extLst>
          </p:cNvPr>
          <p:cNvSpPr>
            <a:spLocks xmlns:a="http://schemas.openxmlformats.org/drawingml/2006/main" noGrp="1"/>
          </p:cNvSpPr>
          <p:nvPr/>
        </p:nvSpPr>
        <p:spPr>
          <a:xfrm xmlns:a="http://schemas.openxmlformats.org/drawingml/2006/main">
            <a:off x="1371600" y="3067050"/>
            <a:ext cx="5448300" cy="9525"/>
          </a:xfrm>
          <a:prstGeom xmlns:a="http://schemas.openxmlformats.org/drawingml/2006/main" prst="rect">
            <a:avLst/>
          </a:prstGeom>
          <a:solidFill xmlns:a="http://schemas.openxmlformats.org/drawingml/2006/main">
            <a:srgbClr val="BDB4AA"/>
          </a:solidFill>
        </p:spPr>
      </p:sp>
      <p:sp>
        <p:nvSpPr>
          <p:cNvPr id="11" name="p8-stack-num-1">
            <a:extLst xmlns:a="http://schemas.openxmlformats.org/drawingml/2006/main">
              <a:ext uri="{FF2B5EF4-FFF2-40B4-BE49-F238E27FC236}">
                <a16:creationId xmlns:a16="http://schemas.microsoft.com/office/drawing/2014/main" id="{F0655D49-C9AF-43DC-A163-A8FBB7AEB723}"/>
              </a:ext>
            </a:extLst>
          </p:cNvPr>
          <p:cNvSpPr>
            <a:spLocks xmlns:a="http://schemas.openxmlformats.org/drawingml/2006/main" noGrp="1"/>
          </p:cNvSpPr>
          <p:nvPr/>
        </p:nvSpPr>
        <p:spPr>
          <a:xfrm xmlns:a="http://schemas.openxmlformats.org/drawingml/2006/main">
            <a:off x="838200" y="3200400"/>
            <a:ext cx="11353800" cy="3657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66F82"/>
                </a:solidFill>
                <a:latin typeface="Noto Sans SC"/>
                <a:ea typeface="Noto Sans SC"/>
                <a:cs typeface="Noto Sans SC"/>
              </a:defRPr>
            </a:pPr>
            <a:r>
              <a:t>02</a:t>
            </a:r>
          </a:p>
        </p:txBody>
      </p:sp>
      <p:sp>
        <p:nvSpPr>
          <p:cNvPr id="12" name="p8-stack-head-1">
            <a:extLst xmlns:a="http://schemas.openxmlformats.org/drawingml/2006/main">
              <a:ext uri="{FF2B5EF4-FFF2-40B4-BE49-F238E27FC236}">
                <a16:creationId xmlns:a16="http://schemas.microsoft.com/office/drawing/2014/main" id="{BABEB1ED-3076-41D0-8202-33D80092CD20}"/>
              </a:ext>
            </a:extLst>
          </p:cNvPr>
          <p:cNvSpPr>
            <a:spLocks xmlns:a="http://schemas.openxmlformats.org/drawingml/2006/main" noGrp="1"/>
          </p:cNvSpPr>
          <p:nvPr/>
        </p:nvSpPr>
        <p:spPr>
          <a:xfrm xmlns:a="http://schemas.openxmlformats.org/drawingml/2006/main">
            <a:off x="1371600" y="3200400"/>
            <a:ext cx="10820400" cy="3657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自托管路径</a:t>
            </a:r>
          </a:p>
        </p:txBody>
      </p:sp>
      <p:sp>
        <p:nvSpPr>
          <p:cNvPr id="13" name="p8-stack-body-1">
            <a:extLst xmlns:a="http://schemas.openxmlformats.org/drawingml/2006/main">
              <a:ext uri="{FF2B5EF4-FFF2-40B4-BE49-F238E27FC236}">
                <a16:creationId xmlns:a16="http://schemas.microsoft.com/office/drawing/2014/main" id="{277E8B5B-254E-429B-A986-0F54858E914E}"/>
              </a:ext>
            </a:extLst>
          </p:cNvPr>
          <p:cNvSpPr>
            <a:spLocks xmlns:a="http://schemas.openxmlformats.org/drawingml/2006/main" noGrp="1"/>
          </p:cNvSpPr>
          <p:nvPr/>
        </p:nvSpPr>
        <p:spPr>
          <a:xfrm xmlns:a="http://schemas.openxmlformats.org/drawingml/2006/main">
            <a:off x="4495800" y="3200400"/>
            <a:ext cx="7696200" cy="36576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模型材料与代码可在本地运行</a:t>
            </a:r>
          </a:p>
        </p:txBody>
      </p:sp>
      <p:sp>
        <p:nvSpPr>
          <p:cNvPr id="14" name="p8-stack-rule-1">
            <a:extLst xmlns:a="http://schemas.openxmlformats.org/drawingml/2006/main">
              <a:ext uri="{FF2B5EF4-FFF2-40B4-BE49-F238E27FC236}">
                <a16:creationId xmlns:a16="http://schemas.microsoft.com/office/drawing/2014/main" id="{49BE758A-E761-4AA4-9DAB-0FC274D7D7B2}"/>
              </a:ext>
            </a:extLst>
          </p:cNvPr>
          <p:cNvSpPr>
            <a:spLocks xmlns:a="http://schemas.openxmlformats.org/drawingml/2006/main" noGrp="1"/>
          </p:cNvSpPr>
          <p:nvPr/>
        </p:nvSpPr>
        <p:spPr>
          <a:xfrm xmlns:a="http://schemas.openxmlformats.org/drawingml/2006/main">
            <a:off x="1371600" y="3695700"/>
            <a:ext cx="5448300" cy="9525"/>
          </a:xfrm>
          <a:prstGeom xmlns:a="http://schemas.openxmlformats.org/drawingml/2006/main" prst="rect">
            <a:avLst/>
          </a:prstGeom>
          <a:solidFill xmlns:a="http://schemas.openxmlformats.org/drawingml/2006/main">
            <a:srgbClr val="BDB4AA"/>
          </a:solidFill>
        </p:spPr>
      </p:sp>
      <p:sp>
        <p:nvSpPr>
          <p:cNvPr id="15" name="p8-stack-num-2">
            <a:extLst xmlns:a="http://schemas.openxmlformats.org/drawingml/2006/main">
              <a:ext uri="{FF2B5EF4-FFF2-40B4-BE49-F238E27FC236}">
                <a16:creationId xmlns:a16="http://schemas.microsoft.com/office/drawing/2014/main" id="{33D3CC03-6FF7-46EA-9107-F69508DAEDC4}"/>
              </a:ext>
            </a:extLst>
          </p:cNvPr>
          <p:cNvSpPr>
            <a:spLocks xmlns:a="http://schemas.openxmlformats.org/drawingml/2006/main" noGrp="1"/>
          </p:cNvSpPr>
          <p:nvPr/>
        </p:nvSpPr>
        <p:spPr>
          <a:xfrm xmlns:a="http://schemas.openxmlformats.org/drawingml/2006/main">
            <a:off x="838200" y="3829050"/>
            <a:ext cx="11353800" cy="3028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766F82"/>
                </a:solidFill>
                <a:latin typeface="Noto Sans SC"/>
                <a:ea typeface="Noto Sans SC"/>
                <a:cs typeface="Noto Sans SC"/>
              </a:defRPr>
            </a:pPr>
            <a:r>
              <a:t>03</a:t>
            </a:r>
          </a:p>
        </p:txBody>
      </p:sp>
      <p:sp>
        <p:nvSpPr>
          <p:cNvPr id="16" name="p8-stack-head-2">
            <a:extLst xmlns:a="http://schemas.openxmlformats.org/drawingml/2006/main">
              <a:ext uri="{FF2B5EF4-FFF2-40B4-BE49-F238E27FC236}">
                <a16:creationId xmlns:a16="http://schemas.microsoft.com/office/drawing/2014/main" id="{12365BFD-1121-4331-AD7B-E926AE731DFD}"/>
              </a:ext>
            </a:extLst>
          </p:cNvPr>
          <p:cNvSpPr>
            <a:spLocks xmlns:a="http://schemas.openxmlformats.org/drawingml/2006/main" noGrp="1"/>
          </p:cNvSpPr>
          <p:nvPr/>
        </p:nvSpPr>
        <p:spPr>
          <a:xfrm xmlns:a="http://schemas.openxmlformats.org/drawingml/2006/main">
            <a:off x="1371600" y="3829050"/>
            <a:ext cx="10820400" cy="3028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Cosmos3-Generator
Release 1.0.0</a:t>
            </a:r>
          </a:p>
        </p:txBody>
      </p:sp>
      <p:sp>
        <p:nvSpPr>
          <p:cNvPr id="17" name="p8-stack-body-2">
            <a:extLst xmlns:a="http://schemas.openxmlformats.org/drawingml/2006/main">
              <a:ext uri="{FF2B5EF4-FFF2-40B4-BE49-F238E27FC236}">
                <a16:creationId xmlns:a16="http://schemas.microsoft.com/office/drawing/2014/main" id="{45EE084B-1924-4596-9E56-DCD77C758429}"/>
              </a:ext>
            </a:extLst>
          </p:cNvPr>
          <p:cNvSpPr>
            <a:spLocks xmlns:a="http://schemas.openxmlformats.org/drawingml/2006/main" noGrp="1"/>
          </p:cNvSpPr>
          <p:nvPr/>
        </p:nvSpPr>
        <p:spPr>
          <a:xfrm xmlns:a="http://schemas.openxmlformats.org/drawingml/2006/main">
            <a:off x="4495800" y="3829050"/>
            <a:ext cx="7696200" cy="3028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初始 GA；只含文生 / 图生视频；
未列动作模式</a:t>
            </a:r>
          </a:p>
        </p:txBody>
      </p:sp>
      <p:sp>
        <p:nvSpPr>
          <p:cNvPr id="18" name="p8-not-bg">
            <a:extLst xmlns:a="http://schemas.openxmlformats.org/drawingml/2006/main">
              <a:ext uri="{FF2B5EF4-FFF2-40B4-BE49-F238E27FC236}">
                <a16:creationId xmlns:a16="http://schemas.microsoft.com/office/drawing/2014/main" id="{BE328334-D043-41E9-AEA3-38DD801EC6C1}"/>
              </a:ext>
            </a:extLst>
          </p:cNvPr>
          <p:cNvSpPr>
            <a:spLocks xmlns:a="http://schemas.openxmlformats.org/drawingml/2006/main" noGrp="1"/>
          </p:cNvSpPr>
          <p:nvPr/>
        </p:nvSpPr>
        <p:spPr>
          <a:xfrm xmlns:a="http://schemas.openxmlformats.org/drawingml/2006/main">
            <a:off x="7505700" y="1885950"/>
            <a:ext cx="4076700" cy="2781300"/>
          </a:xfrm>
          <a:prstGeom xmlns:a="http://schemas.openxmlformats.org/drawingml/2006/main" prst="rect">
            <a:avLst/>
          </a:prstGeom>
          <a:solidFill xmlns:a="http://schemas.openxmlformats.org/drawingml/2006/main">
            <a:srgbClr val="EEEAE4"/>
          </a:solidFill>
        </p:spPr>
      </p:sp>
      <p:sp>
        <p:nvSpPr>
          <p:cNvPr id="19" name="p8-not-rule">
            <a:extLst xmlns:a="http://schemas.openxmlformats.org/drawingml/2006/main">
              <a:ext uri="{FF2B5EF4-FFF2-40B4-BE49-F238E27FC236}">
                <a16:creationId xmlns:a16="http://schemas.microsoft.com/office/drawing/2014/main" id="{87DCB382-6378-4116-8AD5-09BF3DFC7F85}"/>
              </a:ext>
            </a:extLst>
          </p:cNvPr>
          <p:cNvSpPr>
            <a:spLocks xmlns:a="http://schemas.openxmlformats.org/drawingml/2006/main" noGrp="1"/>
          </p:cNvSpPr>
          <p:nvPr/>
        </p:nvSpPr>
        <p:spPr>
          <a:xfrm xmlns:a="http://schemas.openxmlformats.org/drawingml/2006/main">
            <a:off x="7734300" y="2095500"/>
            <a:ext cx="361950" cy="28575"/>
          </a:xfrm>
          <a:prstGeom xmlns:a="http://schemas.openxmlformats.org/drawingml/2006/main" prst="rect">
            <a:avLst/>
          </a:prstGeom>
          <a:solidFill xmlns:a="http://schemas.openxmlformats.org/drawingml/2006/main">
            <a:srgbClr val="6E6861"/>
          </a:solidFill>
        </p:spPr>
      </p:sp>
      <p:sp>
        <p:nvSpPr>
          <p:cNvPr id="20" name="p8-not-label">
            <a:extLst xmlns:a="http://schemas.openxmlformats.org/drawingml/2006/main">
              <a:ext uri="{FF2B5EF4-FFF2-40B4-BE49-F238E27FC236}">
                <a16:creationId xmlns:a16="http://schemas.microsoft.com/office/drawing/2014/main" id="{28CC0738-B2AD-4A73-BC58-C0149F97FE29}"/>
              </a:ext>
            </a:extLst>
          </p:cNvPr>
          <p:cNvSpPr>
            <a:spLocks xmlns:a="http://schemas.openxmlformats.org/drawingml/2006/main" noGrp="1"/>
          </p:cNvSpPr>
          <p:nvPr/>
        </p:nvSpPr>
        <p:spPr>
          <a:xfrm xmlns:a="http://schemas.openxmlformats.org/drawingml/2006/main">
            <a:off x="7734300" y="2190750"/>
            <a:ext cx="4457700" cy="4667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未成立</a:t>
            </a:r>
          </a:p>
        </p:txBody>
      </p:sp>
      <p:sp>
        <p:nvSpPr>
          <p:cNvPr id="21" name="p8-not-list-dot-0">
            <a:extLst xmlns:a="http://schemas.openxmlformats.org/drawingml/2006/main">
              <a:ext uri="{FF2B5EF4-FFF2-40B4-BE49-F238E27FC236}">
                <a16:creationId xmlns:a16="http://schemas.microsoft.com/office/drawing/2014/main" id="{EE42E716-DC42-460D-9066-7314258DE756}"/>
              </a:ext>
            </a:extLst>
          </p:cNvPr>
          <p:cNvSpPr>
            <a:spLocks xmlns:a="http://schemas.openxmlformats.org/drawingml/2006/main" noGrp="1"/>
          </p:cNvSpPr>
          <p:nvPr/>
        </p:nvSpPr>
        <p:spPr>
          <a:xfrm xmlns:a="http://schemas.openxmlformats.org/drawingml/2006/main">
            <a:off x="7734300" y="2647950"/>
            <a:ext cx="4457700" cy="421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22" name="p8-not-list-text-0">
            <a:extLst xmlns:a="http://schemas.openxmlformats.org/drawingml/2006/main">
              <a:ext uri="{FF2B5EF4-FFF2-40B4-BE49-F238E27FC236}">
                <a16:creationId xmlns:a16="http://schemas.microsoft.com/office/drawing/2014/main" id="{6830775C-9BF2-4AC5-B572-279A8A3B9F03}"/>
              </a:ext>
            </a:extLst>
          </p:cNvPr>
          <p:cNvSpPr>
            <a:spLocks xmlns:a="http://schemas.openxmlformats.org/drawingml/2006/main" noGrp="1"/>
          </p:cNvSpPr>
          <p:nvPr/>
        </p:nvSpPr>
        <p:spPr>
          <a:xfrm xmlns:a="http://schemas.openxmlformats.org/drawingml/2006/main">
            <a:off x="7962900" y="2647950"/>
            <a:ext cx="4229100" cy="42100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稳定动作运行时或动作 NIM</a:t>
            </a:r>
          </a:p>
        </p:txBody>
      </p:sp>
      <p:sp>
        <p:nvSpPr>
          <p:cNvPr id="23" name="p8-not-list-dot-1">
            <a:extLst xmlns:a="http://schemas.openxmlformats.org/drawingml/2006/main">
              <a:ext uri="{FF2B5EF4-FFF2-40B4-BE49-F238E27FC236}">
                <a16:creationId xmlns:a16="http://schemas.microsoft.com/office/drawing/2014/main" id="{F1ABCC20-8858-46CF-9E8D-873426D4DE6F}"/>
              </a:ext>
            </a:extLst>
          </p:cNvPr>
          <p:cNvSpPr>
            <a:spLocks xmlns:a="http://schemas.openxmlformats.org/drawingml/2006/main" noGrp="1"/>
          </p:cNvSpPr>
          <p:nvPr/>
        </p:nvSpPr>
        <p:spPr>
          <a:xfrm xmlns:a="http://schemas.openxmlformats.org/drawingml/2006/main">
            <a:off x="7734300" y="3067050"/>
            <a:ext cx="4457700" cy="3790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24" name="p8-not-list-text-1">
            <a:extLst xmlns:a="http://schemas.openxmlformats.org/drawingml/2006/main">
              <a:ext uri="{FF2B5EF4-FFF2-40B4-BE49-F238E27FC236}">
                <a16:creationId xmlns:a16="http://schemas.microsoft.com/office/drawing/2014/main" id="{720ED961-5C34-4C1E-A1B8-930DC60D6378}"/>
              </a:ext>
            </a:extLst>
          </p:cNvPr>
          <p:cNvSpPr>
            <a:spLocks xmlns:a="http://schemas.openxmlformats.org/drawingml/2006/main" noGrp="1"/>
          </p:cNvSpPr>
          <p:nvPr/>
        </p:nvSpPr>
        <p:spPr>
          <a:xfrm xmlns:a="http://schemas.openxmlformats.org/drawingml/2006/main">
            <a:off x="7962900" y="3067050"/>
            <a:ext cx="4229100" cy="3790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第三方依赖的完整许可链</a:t>
            </a:r>
          </a:p>
        </p:txBody>
      </p:sp>
      <p:sp>
        <p:nvSpPr>
          <p:cNvPr id="25" name="p8-not-list-dot-2">
            <a:extLst xmlns:a="http://schemas.openxmlformats.org/drawingml/2006/main">
              <a:ext uri="{FF2B5EF4-FFF2-40B4-BE49-F238E27FC236}">
                <a16:creationId xmlns:a16="http://schemas.microsoft.com/office/drawing/2014/main" id="{FB58C2B2-9705-4791-A50E-B8F0BE3F8A8D}"/>
              </a:ext>
            </a:extLst>
          </p:cNvPr>
          <p:cNvSpPr>
            <a:spLocks xmlns:a="http://schemas.openxmlformats.org/drawingml/2006/main" noGrp="1"/>
          </p:cNvSpPr>
          <p:nvPr/>
        </p:nvSpPr>
        <p:spPr>
          <a:xfrm xmlns:a="http://schemas.openxmlformats.org/drawingml/2006/main">
            <a:off x="7734300" y="3486150"/>
            <a:ext cx="4457700" cy="3371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26" name="p8-not-list-text-2">
            <a:extLst xmlns:a="http://schemas.openxmlformats.org/drawingml/2006/main">
              <a:ext uri="{FF2B5EF4-FFF2-40B4-BE49-F238E27FC236}">
                <a16:creationId xmlns:a16="http://schemas.microsoft.com/office/drawing/2014/main" id="{4A80A367-EFF2-4C45-87AB-8322877A3FD8}"/>
              </a:ext>
            </a:extLst>
          </p:cNvPr>
          <p:cNvSpPr>
            <a:spLocks xmlns:a="http://schemas.openxmlformats.org/drawingml/2006/main" noGrp="1"/>
          </p:cNvSpPr>
          <p:nvPr/>
        </p:nvSpPr>
        <p:spPr>
          <a:xfrm xmlns:a="http://schemas.openxmlformats.org/drawingml/2006/main">
            <a:off x="7962900" y="3486150"/>
            <a:ext cx="4229100" cy="3371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硬件范围与总体拥有成本</a:t>
            </a:r>
          </a:p>
        </p:txBody>
      </p:sp>
      <p:sp>
        <p:nvSpPr>
          <p:cNvPr id="27" name="p8-not-list-dot-3">
            <a:extLst xmlns:a="http://schemas.openxmlformats.org/drawingml/2006/main">
              <a:ext uri="{FF2B5EF4-FFF2-40B4-BE49-F238E27FC236}">
                <a16:creationId xmlns:a16="http://schemas.microsoft.com/office/drawing/2014/main" id="{93E00638-44CE-45B5-AE0E-EF7D8D0AA32B}"/>
              </a:ext>
            </a:extLst>
          </p:cNvPr>
          <p:cNvSpPr>
            <a:spLocks xmlns:a="http://schemas.openxmlformats.org/drawingml/2006/main" noGrp="1"/>
          </p:cNvSpPr>
          <p:nvPr/>
        </p:nvSpPr>
        <p:spPr>
          <a:xfrm xmlns:a="http://schemas.openxmlformats.org/drawingml/2006/main">
            <a:off x="7734300" y="3905250"/>
            <a:ext cx="4457700" cy="2952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C56B4D"/>
                </a:solidFill>
                <a:latin typeface="Noto Sans SC"/>
                <a:ea typeface="Noto Sans SC"/>
                <a:cs typeface="Noto Sans SC"/>
              </a:defRPr>
            </a:pPr>
            <a:r>
              <a:t>•</a:t>
            </a:r>
          </a:p>
        </p:txBody>
      </p:sp>
      <p:sp>
        <p:nvSpPr>
          <p:cNvPr id="28" name="p8-not-list-text-3">
            <a:extLst xmlns:a="http://schemas.openxmlformats.org/drawingml/2006/main">
              <a:ext uri="{FF2B5EF4-FFF2-40B4-BE49-F238E27FC236}">
                <a16:creationId xmlns:a16="http://schemas.microsoft.com/office/drawing/2014/main" id="{C89723B7-BA6E-4ED8-BF1C-E52773A4A26E}"/>
              </a:ext>
            </a:extLst>
          </p:cNvPr>
          <p:cNvSpPr>
            <a:spLocks xmlns:a="http://schemas.openxmlformats.org/drawingml/2006/main" noGrp="1"/>
          </p:cNvSpPr>
          <p:nvPr/>
        </p:nvSpPr>
        <p:spPr>
          <a:xfrm xmlns:a="http://schemas.openxmlformats.org/drawingml/2006/main">
            <a:off x="7962900" y="3905250"/>
            <a:ext cx="4229100" cy="2952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独立复现与客户第一方采用</a:t>
            </a:r>
          </a:p>
        </p:txBody>
      </p:sp>
      <p:sp>
        <p:nvSpPr>
          <p:cNvPr id="29" name="p8-meaning-bg">
            <a:extLst xmlns:a="http://schemas.openxmlformats.org/drawingml/2006/main">
              <a:ext uri="{FF2B5EF4-FFF2-40B4-BE49-F238E27FC236}">
                <a16:creationId xmlns:a16="http://schemas.microsoft.com/office/drawing/2014/main" id="{5C522BD7-FA4E-47A2-A499-C0310759E6D3}"/>
              </a:ext>
            </a:extLst>
          </p:cNvPr>
          <p:cNvSpPr>
            <a:spLocks xmlns:a="http://schemas.openxmlformats.org/drawingml/2006/main" noGrp="1"/>
          </p:cNvSpPr>
          <p:nvPr/>
        </p:nvSpPr>
        <p:spPr>
          <a:xfrm xmlns:a="http://schemas.openxmlformats.org/drawingml/2006/main">
            <a:off x="609600" y="4895850"/>
            <a:ext cx="6858000" cy="1181100"/>
          </a:xfrm>
          <a:prstGeom xmlns:a="http://schemas.openxmlformats.org/drawingml/2006/main" prst="rect">
            <a:avLst/>
          </a:prstGeom>
          <a:solidFill xmlns:a="http://schemas.openxmlformats.org/drawingml/2006/main">
            <a:srgbClr val="FCFAF6"/>
          </a:solidFill>
        </p:spPr>
      </p:sp>
      <p:sp>
        <p:nvSpPr>
          <p:cNvPr id="30" name="p8-meaning-title">
            <a:extLst xmlns:a="http://schemas.openxmlformats.org/drawingml/2006/main">
              <a:ext uri="{FF2B5EF4-FFF2-40B4-BE49-F238E27FC236}">
                <a16:creationId xmlns:a16="http://schemas.microsoft.com/office/drawing/2014/main" id="{552DE1AA-934F-4FFF-9544-739A1BD21081}"/>
              </a:ext>
            </a:extLst>
          </p:cNvPr>
          <p:cNvSpPr>
            <a:spLocks xmlns:a="http://schemas.openxmlformats.org/drawingml/2006/main" noGrp="1"/>
          </p:cNvSpPr>
          <p:nvPr/>
        </p:nvSpPr>
        <p:spPr>
          <a:xfrm xmlns:a="http://schemas.openxmlformats.org/drawingml/2006/main">
            <a:off x="838200" y="5067300"/>
            <a:ext cx="11353800" cy="1790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对 Manifold 的意义</a:t>
            </a:r>
          </a:p>
        </p:txBody>
      </p:sp>
      <p:sp>
        <p:nvSpPr>
          <p:cNvPr id="31" name="p8-meaning-body">
            <a:extLst xmlns:a="http://schemas.openxmlformats.org/drawingml/2006/main">
              <a:ext uri="{FF2B5EF4-FFF2-40B4-BE49-F238E27FC236}">
                <a16:creationId xmlns:a16="http://schemas.microsoft.com/office/drawing/2014/main" id="{32073155-E184-45C4-B450-291E33AFFB26}"/>
              </a:ext>
            </a:extLst>
          </p:cNvPr>
          <p:cNvSpPr>
            <a:spLocks xmlns:a="http://schemas.openxmlformats.org/drawingml/2006/main" noGrp="1"/>
          </p:cNvSpPr>
          <p:nvPr/>
        </p:nvSpPr>
        <p:spPr>
          <a:xfrm xmlns:a="http://schemas.openxmlformats.org/drawingml/2006/main">
            <a:off x="838200" y="5429250"/>
            <a:ext cx="11353800"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自托管组件可能绕行专有供应商，也可能成为 Manifold 的部署和验证底层；
实际关系取决于 Manifold 的交付单元。</a:t>
            </a:r>
          </a:p>
        </p:txBody>
      </p:sp>
      <p:sp>
        <p:nvSpPr>
          <p:cNvPr id="32" name="p8-trigger-bg">
            <a:extLst xmlns:a="http://schemas.openxmlformats.org/drawingml/2006/main">
              <a:ext uri="{FF2B5EF4-FFF2-40B4-BE49-F238E27FC236}">
                <a16:creationId xmlns:a16="http://schemas.microsoft.com/office/drawing/2014/main" id="{11C171DF-1A15-4A47-B1FD-93CE4016297B}"/>
              </a:ext>
            </a:extLst>
          </p:cNvPr>
          <p:cNvSpPr>
            <a:spLocks xmlns:a="http://schemas.openxmlformats.org/drawingml/2006/main" noGrp="1"/>
          </p:cNvSpPr>
          <p:nvPr/>
        </p:nvSpPr>
        <p:spPr>
          <a:xfrm xmlns:a="http://schemas.openxmlformats.org/drawingml/2006/main">
            <a:off x="7696200" y="4895850"/>
            <a:ext cx="3886200" cy="1181100"/>
          </a:xfrm>
          <a:prstGeom xmlns:a="http://schemas.openxmlformats.org/drawingml/2006/main" prst="rect">
            <a:avLst/>
          </a:prstGeom>
          <a:solidFill xmlns:a="http://schemas.openxmlformats.org/drawingml/2006/main">
            <a:srgbClr val="F1DFD5"/>
          </a:solidFill>
        </p:spPr>
      </p:sp>
      <p:sp>
        <p:nvSpPr>
          <p:cNvPr id="33" name="p8-trigger-title">
            <a:extLst xmlns:a="http://schemas.openxmlformats.org/drawingml/2006/main">
              <a:ext uri="{FF2B5EF4-FFF2-40B4-BE49-F238E27FC236}">
                <a16:creationId xmlns:a16="http://schemas.microsoft.com/office/drawing/2014/main" id="{FCCA8DDF-E026-4938-A6B2-B128033E9961}"/>
              </a:ext>
            </a:extLst>
          </p:cNvPr>
          <p:cNvSpPr>
            <a:spLocks xmlns:a="http://schemas.openxmlformats.org/drawingml/2006/main" noGrp="1"/>
          </p:cNvSpPr>
          <p:nvPr/>
        </p:nvSpPr>
        <p:spPr>
          <a:xfrm xmlns:a="http://schemas.openxmlformats.org/drawingml/2006/main">
            <a:off x="7924800" y="5067300"/>
            <a:ext cx="4267200" cy="17907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24211E"/>
                </a:solidFill>
                <a:latin typeface="Noto Sans SC"/>
                <a:ea typeface="Noto Sans SC"/>
                <a:cs typeface="Noto Sans SC"/>
              </a:defRPr>
            </a:pPr>
            <a:r>
              <a:t>关键触发器</a:t>
            </a:r>
          </a:p>
        </p:txBody>
      </p:sp>
      <p:sp>
        <p:nvSpPr>
          <p:cNvPr id="34" name="p8-trigger-body">
            <a:extLst xmlns:a="http://schemas.openxmlformats.org/drawingml/2006/main">
              <a:ext uri="{FF2B5EF4-FFF2-40B4-BE49-F238E27FC236}">
                <a16:creationId xmlns:a16="http://schemas.microsoft.com/office/drawing/2014/main" id="{5A70B78D-1FD1-4202-99B0-71F2F4594296}"/>
              </a:ext>
            </a:extLst>
          </p:cNvPr>
          <p:cNvSpPr>
            <a:spLocks xmlns:a="http://schemas.openxmlformats.org/drawingml/2006/main" noGrp="1"/>
          </p:cNvSpPr>
          <p:nvPr/>
        </p:nvSpPr>
        <p:spPr>
          <a:xfrm xmlns:a="http://schemas.openxmlformats.org/drawingml/2006/main">
            <a:off x="7924800" y="5429250"/>
            <a:ext cx="4267200" cy="1428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稳定动作运行时或动作 NIM
正式发布，并获得独立复现。</a:t>
            </a:r>
          </a:p>
        </p:txBody>
      </p:sp>
      <p:sp>
        <p:nvSpPr>
          <p:cNvPr id="35" name="p8-footer-rule">
            <a:extLst xmlns:a="http://schemas.openxmlformats.org/drawingml/2006/main">
              <a:ext uri="{FF2B5EF4-FFF2-40B4-BE49-F238E27FC236}">
                <a16:creationId xmlns:a16="http://schemas.microsoft.com/office/drawing/2014/main" id="{9C9ED43F-DEC5-42D7-9D76-E7A5064C88F9}"/>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36" name="p8-footer-source">
            <a:extLst xmlns:a="http://schemas.openxmlformats.org/drawingml/2006/main">
              <a:ext uri="{FF2B5EF4-FFF2-40B4-BE49-F238E27FC236}">
                <a16:creationId xmlns:a16="http://schemas.microsoft.com/office/drawing/2014/main" id="{C7CD7BD0-493A-496B-85A6-F2BCDF823718}"/>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Generator NIM ≠ action runtime｜来源：官方研究、模型、自托管文档、Release Notes、许可及伙伴自报</a:t>
            </a:r>
          </a:p>
        </p:txBody>
      </p:sp>
      <p:sp>
        <p:nvSpPr>
          <p:cNvPr id="37" name="p8-footer-page">
            <a:extLst xmlns:a="http://schemas.openxmlformats.org/drawingml/2006/main">
              <a:ext uri="{FF2B5EF4-FFF2-40B4-BE49-F238E27FC236}">
                <a16:creationId xmlns:a16="http://schemas.microsoft.com/office/drawing/2014/main" id="{8FFA2F38-5FE3-4CC6-B358-499505B73373}"/>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08</a:t>
            </a:r>
          </a:p>
        </p:txBody>
      </p:sp>
    </p:spTree>
    <p:extLst>
      <p:ext uri="{BB962C8B-B14F-4D97-AF65-F5344CB8AC3E}">
        <p14:creationId xmlns:p14="http://schemas.microsoft.com/office/powerpoint/2010/main" val="357440627"/>
      </p:ext>
    </p:extLst>
  </p:cSld>
</p:sld>
</file>

<file path=ppt/slides/slide9.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9-eyebrow">
            <a:extLst xmlns:a="http://schemas.openxmlformats.org/drawingml/2006/main">
              <a:ext uri="{FF2B5EF4-FFF2-40B4-BE49-F238E27FC236}">
                <a16:creationId xmlns:a16="http://schemas.microsoft.com/office/drawing/2014/main" id="{CD6E8789-AA8A-44C5-9126-7329AED9CCB6}"/>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WATCHLIST · FACT-TRIGGERED</a:t>
            </a:r>
          </a:p>
        </p:txBody>
      </p:sp>
      <p:sp>
        <p:nvSpPr>
          <p:cNvPr id="2" name="p9-title">
            <a:extLst xmlns:a="http://schemas.openxmlformats.org/drawingml/2006/main">
              <a:ext uri="{FF2B5EF4-FFF2-40B4-BE49-F238E27FC236}">
                <a16:creationId xmlns:a16="http://schemas.microsoft.com/office/drawing/2014/main" id="{20B91761-BDF4-4527-A47E-C96E30F10DAA}"/>
              </a:ext>
            </a:extLst>
          </p:cNvPr>
          <p:cNvSpPr>
            <a:spLocks xmlns:a="http://schemas.openxmlformats.org/drawingml/2006/main" noGrp="1"/>
          </p:cNvSpPr>
          <p:nvPr/>
        </p:nvSpPr>
        <p:spPr>
          <a:xfrm xmlns:a="http://schemas.openxmlformats.org/drawingml/2006/main">
            <a:off x="609600" y="476250"/>
            <a:ext cx="11582400" cy="6381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四个观察对象和一个早期信号，只在关键证据出现时重审</a:t>
            </a:r>
          </a:p>
        </p:txBody>
      </p:sp>
      <p:sp>
        <p:nvSpPr>
          <p:cNvPr id="3" name="p9-subtitle">
            <a:extLst xmlns:a="http://schemas.openxmlformats.org/drawingml/2006/main">
              <a:ext uri="{FF2B5EF4-FFF2-40B4-BE49-F238E27FC236}">
                <a16:creationId xmlns:a16="http://schemas.microsoft.com/office/drawing/2014/main" id="{6444E469-25BB-4B7E-AEDA-CA4577F207CF}"/>
              </a:ext>
            </a:extLst>
          </p:cNvPr>
          <p:cNvSpPr>
            <a:spLocks xmlns:a="http://schemas.openxmlformats.org/drawingml/2006/main" noGrp="1"/>
          </p:cNvSpPr>
          <p:nvPr/>
        </p:nvSpPr>
        <p:spPr>
          <a:xfrm xmlns:a="http://schemas.openxmlformats.org/drawingml/2006/main">
            <a:off x="609600" y="1066800"/>
            <a:ext cx="11582400" cy="579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触发条件只启动事实重审，不自动改变固定五席或 4+1 结构。</a:t>
            </a:r>
          </a:p>
        </p:txBody>
      </p:sp>
      <p:sp>
        <p:nvSpPr>
          <p:cNvPr id="4" name="p9-header-bg">
            <a:extLst xmlns:a="http://schemas.openxmlformats.org/drawingml/2006/main">
              <a:ext uri="{FF2B5EF4-FFF2-40B4-BE49-F238E27FC236}">
                <a16:creationId xmlns:a16="http://schemas.microsoft.com/office/drawing/2014/main" id="{545FCF17-86FE-4A2A-9EEF-3015AE3922AE}"/>
              </a:ext>
            </a:extLst>
          </p:cNvPr>
          <p:cNvSpPr>
            <a:spLocks xmlns:a="http://schemas.openxmlformats.org/drawingml/2006/main" noGrp="1"/>
          </p:cNvSpPr>
          <p:nvPr/>
        </p:nvSpPr>
        <p:spPr>
          <a:xfrm xmlns:a="http://schemas.openxmlformats.org/drawingml/2006/main">
            <a:off x="609600" y="1466850"/>
            <a:ext cx="10972800" cy="438150"/>
          </a:xfrm>
          <a:prstGeom xmlns:a="http://schemas.openxmlformats.org/drawingml/2006/main" prst="rect">
            <a:avLst/>
          </a:prstGeom>
          <a:solidFill xmlns:a="http://schemas.openxmlformats.org/drawingml/2006/main">
            <a:srgbClr val="EEEAE4"/>
          </a:solidFill>
        </p:spPr>
      </p:sp>
      <p:sp>
        <p:nvSpPr>
          <p:cNvPr id="5" name="p9-header-0">
            <a:extLst xmlns:a="http://schemas.openxmlformats.org/drawingml/2006/main">
              <a:ext uri="{FF2B5EF4-FFF2-40B4-BE49-F238E27FC236}">
                <a16:creationId xmlns:a16="http://schemas.microsoft.com/office/drawing/2014/main" id="{13BBCFE2-A134-40A4-A0D5-FE4BCAB83471}"/>
              </a:ext>
            </a:extLst>
          </p:cNvPr>
          <p:cNvSpPr>
            <a:spLocks xmlns:a="http://schemas.openxmlformats.org/drawingml/2006/main" noGrp="1"/>
          </p:cNvSpPr>
          <p:nvPr/>
        </p:nvSpPr>
        <p:spPr>
          <a:xfrm xmlns:a="http://schemas.openxmlformats.org/drawingml/2006/main">
            <a:off x="723900" y="1562100"/>
            <a:ext cx="11468100" cy="5295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对象</a:t>
            </a:r>
          </a:p>
        </p:txBody>
      </p:sp>
      <p:sp>
        <p:nvSpPr>
          <p:cNvPr id="6" name="p9-header-1">
            <a:extLst xmlns:a="http://schemas.openxmlformats.org/drawingml/2006/main">
              <a:ext uri="{FF2B5EF4-FFF2-40B4-BE49-F238E27FC236}">
                <a16:creationId xmlns:a16="http://schemas.microsoft.com/office/drawing/2014/main" id="{5F2534B2-F3D4-4E30-B6AB-60C8755169B3}"/>
              </a:ext>
            </a:extLst>
          </p:cNvPr>
          <p:cNvSpPr>
            <a:spLocks xmlns:a="http://schemas.openxmlformats.org/drawingml/2006/main" noGrp="1"/>
          </p:cNvSpPr>
          <p:nvPr/>
        </p:nvSpPr>
        <p:spPr>
          <a:xfrm xmlns:a="http://schemas.openxmlformats.org/drawingml/2006/main">
            <a:off x="3124200" y="1562100"/>
            <a:ext cx="9067800" cy="5295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当前关注点</a:t>
            </a:r>
          </a:p>
        </p:txBody>
      </p:sp>
      <p:sp>
        <p:nvSpPr>
          <p:cNvPr id="7" name="p9-header-2">
            <a:extLst xmlns:a="http://schemas.openxmlformats.org/drawingml/2006/main">
              <a:ext uri="{FF2B5EF4-FFF2-40B4-BE49-F238E27FC236}">
                <a16:creationId xmlns:a16="http://schemas.microsoft.com/office/drawing/2014/main" id="{4EC8AA65-C8BE-4CC2-A647-D0710CD9048F}"/>
              </a:ext>
            </a:extLst>
          </p:cNvPr>
          <p:cNvSpPr>
            <a:spLocks xmlns:a="http://schemas.openxmlformats.org/drawingml/2006/main" noGrp="1"/>
          </p:cNvSpPr>
          <p:nvPr/>
        </p:nvSpPr>
        <p:spPr>
          <a:xfrm xmlns:a="http://schemas.openxmlformats.org/drawingml/2006/main">
            <a:off x="7353300" y="1562100"/>
            <a:ext cx="4838700" cy="5295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24211E"/>
                </a:solidFill>
                <a:latin typeface="Noto Sans SC"/>
                <a:ea typeface="Noto Sans SC"/>
                <a:cs typeface="Noto Sans SC"/>
              </a:defRPr>
            </a:pPr>
            <a:r>
              <a:t>重审所需证据</a:t>
            </a:r>
          </a:p>
        </p:txBody>
      </p:sp>
      <p:sp>
        <p:nvSpPr>
          <p:cNvPr id="8" name="p9-row-bg-0">
            <a:extLst xmlns:a="http://schemas.openxmlformats.org/drawingml/2006/main">
              <a:ext uri="{FF2B5EF4-FFF2-40B4-BE49-F238E27FC236}">
                <a16:creationId xmlns:a16="http://schemas.microsoft.com/office/drawing/2014/main" id="{0ACFBCEF-7038-40AE-8CDA-D57D6BCAB984}"/>
              </a:ext>
            </a:extLst>
          </p:cNvPr>
          <p:cNvSpPr>
            <a:spLocks xmlns:a="http://schemas.openxmlformats.org/drawingml/2006/main" noGrp="1"/>
          </p:cNvSpPr>
          <p:nvPr/>
        </p:nvSpPr>
        <p:spPr>
          <a:xfrm xmlns:a="http://schemas.openxmlformats.org/drawingml/2006/main">
            <a:off x="609600" y="1905000"/>
            <a:ext cx="10972800" cy="866775"/>
          </a:xfrm>
          <a:prstGeom xmlns:a="http://schemas.openxmlformats.org/drawingml/2006/main" prst="rect">
            <a:avLst/>
          </a:prstGeom>
          <a:solidFill xmlns:a="http://schemas.openxmlformats.org/drawingml/2006/main">
            <a:srgbClr val="FCFAF6"/>
          </a:solidFill>
        </p:spPr>
      </p:sp>
      <p:sp>
        <p:nvSpPr>
          <p:cNvPr id="9" name="p9-name-bg-0">
            <a:extLst xmlns:a="http://schemas.openxmlformats.org/drawingml/2006/main">
              <a:ext uri="{FF2B5EF4-FFF2-40B4-BE49-F238E27FC236}">
                <a16:creationId xmlns:a16="http://schemas.microsoft.com/office/drawing/2014/main" id="{6F41E4AB-15B3-4680-8640-3D2161A49C35}"/>
              </a:ext>
            </a:extLst>
          </p:cNvPr>
          <p:cNvSpPr>
            <a:spLocks xmlns:a="http://schemas.openxmlformats.org/drawingml/2006/main" noGrp="1"/>
          </p:cNvSpPr>
          <p:nvPr/>
        </p:nvSpPr>
        <p:spPr>
          <a:xfrm xmlns:a="http://schemas.openxmlformats.org/drawingml/2006/main">
            <a:off x="609600" y="1905000"/>
            <a:ext cx="2400300" cy="866775"/>
          </a:xfrm>
          <a:prstGeom xmlns:a="http://schemas.openxmlformats.org/drawingml/2006/main" prst="rect">
            <a:avLst/>
          </a:prstGeom>
          <a:solidFill xmlns:a="http://schemas.openxmlformats.org/drawingml/2006/main">
            <a:srgbClr val="EDE8E1"/>
          </a:solidFill>
        </p:spPr>
      </p:sp>
      <p:sp>
        <p:nvSpPr>
          <p:cNvPr id="10" name="p9-cell-0-0">
            <a:extLst xmlns:a="http://schemas.openxmlformats.org/drawingml/2006/main">
              <a:ext uri="{FF2B5EF4-FFF2-40B4-BE49-F238E27FC236}">
                <a16:creationId xmlns:a16="http://schemas.microsoft.com/office/drawing/2014/main" id="{3F69A4D8-79E8-4E5B-91BB-AD7867043F6C}"/>
              </a:ext>
            </a:extLst>
          </p:cNvPr>
          <p:cNvSpPr>
            <a:spLocks xmlns:a="http://schemas.openxmlformats.org/drawingml/2006/main" noGrp="1"/>
          </p:cNvSpPr>
          <p:nvPr/>
        </p:nvSpPr>
        <p:spPr>
          <a:xfrm xmlns:a="http://schemas.openxmlformats.org/drawingml/2006/main">
            <a:off x="723900" y="2038350"/>
            <a:ext cx="11468100" cy="4819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Genie 3 /
Project Genie</a:t>
            </a:r>
          </a:p>
        </p:txBody>
      </p:sp>
      <p:sp>
        <p:nvSpPr>
          <p:cNvPr id="11" name="p9-cell-0-1">
            <a:extLst xmlns:a="http://schemas.openxmlformats.org/drawingml/2006/main">
              <a:ext uri="{FF2B5EF4-FFF2-40B4-BE49-F238E27FC236}">
                <a16:creationId xmlns:a16="http://schemas.microsoft.com/office/drawing/2014/main" id="{0C1FABD9-524F-4C0A-B397-88A787155FC5}"/>
              </a:ext>
            </a:extLst>
          </p:cNvPr>
          <p:cNvSpPr>
            <a:spLocks xmlns:a="http://schemas.openxmlformats.org/drawingml/2006/main" noGrp="1"/>
          </p:cNvSpPr>
          <p:nvPr/>
        </p:nvSpPr>
        <p:spPr>
          <a:xfrm xmlns:a="http://schemas.openxmlformats.org/drawingml/2006/main">
            <a:off x="3124200" y="2038350"/>
            <a:ext cx="9067800" cy="4819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封闭模型与消费者原型；
企业/开发者路径和外部采用未证</a:t>
            </a:r>
          </a:p>
        </p:txBody>
      </p:sp>
      <p:sp>
        <p:nvSpPr>
          <p:cNvPr id="12" name="p9-trigger-mark-0">
            <a:extLst xmlns:a="http://schemas.openxmlformats.org/drawingml/2006/main">
              <a:ext uri="{FF2B5EF4-FFF2-40B4-BE49-F238E27FC236}">
                <a16:creationId xmlns:a16="http://schemas.microsoft.com/office/drawing/2014/main" id="{B0834629-D49E-4A56-ACC5-0594F9E13FE2}"/>
              </a:ext>
            </a:extLst>
          </p:cNvPr>
          <p:cNvSpPr>
            <a:spLocks xmlns:a="http://schemas.openxmlformats.org/drawingml/2006/main" noGrp="1"/>
          </p:cNvSpPr>
          <p:nvPr/>
        </p:nvSpPr>
        <p:spPr>
          <a:xfrm xmlns:a="http://schemas.openxmlformats.org/drawingml/2006/main">
            <a:off x="7353300" y="2057400"/>
            <a:ext cx="209550" cy="28575"/>
          </a:xfrm>
          <a:prstGeom xmlns:a="http://schemas.openxmlformats.org/drawingml/2006/main" prst="rect">
            <a:avLst/>
          </a:prstGeom>
          <a:solidFill xmlns:a="http://schemas.openxmlformats.org/drawingml/2006/main">
            <a:srgbClr val="C56B4D"/>
          </a:solidFill>
        </p:spPr>
      </p:sp>
      <p:sp>
        <p:nvSpPr>
          <p:cNvPr id="13" name="p9-cell-0-2">
            <a:extLst xmlns:a="http://schemas.openxmlformats.org/drawingml/2006/main">
              <a:ext uri="{FF2B5EF4-FFF2-40B4-BE49-F238E27FC236}">
                <a16:creationId xmlns:a16="http://schemas.microsoft.com/office/drawing/2014/main" id="{75936FD5-94EC-4BF2-9248-D95185D34266}"/>
              </a:ext>
            </a:extLst>
          </p:cNvPr>
          <p:cNvSpPr>
            <a:spLocks xmlns:a="http://schemas.openxmlformats.org/drawingml/2006/main" noGrp="1"/>
          </p:cNvSpPr>
          <p:nvPr/>
        </p:nvSpPr>
        <p:spPr>
          <a:xfrm xmlns:a="http://schemas.openxmlformats.org/drawingml/2006/main">
            <a:off x="7658100" y="2038350"/>
            <a:ext cx="4533900" cy="48196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企业/开发者接口、SDK 或权重；
具名外部集成</a:t>
            </a:r>
          </a:p>
        </p:txBody>
      </p:sp>
      <p:sp>
        <p:nvSpPr>
          <p:cNvPr id="14" name="p9-row-rule-0">
            <a:extLst xmlns:a="http://schemas.openxmlformats.org/drawingml/2006/main">
              <a:ext uri="{FF2B5EF4-FFF2-40B4-BE49-F238E27FC236}">
                <a16:creationId xmlns:a16="http://schemas.microsoft.com/office/drawing/2014/main" id="{2FFAAF6F-EF2C-4886-9474-B2A715124D01}"/>
              </a:ext>
            </a:extLst>
          </p:cNvPr>
          <p:cNvSpPr>
            <a:spLocks xmlns:a="http://schemas.openxmlformats.org/drawingml/2006/main" noGrp="1"/>
          </p:cNvSpPr>
          <p:nvPr/>
        </p:nvSpPr>
        <p:spPr>
          <a:xfrm xmlns:a="http://schemas.openxmlformats.org/drawingml/2006/main">
            <a:off x="609600" y="2771775"/>
            <a:ext cx="10972800" cy="9525"/>
          </a:xfrm>
          <a:prstGeom xmlns:a="http://schemas.openxmlformats.org/drawingml/2006/main" prst="rect">
            <a:avLst/>
          </a:prstGeom>
          <a:solidFill xmlns:a="http://schemas.openxmlformats.org/drawingml/2006/main">
            <a:srgbClr val="D8D0C6"/>
          </a:solidFill>
        </p:spPr>
      </p:sp>
      <p:sp>
        <p:nvSpPr>
          <p:cNvPr id="15" name="p9-row-bg-1">
            <a:extLst xmlns:a="http://schemas.openxmlformats.org/drawingml/2006/main">
              <a:ext uri="{FF2B5EF4-FFF2-40B4-BE49-F238E27FC236}">
                <a16:creationId xmlns:a16="http://schemas.microsoft.com/office/drawing/2014/main" id="{38F2B980-169A-4D60-9BD3-75AC990580E2}"/>
              </a:ext>
            </a:extLst>
          </p:cNvPr>
          <p:cNvSpPr>
            <a:spLocks xmlns:a="http://schemas.openxmlformats.org/drawingml/2006/main" noGrp="1"/>
          </p:cNvSpPr>
          <p:nvPr/>
        </p:nvSpPr>
        <p:spPr>
          <a:xfrm xmlns:a="http://schemas.openxmlformats.org/drawingml/2006/main">
            <a:off x="609600" y="2771775"/>
            <a:ext cx="10972800" cy="866775"/>
          </a:xfrm>
          <a:prstGeom xmlns:a="http://schemas.openxmlformats.org/drawingml/2006/main" prst="rect">
            <a:avLst/>
          </a:prstGeom>
          <a:solidFill xmlns:a="http://schemas.openxmlformats.org/drawingml/2006/main">
            <a:srgbClr val="F2EDE6"/>
          </a:solidFill>
        </p:spPr>
      </p:sp>
      <p:sp>
        <p:nvSpPr>
          <p:cNvPr id="16" name="p9-name-bg-1">
            <a:extLst xmlns:a="http://schemas.openxmlformats.org/drawingml/2006/main">
              <a:ext uri="{FF2B5EF4-FFF2-40B4-BE49-F238E27FC236}">
                <a16:creationId xmlns:a16="http://schemas.microsoft.com/office/drawing/2014/main" id="{F8958549-5BF1-42A3-932F-A520E9609430}"/>
              </a:ext>
            </a:extLst>
          </p:cNvPr>
          <p:cNvSpPr>
            <a:spLocks xmlns:a="http://schemas.openxmlformats.org/drawingml/2006/main" noGrp="1"/>
          </p:cNvSpPr>
          <p:nvPr/>
        </p:nvSpPr>
        <p:spPr>
          <a:xfrm xmlns:a="http://schemas.openxmlformats.org/drawingml/2006/main">
            <a:off x="609600" y="2771775"/>
            <a:ext cx="2400300" cy="866775"/>
          </a:xfrm>
          <a:prstGeom xmlns:a="http://schemas.openxmlformats.org/drawingml/2006/main" prst="rect">
            <a:avLst/>
          </a:prstGeom>
          <a:solidFill xmlns:a="http://schemas.openxmlformats.org/drawingml/2006/main">
            <a:srgbClr val="EDE8E1"/>
          </a:solidFill>
        </p:spPr>
      </p:sp>
      <p:sp>
        <p:nvSpPr>
          <p:cNvPr id="17" name="p9-cell-1-0">
            <a:extLst xmlns:a="http://schemas.openxmlformats.org/drawingml/2006/main">
              <a:ext uri="{FF2B5EF4-FFF2-40B4-BE49-F238E27FC236}">
                <a16:creationId xmlns:a16="http://schemas.microsoft.com/office/drawing/2014/main" id="{D0FAAB02-EBD5-4405-ABB3-279A30D18A21}"/>
              </a:ext>
            </a:extLst>
          </p:cNvPr>
          <p:cNvSpPr>
            <a:spLocks xmlns:a="http://schemas.openxmlformats.org/drawingml/2006/main" noGrp="1"/>
          </p:cNvSpPr>
          <p:nvPr/>
        </p:nvSpPr>
        <p:spPr>
          <a:xfrm xmlns:a="http://schemas.openxmlformats.org/drawingml/2006/main">
            <a:off x="723900" y="2905125"/>
            <a:ext cx="11468100" cy="3952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General Intuition /
MIRA</a:t>
            </a:r>
          </a:p>
        </p:txBody>
      </p:sp>
      <p:sp>
        <p:nvSpPr>
          <p:cNvPr id="18" name="p9-cell-1-1">
            <a:extLst xmlns:a="http://schemas.openxmlformats.org/drawingml/2006/main">
              <a:ext uri="{FF2B5EF4-FFF2-40B4-BE49-F238E27FC236}">
                <a16:creationId xmlns:a16="http://schemas.microsoft.com/office/drawing/2014/main" id="{0D5621EA-2FF3-4437-9D99-2685CEF3A64E}"/>
              </a:ext>
            </a:extLst>
          </p:cNvPr>
          <p:cNvSpPr>
            <a:spLocks xmlns:a="http://schemas.openxmlformats.org/drawingml/2006/main" noGrp="1"/>
          </p:cNvSpPr>
          <p:nvPr/>
        </p:nvSpPr>
        <p:spPr>
          <a:xfrm xmlns:a="http://schemas.openxmlformats.org/drawingml/2006/main">
            <a:off x="3124200" y="2905125"/>
            <a:ext cx="9067800" cy="3952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证据集中在 Rocket League 虚拟物理域；
商业接口归属和采用未证</a:t>
            </a:r>
          </a:p>
        </p:txBody>
      </p:sp>
      <p:sp>
        <p:nvSpPr>
          <p:cNvPr id="19" name="p9-trigger-mark-1">
            <a:extLst xmlns:a="http://schemas.openxmlformats.org/drawingml/2006/main">
              <a:ext uri="{FF2B5EF4-FFF2-40B4-BE49-F238E27FC236}">
                <a16:creationId xmlns:a16="http://schemas.microsoft.com/office/drawing/2014/main" id="{B841AA02-EE71-44F8-88D0-36366CBAFE2E}"/>
              </a:ext>
            </a:extLst>
          </p:cNvPr>
          <p:cNvSpPr>
            <a:spLocks xmlns:a="http://schemas.openxmlformats.org/drawingml/2006/main" noGrp="1"/>
          </p:cNvSpPr>
          <p:nvPr/>
        </p:nvSpPr>
        <p:spPr>
          <a:xfrm xmlns:a="http://schemas.openxmlformats.org/drawingml/2006/main">
            <a:off x="7353300" y="2924175"/>
            <a:ext cx="209550" cy="28575"/>
          </a:xfrm>
          <a:prstGeom xmlns:a="http://schemas.openxmlformats.org/drawingml/2006/main" prst="rect">
            <a:avLst/>
          </a:prstGeom>
          <a:solidFill xmlns:a="http://schemas.openxmlformats.org/drawingml/2006/main">
            <a:srgbClr val="C56B4D"/>
          </a:solidFill>
        </p:spPr>
      </p:sp>
      <p:sp>
        <p:nvSpPr>
          <p:cNvPr id="20" name="p9-cell-1-2">
            <a:extLst xmlns:a="http://schemas.openxmlformats.org/drawingml/2006/main">
              <a:ext uri="{FF2B5EF4-FFF2-40B4-BE49-F238E27FC236}">
                <a16:creationId xmlns:a16="http://schemas.microsoft.com/office/drawing/2014/main" id="{8CB9A983-DBBF-4CEA-A8FE-081CBA28F710}"/>
              </a:ext>
            </a:extLst>
          </p:cNvPr>
          <p:cNvSpPr>
            <a:spLocks xmlns:a="http://schemas.openxmlformats.org/drawingml/2006/main" noGrp="1"/>
          </p:cNvSpPr>
          <p:nvPr/>
        </p:nvSpPr>
        <p:spPr>
          <a:xfrm xmlns:a="http://schemas.openxmlformats.org/drawingml/2006/main">
            <a:off x="7658100" y="2905125"/>
            <a:ext cx="4533900" cy="395287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第一方证据确认实际交付组件；
跨域独立验证、具名客户</a:t>
            </a:r>
          </a:p>
        </p:txBody>
      </p:sp>
      <p:sp>
        <p:nvSpPr>
          <p:cNvPr id="21" name="p9-row-rule-1">
            <a:extLst xmlns:a="http://schemas.openxmlformats.org/drawingml/2006/main">
              <a:ext uri="{FF2B5EF4-FFF2-40B4-BE49-F238E27FC236}">
                <a16:creationId xmlns:a16="http://schemas.microsoft.com/office/drawing/2014/main" id="{2C7FCFA9-B534-496B-86CE-84F6373DDAD2}"/>
              </a:ext>
            </a:extLst>
          </p:cNvPr>
          <p:cNvSpPr>
            <a:spLocks xmlns:a="http://schemas.openxmlformats.org/drawingml/2006/main" noGrp="1"/>
          </p:cNvSpPr>
          <p:nvPr/>
        </p:nvSpPr>
        <p:spPr>
          <a:xfrm xmlns:a="http://schemas.openxmlformats.org/drawingml/2006/main">
            <a:off x="609600" y="3638550"/>
            <a:ext cx="10972800" cy="9525"/>
          </a:xfrm>
          <a:prstGeom xmlns:a="http://schemas.openxmlformats.org/drawingml/2006/main" prst="rect">
            <a:avLst/>
          </a:prstGeom>
          <a:solidFill xmlns:a="http://schemas.openxmlformats.org/drawingml/2006/main">
            <a:srgbClr val="D8D0C6"/>
          </a:solidFill>
        </p:spPr>
      </p:sp>
      <p:sp>
        <p:nvSpPr>
          <p:cNvPr id="22" name="p9-row-bg-2">
            <a:extLst xmlns:a="http://schemas.openxmlformats.org/drawingml/2006/main">
              <a:ext uri="{FF2B5EF4-FFF2-40B4-BE49-F238E27FC236}">
                <a16:creationId xmlns:a16="http://schemas.microsoft.com/office/drawing/2014/main" id="{9223BD3B-78BC-4EE4-B110-6580113A2FF5}"/>
              </a:ext>
            </a:extLst>
          </p:cNvPr>
          <p:cNvSpPr>
            <a:spLocks xmlns:a="http://schemas.openxmlformats.org/drawingml/2006/main" noGrp="1"/>
          </p:cNvSpPr>
          <p:nvPr/>
        </p:nvSpPr>
        <p:spPr>
          <a:xfrm xmlns:a="http://schemas.openxmlformats.org/drawingml/2006/main">
            <a:off x="609600" y="3638550"/>
            <a:ext cx="10972800" cy="866775"/>
          </a:xfrm>
          <a:prstGeom xmlns:a="http://schemas.openxmlformats.org/drawingml/2006/main" prst="rect">
            <a:avLst/>
          </a:prstGeom>
          <a:solidFill xmlns:a="http://schemas.openxmlformats.org/drawingml/2006/main">
            <a:srgbClr val="FCFAF6"/>
          </a:solidFill>
        </p:spPr>
      </p:sp>
      <p:sp>
        <p:nvSpPr>
          <p:cNvPr id="23" name="p9-name-bg-2">
            <a:extLst xmlns:a="http://schemas.openxmlformats.org/drawingml/2006/main">
              <a:ext uri="{FF2B5EF4-FFF2-40B4-BE49-F238E27FC236}">
                <a16:creationId xmlns:a16="http://schemas.microsoft.com/office/drawing/2014/main" id="{1F8E18AA-B589-4BC7-A0E6-21706722C3BA}"/>
              </a:ext>
            </a:extLst>
          </p:cNvPr>
          <p:cNvSpPr>
            <a:spLocks xmlns:a="http://schemas.openxmlformats.org/drawingml/2006/main" noGrp="1"/>
          </p:cNvSpPr>
          <p:nvPr/>
        </p:nvSpPr>
        <p:spPr>
          <a:xfrm xmlns:a="http://schemas.openxmlformats.org/drawingml/2006/main">
            <a:off x="609600" y="3638550"/>
            <a:ext cx="2400300" cy="866775"/>
          </a:xfrm>
          <a:prstGeom xmlns:a="http://schemas.openxmlformats.org/drawingml/2006/main" prst="rect">
            <a:avLst/>
          </a:prstGeom>
          <a:solidFill xmlns:a="http://schemas.openxmlformats.org/drawingml/2006/main">
            <a:srgbClr val="EDE8E1"/>
          </a:solidFill>
        </p:spPr>
      </p:sp>
      <p:sp>
        <p:nvSpPr>
          <p:cNvPr id="24" name="p9-cell-2-0">
            <a:extLst xmlns:a="http://schemas.openxmlformats.org/drawingml/2006/main">
              <a:ext uri="{FF2B5EF4-FFF2-40B4-BE49-F238E27FC236}">
                <a16:creationId xmlns:a16="http://schemas.microsoft.com/office/drawing/2014/main" id="{0CF513D9-84A0-4BEE-8048-4AF3628FE35C}"/>
              </a:ext>
            </a:extLst>
          </p:cNvPr>
          <p:cNvSpPr>
            <a:spLocks xmlns:a="http://schemas.openxmlformats.org/drawingml/2006/main" noGrp="1"/>
          </p:cNvSpPr>
          <p:nvPr/>
        </p:nvSpPr>
        <p:spPr>
          <a:xfrm xmlns:a="http://schemas.openxmlformats.org/drawingml/2006/main">
            <a:off x="723900" y="3771900"/>
            <a:ext cx="11468100" cy="3086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Meta V-JEPA</a:t>
            </a:r>
          </a:p>
        </p:txBody>
      </p:sp>
      <p:sp>
        <p:nvSpPr>
          <p:cNvPr id="25" name="p9-cell-2-1">
            <a:extLst xmlns:a="http://schemas.openxmlformats.org/drawingml/2006/main">
              <a:ext uri="{FF2B5EF4-FFF2-40B4-BE49-F238E27FC236}">
                <a16:creationId xmlns:a16="http://schemas.microsoft.com/office/drawing/2014/main" id="{75C49C0A-9E63-4590-B0BF-88816F467596}"/>
              </a:ext>
            </a:extLst>
          </p:cNvPr>
          <p:cNvSpPr>
            <a:spLocks xmlns:a="http://schemas.openxmlformats.org/drawingml/2006/main" noGrp="1"/>
          </p:cNvSpPr>
          <p:nvPr/>
        </p:nvSpPr>
        <p:spPr>
          <a:xfrm xmlns:a="http://schemas.openxmlformats.org/drawingml/2006/main">
            <a:off x="3124200" y="3771900"/>
            <a:ext cx="9067800" cy="3086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仅 2-AC 提供动作条件路径；
窄域、许可与修正复现未闭合</a:t>
            </a:r>
          </a:p>
        </p:txBody>
      </p:sp>
      <p:sp>
        <p:nvSpPr>
          <p:cNvPr id="26" name="p9-trigger-mark-2">
            <a:extLst xmlns:a="http://schemas.openxmlformats.org/drawingml/2006/main">
              <a:ext uri="{FF2B5EF4-FFF2-40B4-BE49-F238E27FC236}">
                <a16:creationId xmlns:a16="http://schemas.microsoft.com/office/drawing/2014/main" id="{AF4562DA-532E-4885-BF23-F718ECA362B8}"/>
              </a:ext>
            </a:extLst>
          </p:cNvPr>
          <p:cNvSpPr>
            <a:spLocks xmlns:a="http://schemas.openxmlformats.org/drawingml/2006/main" noGrp="1"/>
          </p:cNvSpPr>
          <p:nvPr/>
        </p:nvSpPr>
        <p:spPr>
          <a:xfrm xmlns:a="http://schemas.openxmlformats.org/drawingml/2006/main">
            <a:off x="7353300" y="3790950"/>
            <a:ext cx="209550" cy="28575"/>
          </a:xfrm>
          <a:prstGeom xmlns:a="http://schemas.openxmlformats.org/drawingml/2006/main" prst="rect">
            <a:avLst/>
          </a:prstGeom>
          <a:solidFill xmlns:a="http://schemas.openxmlformats.org/drawingml/2006/main">
            <a:srgbClr val="C56B4D"/>
          </a:solidFill>
        </p:spPr>
      </p:sp>
      <p:sp>
        <p:nvSpPr>
          <p:cNvPr id="27" name="p9-cell-2-2">
            <a:extLst xmlns:a="http://schemas.openxmlformats.org/drawingml/2006/main">
              <a:ext uri="{FF2B5EF4-FFF2-40B4-BE49-F238E27FC236}">
                <a16:creationId xmlns:a16="http://schemas.microsoft.com/office/drawing/2014/main" id="{160E65F7-13BB-4128-BF9A-091DCFB21688}"/>
              </a:ext>
            </a:extLst>
          </p:cNvPr>
          <p:cNvSpPr>
            <a:spLocks xmlns:a="http://schemas.openxmlformats.org/drawingml/2006/main" noGrp="1"/>
          </p:cNvSpPr>
          <p:nvPr/>
        </p:nvSpPr>
        <p:spPr>
          <a:xfrm xmlns:a="http://schemas.openxmlformats.org/drawingml/2006/main">
            <a:off x="7658100" y="3771900"/>
            <a:ext cx="4533900" cy="3086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跨动作域复现、许可闭合、
产品或客户入口</a:t>
            </a:r>
          </a:p>
        </p:txBody>
      </p:sp>
      <p:sp>
        <p:nvSpPr>
          <p:cNvPr id="28" name="p9-row-rule-2">
            <a:extLst xmlns:a="http://schemas.openxmlformats.org/drawingml/2006/main">
              <a:ext uri="{FF2B5EF4-FFF2-40B4-BE49-F238E27FC236}">
                <a16:creationId xmlns:a16="http://schemas.microsoft.com/office/drawing/2014/main" id="{83C3DB0B-0461-4DE9-8180-337E338D66F5}"/>
              </a:ext>
            </a:extLst>
          </p:cNvPr>
          <p:cNvSpPr>
            <a:spLocks xmlns:a="http://schemas.openxmlformats.org/drawingml/2006/main" noGrp="1"/>
          </p:cNvSpPr>
          <p:nvPr/>
        </p:nvSpPr>
        <p:spPr>
          <a:xfrm xmlns:a="http://schemas.openxmlformats.org/drawingml/2006/main">
            <a:off x="609600" y="4505325"/>
            <a:ext cx="10972800" cy="9525"/>
          </a:xfrm>
          <a:prstGeom xmlns:a="http://schemas.openxmlformats.org/drawingml/2006/main" prst="rect">
            <a:avLst/>
          </a:prstGeom>
          <a:solidFill xmlns:a="http://schemas.openxmlformats.org/drawingml/2006/main">
            <a:srgbClr val="D8D0C6"/>
          </a:solidFill>
        </p:spPr>
      </p:sp>
      <p:sp>
        <p:nvSpPr>
          <p:cNvPr id="29" name="p9-row-bg-3">
            <a:extLst xmlns:a="http://schemas.openxmlformats.org/drawingml/2006/main">
              <a:ext uri="{FF2B5EF4-FFF2-40B4-BE49-F238E27FC236}">
                <a16:creationId xmlns:a16="http://schemas.microsoft.com/office/drawing/2014/main" id="{8F7F58F8-6D9B-4955-9C1C-BA13E6ABEF31}"/>
              </a:ext>
            </a:extLst>
          </p:cNvPr>
          <p:cNvSpPr>
            <a:spLocks xmlns:a="http://schemas.openxmlformats.org/drawingml/2006/main" noGrp="1"/>
          </p:cNvSpPr>
          <p:nvPr/>
        </p:nvSpPr>
        <p:spPr>
          <a:xfrm xmlns:a="http://schemas.openxmlformats.org/drawingml/2006/main">
            <a:off x="609600" y="4505325"/>
            <a:ext cx="10972800" cy="866775"/>
          </a:xfrm>
          <a:prstGeom xmlns:a="http://schemas.openxmlformats.org/drawingml/2006/main" prst="rect">
            <a:avLst/>
          </a:prstGeom>
          <a:solidFill xmlns:a="http://schemas.openxmlformats.org/drawingml/2006/main">
            <a:srgbClr val="F2EDE6"/>
          </a:solidFill>
        </p:spPr>
      </p:sp>
      <p:sp>
        <p:nvSpPr>
          <p:cNvPr id="30" name="p9-name-bg-3">
            <a:extLst xmlns:a="http://schemas.openxmlformats.org/drawingml/2006/main">
              <a:ext uri="{FF2B5EF4-FFF2-40B4-BE49-F238E27FC236}">
                <a16:creationId xmlns:a16="http://schemas.microsoft.com/office/drawing/2014/main" id="{02147A88-9BA7-4A91-9438-70DCAC980A0B}"/>
              </a:ext>
            </a:extLst>
          </p:cNvPr>
          <p:cNvSpPr>
            <a:spLocks xmlns:a="http://schemas.openxmlformats.org/drawingml/2006/main" noGrp="1"/>
          </p:cNvSpPr>
          <p:nvPr/>
        </p:nvSpPr>
        <p:spPr>
          <a:xfrm xmlns:a="http://schemas.openxmlformats.org/drawingml/2006/main">
            <a:off x="609600" y="4505325"/>
            <a:ext cx="2400300" cy="866775"/>
          </a:xfrm>
          <a:prstGeom xmlns:a="http://schemas.openxmlformats.org/drawingml/2006/main" prst="rect">
            <a:avLst/>
          </a:prstGeom>
          <a:solidFill xmlns:a="http://schemas.openxmlformats.org/drawingml/2006/main">
            <a:srgbClr val="EDE8E1"/>
          </a:solidFill>
        </p:spPr>
      </p:sp>
      <p:sp>
        <p:nvSpPr>
          <p:cNvPr id="31" name="p9-cell-3-0">
            <a:extLst xmlns:a="http://schemas.openxmlformats.org/drawingml/2006/main">
              <a:ext uri="{FF2B5EF4-FFF2-40B4-BE49-F238E27FC236}">
                <a16:creationId xmlns:a16="http://schemas.microsoft.com/office/drawing/2014/main" id="{90EDC81C-4BBC-4603-9E86-B41B20BF60BE}"/>
              </a:ext>
            </a:extLst>
          </p:cNvPr>
          <p:cNvSpPr>
            <a:spLocks xmlns:a="http://schemas.openxmlformats.org/drawingml/2006/main" noGrp="1"/>
          </p:cNvSpPr>
          <p:nvPr/>
        </p:nvSpPr>
        <p:spPr>
          <a:xfrm xmlns:a="http://schemas.openxmlformats.org/drawingml/2006/main">
            <a:off x="723900" y="4638675"/>
            <a:ext cx="11468100" cy="2219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Overworld
（地域条件）</a:t>
            </a:r>
          </a:p>
        </p:txBody>
      </p:sp>
      <p:sp>
        <p:nvSpPr>
          <p:cNvPr id="32" name="p9-cell-3-1">
            <a:extLst xmlns:a="http://schemas.openxmlformats.org/drawingml/2006/main">
              <a:ext uri="{FF2B5EF4-FFF2-40B4-BE49-F238E27FC236}">
                <a16:creationId xmlns:a16="http://schemas.microsoft.com/office/drawing/2014/main" id="{F41B8440-0265-4910-99BE-5BB24A49D638}"/>
              </a:ext>
            </a:extLst>
          </p:cNvPr>
          <p:cNvSpPr>
            <a:spLocks xmlns:a="http://schemas.openxmlformats.org/drawingml/2006/main" noGrp="1"/>
          </p:cNvSpPr>
          <p:nvPr/>
        </p:nvSpPr>
        <p:spPr>
          <a:xfrm xmlns:a="http://schemas.openxmlformats.org/drawingml/2006/main">
            <a:off x="3124200" y="4638675"/>
            <a:ext cx="9067800" cy="2219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开放权重和本地运行有平台价值；
法律主体、长时一致性和采用未证</a:t>
            </a:r>
          </a:p>
        </p:txBody>
      </p:sp>
      <p:sp>
        <p:nvSpPr>
          <p:cNvPr id="33" name="p9-trigger-mark-3">
            <a:extLst xmlns:a="http://schemas.openxmlformats.org/drawingml/2006/main">
              <a:ext uri="{FF2B5EF4-FFF2-40B4-BE49-F238E27FC236}">
                <a16:creationId xmlns:a16="http://schemas.microsoft.com/office/drawing/2014/main" id="{3931B63A-79C9-4B10-9275-D21D47EAE339}"/>
              </a:ext>
            </a:extLst>
          </p:cNvPr>
          <p:cNvSpPr>
            <a:spLocks xmlns:a="http://schemas.openxmlformats.org/drawingml/2006/main" noGrp="1"/>
          </p:cNvSpPr>
          <p:nvPr/>
        </p:nvSpPr>
        <p:spPr>
          <a:xfrm xmlns:a="http://schemas.openxmlformats.org/drawingml/2006/main">
            <a:off x="7353300" y="4657725"/>
            <a:ext cx="209550" cy="28575"/>
          </a:xfrm>
          <a:prstGeom xmlns:a="http://schemas.openxmlformats.org/drawingml/2006/main" prst="rect">
            <a:avLst/>
          </a:prstGeom>
          <a:solidFill xmlns:a="http://schemas.openxmlformats.org/drawingml/2006/main">
            <a:srgbClr val="C56B4D"/>
          </a:solidFill>
        </p:spPr>
      </p:sp>
      <p:sp>
        <p:nvSpPr>
          <p:cNvPr id="34" name="p9-cell-3-2">
            <a:extLst xmlns:a="http://schemas.openxmlformats.org/drawingml/2006/main">
              <a:ext uri="{FF2B5EF4-FFF2-40B4-BE49-F238E27FC236}">
                <a16:creationId xmlns:a16="http://schemas.microsoft.com/office/drawing/2014/main" id="{B9338643-D618-4755-B92D-78251AFB7513}"/>
              </a:ext>
            </a:extLst>
          </p:cNvPr>
          <p:cNvSpPr>
            <a:spLocks xmlns:a="http://schemas.openxmlformats.org/drawingml/2006/main" noGrp="1"/>
          </p:cNvSpPr>
          <p:nvPr/>
        </p:nvSpPr>
        <p:spPr>
          <a:xfrm xmlns:a="http://schemas.openxmlformats.org/drawingml/2006/main">
            <a:off x="7658100" y="4638675"/>
            <a:ext cx="4533900" cy="2219325"/>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法律实体闭合、长时交互独立验证、
具名采用</a:t>
            </a:r>
          </a:p>
        </p:txBody>
      </p:sp>
      <p:sp>
        <p:nvSpPr>
          <p:cNvPr id="35" name="p9-row-rule-3">
            <a:extLst xmlns:a="http://schemas.openxmlformats.org/drawingml/2006/main">
              <a:ext uri="{FF2B5EF4-FFF2-40B4-BE49-F238E27FC236}">
                <a16:creationId xmlns:a16="http://schemas.microsoft.com/office/drawing/2014/main" id="{239D6B47-D8B7-484C-928A-40319300E160}"/>
              </a:ext>
            </a:extLst>
          </p:cNvPr>
          <p:cNvSpPr>
            <a:spLocks xmlns:a="http://schemas.openxmlformats.org/drawingml/2006/main" noGrp="1"/>
          </p:cNvSpPr>
          <p:nvPr/>
        </p:nvSpPr>
        <p:spPr>
          <a:xfrm xmlns:a="http://schemas.openxmlformats.org/drawingml/2006/main">
            <a:off x="609600" y="5372100"/>
            <a:ext cx="10972800" cy="9525"/>
          </a:xfrm>
          <a:prstGeom xmlns:a="http://schemas.openxmlformats.org/drawingml/2006/main" prst="rect">
            <a:avLst/>
          </a:prstGeom>
          <a:solidFill xmlns:a="http://schemas.openxmlformats.org/drawingml/2006/main">
            <a:srgbClr val="D8D0C6"/>
          </a:solidFill>
        </p:spPr>
      </p:sp>
      <p:sp>
        <p:nvSpPr>
          <p:cNvPr id="36" name="p9-row-bg-4">
            <a:extLst xmlns:a="http://schemas.openxmlformats.org/drawingml/2006/main">
              <a:ext uri="{FF2B5EF4-FFF2-40B4-BE49-F238E27FC236}">
                <a16:creationId xmlns:a16="http://schemas.microsoft.com/office/drawing/2014/main" id="{B902A466-A3F9-4B29-92EC-618A4B215AD7}"/>
              </a:ext>
            </a:extLst>
          </p:cNvPr>
          <p:cNvSpPr>
            <a:spLocks xmlns:a="http://schemas.openxmlformats.org/drawingml/2006/main" noGrp="1"/>
          </p:cNvSpPr>
          <p:nvPr/>
        </p:nvSpPr>
        <p:spPr>
          <a:xfrm xmlns:a="http://schemas.openxmlformats.org/drawingml/2006/main">
            <a:off x="609600" y="5372100"/>
            <a:ext cx="10972800" cy="866775"/>
          </a:xfrm>
          <a:prstGeom xmlns:a="http://schemas.openxmlformats.org/drawingml/2006/main" prst="rect">
            <a:avLst/>
          </a:prstGeom>
          <a:solidFill xmlns:a="http://schemas.openxmlformats.org/drawingml/2006/main">
            <a:srgbClr val="FCFAF6"/>
          </a:solidFill>
        </p:spPr>
      </p:sp>
      <p:sp>
        <p:nvSpPr>
          <p:cNvPr id="37" name="p9-name-bg-4">
            <a:extLst xmlns:a="http://schemas.openxmlformats.org/drawingml/2006/main">
              <a:ext uri="{FF2B5EF4-FFF2-40B4-BE49-F238E27FC236}">
                <a16:creationId xmlns:a16="http://schemas.microsoft.com/office/drawing/2014/main" id="{3BA13B6F-B135-4687-A0EE-41D068EFDEDB}"/>
              </a:ext>
            </a:extLst>
          </p:cNvPr>
          <p:cNvSpPr>
            <a:spLocks xmlns:a="http://schemas.openxmlformats.org/drawingml/2006/main" noGrp="1"/>
          </p:cNvSpPr>
          <p:nvPr/>
        </p:nvSpPr>
        <p:spPr>
          <a:xfrm xmlns:a="http://schemas.openxmlformats.org/drawingml/2006/main">
            <a:off x="609600" y="5372100"/>
            <a:ext cx="2400300" cy="866775"/>
          </a:xfrm>
          <a:prstGeom xmlns:a="http://schemas.openxmlformats.org/drawingml/2006/main" prst="rect">
            <a:avLst/>
          </a:prstGeom>
          <a:solidFill xmlns:a="http://schemas.openxmlformats.org/drawingml/2006/main">
            <a:srgbClr val="EFE7D6"/>
          </a:solidFill>
        </p:spPr>
      </p:sp>
      <p:sp>
        <p:nvSpPr>
          <p:cNvPr id="38" name="p9-cell-4-0">
            <a:extLst xmlns:a="http://schemas.openxmlformats.org/drawingml/2006/main">
              <a:ext uri="{FF2B5EF4-FFF2-40B4-BE49-F238E27FC236}">
                <a16:creationId xmlns:a16="http://schemas.microsoft.com/office/drawing/2014/main" id="{9EA10892-396F-48D8-801F-4254F5496A64}"/>
              </a:ext>
            </a:extLst>
          </p:cNvPr>
          <p:cNvSpPr>
            <a:spLocks xmlns:a="http://schemas.openxmlformats.org/drawingml/2006/main" noGrp="1"/>
          </p:cNvSpPr>
          <p:nvPr/>
        </p:nvSpPr>
        <p:spPr>
          <a:xfrm xmlns:a="http://schemas.openxmlformats.org/drawingml/2006/main">
            <a:off x="723900" y="5505450"/>
            <a:ext cx="11468100" cy="1352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AMI Labs
（早期信号）</a:t>
            </a:r>
          </a:p>
        </p:txBody>
      </p:sp>
      <p:sp>
        <p:nvSpPr>
          <p:cNvPr id="39" name="p9-cell-4-1">
            <a:extLst xmlns:a="http://schemas.openxmlformats.org/drawingml/2006/main">
              <a:ext uri="{FF2B5EF4-FFF2-40B4-BE49-F238E27FC236}">
                <a16:creationId xmlns:a16="http://schemas.microsoft.com/office/drawing/2014/main" id="{D0ABE9F4-2903-4DBA-BCD0-D53C8A137FE6}"/>
              </a:ext>
            </a:extLst>
          </p:cNvPr>
          <p:cNvSpPr>
            <a:spLocks xmlns:a="http://schemas.openxmlformats.org/drawingml/2006/main" noGrp="1"/>
          </p:cNvSpPr>
          <p:nvPr/>
        </p:nvSpPr>
        <p:spPr>
          <a:xfrm xmlns:a="http://schemas.openxmlformats.org/drawingml/2006/main">
            <a:off x="3124200" y="5505450"/>
            <a:ext cx="9067800" cy="1352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非中国地域已闭合，但无可验证的自有模型、
论文、演示、权重、接口或评测</a:t>
            </a:r>
          </a:p>
        </p:txBody>
      </p:sp>
      <p:sp>
        <p:nvSpPr>
          <p:cNvPr id="40" name="p9-trigger-mark-4">
            <a:extLst xmlns:a="http://schemas.openxmlformats.org/drawingml/2006/main">
              <a:ext uri="{FF2B5EF4-FFF2-40B4-BE49-F238E27FC236}">
                <a16:creationId xmlns:a16="http://schemas.microsoft.com/office/drawing/2014/main" id="{2F91AC15-4D3F-49C3-ABAB-BA76C11D19DA}"/>
              </a:ext>
            </a:extLst>
          </p:cNvPr>
          <p:cNvSpPr>
            <a:spLocks xmlns:a="http://schemas.openxmlformats.org/drawingml/2006/main" noGrp="1"/>
          </p:cNvSpPr>
          <p:nvPr/>
        </p:nvSpPr>
        <p:spPr>
          <a:xfrm xmlns:a="http://schemas.openxmlformats.org/drawingml/2006/main">
            <a:off x="7353300" y="5524500"/>
            <a:ext cx="209550" cy="28575"/>
          </a:xfrm>
          <a:prstGeom xmlns:a="http://schemas.openxmlformats.org/drawingml/2006/main" prst="rect">
            <a:avLst/>
          </a:prstGeom>
          <a:solidFill xmlns:a="http://schemas.openxmlformats.org/drawingml/2006/main">
            <a:srgbClr val="A48755"/>
          </a:solidFill>
        </p:spPr>
      </p:sp>
      <p:sp>
        <p:nvSpPr>
          <p:cNvPr id="41" name="p9-cell-4-2">
            <a:extLst xmlns:a="http://schemas.openxmlformats.org/drawingml/2006/main">
              <a:ext uri="{FF2B5EF4-FFF2-40B4-BE49-F238E27FC236}">
                <a16:creationId xmlns:a16="http://schemas.microsoft.com/office/drawing/2014/main" id="{FEECC26F-F788-4263-B3FE-E52909E04733}"/>
              </a:ext>
            </a:extLst>
          </p:cNvPr>
          <p:cNvSpPr>
            <a:spLocks xmlns:a="http://schemas.openxmlformats.org/drawingml/2006/main" noGrp="1"/>
          </p:cNvSpPr>
          <p:nvPr/>
        </p:nvSpPr>
        <p:spPr>
          <a:xfrm xmlns:a="http://schemas.openxmlformats.org/drawingml/2006/main">
            <a:off x="7658100" y="5505450"/>
            <a:ext cx="4533900" cy="1352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可审计的自有技术资产
与外部入口</a:t>
            </a:r>
          </a:p>
        </p:txBody>
      </p:sp>
      <p:sp>
        <p:nvSpPr>
          <p:cNvPr id="42" name="p9-row-rule-4">
            <a:extLst xmlns:a="http://schemas.openxmlformats.org/drawingml/2006/main">
              <a:ext uri="{FF2B5EF4-FFF2-40B4-BE49-F238E27FC236}">
                <a16:creationId xmlns:a16="http://schemas.microsoft.com/office/drawing/2014/main" id="{EDA93800-61BE-4398-A425-43B34B51FDF9}"/>
              </a:ext>
            </a:extLst>
          </p:cNvPr>
          <p:cNvSpPr>
            <a:spLocks xmlns:a="http://schemas.openxmlformats.org/drawingml/2006/main" noGrp="1"/>
          </p:cNvSpPr>
          <p:nvPr/>
        </p:nvSpPr>
        <p:spPr>
          <a:xfrm xmlns:a="http://schemas.openxmlformats.org/drawingml/2006/main">
            <a:off x="609600" y="6238875"/>
            <a:ext cx="10972800" cy="9525"/>
          </a:xfrm>
          <a:prstGeom xmlns:a="http://schemas.openxmlformats.org/drawingml/2006/main" prst="rect">
            <a:avLst/>
          </a:prstGeom>
          <a:solidFill xmlns:a="http://schemas.openxmlformats.org/drawingml/2006/main">
            <a:srgbClr val="D8D0C6"/>
          </a:solidFill>
        </p:spPr>
      </p:sp>
      <p:sp>
        <p:nvSpPr>
          <p:cNvPr id="43" name="p9-v1">
            <a:extLst xmlns:a="http://schemas.openxmlformats.org/drawingml/2006/main">
              <a:ext uri="{FF2B5EF4-FFF2-40B4-BE49-F238E27FC236}">
                <a16:creationId xmlns:a16="http://schemas.microsoft.com/office/drawing/2014/main" id="{A1D2DCA9-F205-41ED-A0CF-674D8DDC1A92}"/>
              </a:ext>
            </a:extLst>
          </p:cNvPr>
          <p:cNvSpPr>
            <a:spLocks xmlns:a="http://schemas.openxmlformats.org/drawingml/2006/main" noGrp="1"/>
          </p:cNvSpPr>
          <p:nvPr/>
        </p:nvSpPr>
        <p:spPr>
          <a:xfrm xmlns:a="http://schemas.openxmlformats.org/drawingml/2006/main">
            <a:off x="3009900" y="1466850"/>
            <a:ext cx="9525" cy="4772025"/>
          </a:xfrm>
          <a:prstGeom xmlns:a="http://schemas.openxmlformats.org/drawingml/2006/main" prst="rect">
            <a:avLst/>
          </a:prstGeom>
          <a:solidFill xmlns:a="http://schemas.openxmlformats.org/drawingml/2006/main">
            <a:srgbClr val="D8D0C6"/>
          </a:solidFill>
        </p:spPr>
      </p:sp>
      <p:sp>
        <p:nvSpPr>
          <p:cNvPr id="44" name="p9-v2">
            <a:extLst xmlns:a="http://schemas.openxmlformats.org/drawingml/2006/main">
              <a:ext uri="{FF2B5EF4-FFF2-40B4-BE49-F238E27FC236}">
                <a16:creationId xmlns:a16="http://schemas.microsoft.com/office/drawing/2014/main" id="{A63F4E25-AA0C-4C7F-BD09-F76935AE3801}"/>
              </a:ext>
            </a:extLst>
          </p:cNvPr>
          <p:cNvSpPr>
            <a:spLocks xmlns:a="http://schemas.openxmlformats.org/drawingml/2006/main" noGrp="1"/>
          </p:cNvSpPr>
          <p:nvPr/>
        </p:nvSpPr>
        <p:spPr>
          <a:xfrm xmlns:a="http://schemas.openxmlformats.org/drawingml/2006/main">
            <a:off x="7239000" y="1466850"/>
            <a:ext cx="9525" cy="4772025"/>
          </a:xfrm>
          <a:prstGeom xmlns:a="http://schemas.openxmlformats.org/drawingml/2006/main" prst="rect">
            <a:avLst/>
          </a:prstGeom>
          <a:solidFill xmlns:a="http://schemas.openxmlformats.org/drawingml/2006/main">
            <a:srgbClr val="D8D0C6"/>
          </a:solidFill>
        </p:spPr>
      </p:sp>
      <p:sp>
        <p:nvSpPr>
          <p:cNvPr id="45" name="p9-footer-rule">
            <a:extLst xmlns:a="http://schemas.openxmlformats.org/drawingml/2006/main">
              <a:ext uri="{FF2B5EF4-FFF2-40B4-BE49-F238E27FC236}">
                <a16:creationId xmlns:a16="http://schemas.microsoft.com/office/drawing/2014/main" id="{AF360649-38A3-4B5B-84A8-5E8672339726}"/>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46" name="p9-footer-source">
            <a:extLst xmlns:a="http://schemas.openxmlformats.org/drawingml/2006/main">
              <a:ext uri="{FF2B5EF4-FFF2-40B4-BE49-F238E27FC236}">
                <a16:creationId xmlns:a16="http://schemas.microsoft.com/office/drawing/2014/main" id="{A4FE6F95-0CCE-48D8-BD39-EA3BCF9EE93A}"/>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来源：官方研究、产品、代码仓库、公司及地域资料</a:t>
            </a:r>
          </a:p>
        </p:txBody>
      </p:sp>
      <p:sp>
        <p:nvSpPr>
          <p:cNvPr id="47" name="p9-footer-page">
            <a:extLst xmlns:a="http://schemas.openxmlformats.org/drawingml/2006/main">
              <a:ext uri="{FF2B5EF4-FFF2-40B4-BE49-F238E27FC236}">
                <a16:creationId xmlns:a16="http://schemas.microsoft.com/office/drawing/2014/main" id="{8D7F2CEA-61F3-44FE-A603-FA16F93DA25A}"/>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09</a:t>
            </a:r>
          </a:p>
        </p:txBody>
      </p:sp>
    </p:spTree>
    <p:extLst>
      <p:ext uri="{BB962C8B-B14F-4D97-AF65-F5344CB8AC3E}">
        <p14:creationId xmlns:p14="http://schemas.microsoft.com/office/powerpoint/2010/main" val="1621027638"/>
      </p:ext>
    </p:extLst>
  </p:cSld>
</p:sld>
</file>

<file path=ppt/slides/slide10.xml><?xml version="1.0" encoding="utf-8"?>
<p:sld xmlns:p="http://schemas.openxmlformats.org/presentationml/2006/main">
  <p:cSld>
    <p:bg>
      <p:bgPr>
        <a:solidFill xmlns:a="http://schemas.openxmlformats.org/drawingml/2006/main">
          <a:srgbClr val="F7F3ED"/>
        </a:solidFill>
      </p:bgPr>
    </p:bg>
    <p:spTree>
      <p:nvGrpSpPr>
        <p:cNvPr id="1" name=""/>
        <p:cNvGrpSpPr/>
        <p:nvPr/>
      </p:nvGrpSpPr>
      <p:grpSpPr>
        <a:xfrm xmlns:a="http://schemas.openxmlformats.org/drawingml/2006/main"/>
      </p:grpSpPr>
      <p:sp>
        <p:nvSpPr>
          <p:cNvPr id="1" name="p10-eyebrow">
            <a:extLst xmlns:a="http://schemas.openxmlformats.org/drawingml/2006/main">
              <a:ext uri="{FF2B5EF4-FFF2-40B4-BE49-F238E27FC236}">
                <a16:creationId xmlns:a16="http://schemas.microsoft.com/office/drawing/2014/main" id="{88DF10AE-90C4-40EF-9953-89DCB3367F26}"/>
              </a:ext>
            </a:extLst>
          </p:cNvPr>
          <p:cNvSpPr>
            <a:spLocks xmlns:a="http://schemas.openxmlformats.org/drawingml/2006/main" noGrp="1"/>
          </p:cNvSpPr>
          <p:nvPr/>
        </p:nvSpPr>
        <p:spPr>
          <a:xfrm xmlns:a="http://schemas.openxmlformats.org/drawingml/2006/main">
            <a:off x="609600" y="247650"/>
            <a:ext cx="11582400" cy="66103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400" b="1" i="0">
                <a:solidFill>
                  <a:srgbClr val="C56B4D"/>
                </a:solidFill>
                <a:latin typeface="Noto Sans SC"/>
                <a:ea typeface="Noto Sans SC"/>
                <a:cs typeface="Noto Sans SC"/>
              </a:defRPr>
            </a:pPr>
            <a:r>
              <a:t>MANIFOLD · NOW / LATER</a:t>
            </a:r>
          </a:p>
        </p:txBody>
      </p:sp>
      <p:sp>
        <p:nvSpPr>
          <p:cNvPr id="2" name="p10-title">
            <a:extLst xmlns:a="http://schemas.openxmlformats.org/drawingml/2006/main">
              <a:ext uri="{FF2B5EF4-FFF2-40B4-BE49-F238E27FC236}">
                <a16:creationId xmlns:a16="http://schemas.microsoft.com/office/drawing/2014/main" id="{0DD8F3E7-AFE1-409F-ACF6-2B2B6C2A6578}"/>
              </a:ext>
            </a:extLst>
          </p:cNvPr>
          <p:cNvSpPr>
            <a:spLocks xmlns:a="http://schemas.openxmlformats.org/drawingml/2006/main" noGrp="1"/>
          </p:cNvSpPr>
          <p:nvPr/>
        </p:nvSpPr>
        <p:spPr>
          <a:xfrm xmlns:a="http://schemas.openxmlformats.org/drawingml/2006/main">
            <a:off x="609600" y="476250"/>
            <a:ext cx="11582400" cy="6381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3500" b="1" i="0">
                <a:solidFill>
                  <a:srgbClr val="24211E"/>
                </a:solidFill>
                <a:latin typeface="Noto Serif SC"/>
                <a:ea typeface="Noto Serif SC"/>
                <a:cs typeface="Noto Serif SC"/>
              </a:defRPr>
            </a:pPr>
            <a:r>
              <a:t>先把三件事做成标准资产，
再用五类证据决定是否重审</a:t>
            </a:r>
          </a:p>
        </p:txBody>
      </p:sp>
      <p:sp>
        <p:nvSpPr>
          <p:cNvPr id="3" name="p10-subtitle">
            <a:extLst xmlns:a="http://schemas.openxmlformats.org/drawingml/2006/main">
              <a:ext uri="{FF2B5EF4-FFF2-40B4-BE49-F238E27FC236}">
                <a16:creationId xmlns:a16="http://schemas.microsoft.com/office/drawing/2014/main" id="{07504FBD-4598-4A28-838C-627DD0A776C6}"/>
              </a:ext>
            </a:extLst>
          </p:cNvPr>
          <p:cNvSpPr>
            <a:spLocks xmlns:a="http://schemas.openxmlformats.org/drawingml/2006/main" noGrp="1"/>
          </p:cNvSpPr>
          <p:nvPr/>
        </p:nvSpPr>
        <p:spPr>
          <a:xfrm xmlns:a="http://schemas.openxmlformats.org/drawingml/2006/main">
            <a:off x="609600" y="1524000"/>
            <a:ext cx="11582400" cy="5334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6E6861"/>
                </a:solidFill>
                <a:latin typeface="Noto Sans SC"/>
                <a:ea typeface="Noto Sans SC"/>
                <a:cs typeface="Noto Sans SC"/>
              </a:defRPr>
            </a:pPr>
            <a:r>
              <a:t>上半页是现在要做的事；下半页是未来触发重审的证据。</a:t>
            </a:r>
          </a:p>
        </p:txBody>
      </p:sp>
      <p:sp>
        <p:nvSpPr>
          <p:cNvPr id="4" name="p10-actions-bg">
            <a:extLst xmlns:a="http://schemas.openxmlformats.org/drawingml/2006/main">
              <a:ext uri="{FF2B5EF4-FFF2-40B4-BE49-F238E27FC236}">
                <a16:creationId xmlns:a16="http://schemas.microsoft.com/office/drawing/2014/main" id="{5FC8F6DE-6A28-450D-9A66-8C6DA4EF14B5}"/>
              </a:ext>
            </a:extLst>
          </p:cNvPr>
          <p:cNvSpPr>
            <a:spLocks xmlns:a="http://schemas.openxmlformats.org/drawingml/2006/main" noGrp="1"/>
          </p:cNvSpPr>
          <p:nvPr/>
        </p:nvSpPr>
        <p:spPr>
          <a:xfrm xmlns:a="http://schemas.openxmlformats.org/drawingml/2006/main">
            <a:off x="609600" y="1885950"/>
            <a:ext cx="10972800" cy="2209800"/>
          </a:xfrm>
          <a:prstGeom xmlns:a="http://schemas.openxmlformats.org/drawingml/2006/main" prst="rect">
            <a:avLst/>
          </a:prstGeom>
          <a:solidFill xmlns:a="http://schemas.openxmlformats.org/drawingml/2006/main">
            <a:srgbClr val="FCFAF6"/>
          </a:solidFill>
        </p:spPr>
      </p:sp>
      <p:sp>
        <p:nvSpPr>
          <p:cNvPr id="5" name="p10-action-num-0">
            <a:extLst xmlns:a="http://schemas.openxmlformats.org/drawingml/2006/main">
              <a:ext uri="{FF2B5EF4-FFF2-40B4-BE49-F238E27FC236}">
                <a16:creationId xmlns:a16="http://schemas.microsoft.com/office/drawing/2014/main" id="{F5A45CA8-7B23-4788-8060-84AB87F857A7}"/>
              </a:ext>
            </a:extLst>
          </p:cNvPr>
          <p:cNvSpPr>
            <a:spLocks xmlns:a="http://schemas.openxmlformats.org/drawingml/2006/main" noGrp="1"/>
          </p:cNvSpPr>
          <p:nvPr/>
        </p:nvSpPr>
        <p:spPr>
          <a:xfrm xmlns:a="http://schemas.openxmlformats.org/drawingml/2006/main">
            <a:off x="838200" y="2114550"/>
            <a:ext cx="11353800" cy="4743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C56B4D"/>
                </a:solidFill>
                <a:latin typeface="Noto Serif SC"/>
                <a:ea typeface="Noto Serif SC"/>
                <a:cs typeface="Noto Serif SC"/>
              </a:defRPr>
            </a:pPr>
            <a:r>
              <a:t>01</a:t>
            </a:r>
          </a:p>
        </p:txBody>
      </p:sp>
      <p:sp>
        <p:nvSpPr>
          <p:cNvPr id="6" name="p10-action-title-0">
            <a:extLst xmlns:a="http://schemas.openxmlformats.org/drawingml/2006/main">
              <a:ext uri="{FF2B5EF4-FFF2-40B4-BE49-F238E27FC236}">
                <a16:creationId xmlns:a16="http://schemas.microsoft.com/office/drawing/2014/main" id="{040D1EFA-6AA5-4FF1-981E-75E9D20A9A1D}"/>
              </a:ext>
            </a:extLst>
          </p:cNvPr>
          <p:cNvSpPr>
            <a:spLocks xmlns:a="http://schemas.openxmlformats.org/drawingml/2006/main" noGrp="1"/>
          </p:cNvSpPr>
          <p:nvPr/>
        </p:nvSpPr>
        <p:spPr>
          <a:xfrm xmlns:a="http://schemas.openxmlformats.org/drawingml/2006/main">
            <a:off x="838200" y="2667000"/>
            <a:ext cx="11353800" cy="419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定义标准交付单元</a:t>
            </a:r>
          </a:p>
        </p:txBody>
      </p:sp>
      <p:sp>
        <p:nvSpPr>
          <p:cNvPr id="7" name="p10-action-body-0">
            <a:extLst xmlns:a="http://schemas.openxmlformats.org/drawingml/2006/main">
              <a:ext uri="{FF2B5EF4-FFF2-40B4-BE49-F238E27FC236}">
                <a16:creationId xmlns:a16="http://schemas.microsoft.com/office/drawing/2014/main" id="{087DBBA8-FB1F-41A8-B9D2-DF05F8AB2E3E}"/>
              </a:ext>
            </a:extLst>
          </p:cNvPr>
          <p:cNvSpPr>
            <a:spLocks xmlns:a="http://schemas.openxmlformats.org/drawingml/2006/main" noGrp="1"/>
          </p:cNvSpPr>
          <p:nvPr/>
        </p:nvSpPr>
        <p:spPr>
          <a:xfrm xmlns:a="http://schemas.openxmlformats.org/drawingml/2006/main">
            <a:off x="838200" y="3143250"/>
            <a:ext cx="113538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明确模型、接口、部署服务
和联合项目分别交付什么；
哪些层由 Manifold 拥有、
集成或采购。</a:t>
            </a:r>
          </a:p>
        </p:txBody>
      </p:sp>
      <p:sp>
        <p:nvSpPr>
          <p:cNvPr id="8" name="p10-action-v-0">
            <a:extLst xmlns:a="http://schemas.openxmlformats.org/drawingml/2006/main">
              <a:ext uri="{FF2B5EF4-FFF2-40B4-BE49-F238E27FC236}">
                <a16:creationId xmlns:a16="http://schemas.microsoft.com/office/drawing/2014/main" id="{69515642-DB14-42C2-B212-5963E9B6AA4E}"/>
              </a:ext>
            </a:extLst>
          </p:cNvPr>
          <p:cNvSpPr>
            <a:spLocks xmlns:a="http://schemas.openxmlformats.org/drawingml/2006/main" noGrp="1"/>
          </p:cNvSpPr>
          <p:nvPr/>
        </p:nvSpPr>
        <p:spPr>
          <a:xfrm xmlns:a="http://schemas.openxmlformats.org/drawingml/2006/main">
            <a:off x="4114800" y="2114550"/>
            <a:ext cx="9525" cy="1809750"/>
          </a:xfrm>
          <a:prstGeom xmlns:a="http://schemas.openxmlformats.org/drawingml/2006/main" prst="rect">
            <a:avLst/>
          </a:prstGeom>
          <a:solidFill xmlns:a="http://schemas.openxmlformats.org/drawingml/2006/main">
            <a:srgbClr val="D8D0C6"/>
          </a:solidFill>
        </p:spPr>
      </p:sp>
      <p:sp>
        <p:nvSpPr>
          <p:cNvPr id="9" name="p10-action-num-1">
            <a:extLst xmlns:a="http://schemas.openxmlformats.org/drawingml/2006/main">
              <a:ext uri="{FF2B5EF4-FFF2-40B4-BE49-F238E27FC236}">
                <a16:creationId xmlns:a16="http://schemas.microsoft.com/office/drawing/2014/main" id="{FAAE5103-EE82-46E8-AF16-F874B0F3E19A}"/>
              </a:ext>
            </a:extLst>
          </p:cNvPr>
          <p:cNvSpPr>
            <a:spLocks xmlns:a="http://schemas.openxmlformats.org/drawingml/2006/main" noGrp="1"/>
          </p:cNvSpPr>
          <p:nvPr/>
        </p:nvSpPr>
        <p:spPr>
          <a:xfrm xmlns:a="http://schemas.openxmlformats.org/drawingml/2006/main">
            <a:off x="4419600" y="2114550"/>
            <a:ext cx="7772400" cy="4743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C56B4D"/>
                </a:solidFill>
                <a:latin typeface="Noto Serif SC"/>
                <a:ea typeface="Noto Serif SC"/>
                <a:cs typeface="Noto Serif SC"/>
              </a:defRPr>
            </a:pPr>
            <a:r>
              <a:t>02</a:t>
            </a:r>
          </a:p>
        </p:txBody>
      </p:sp>
      <p:sp>
        <p:nvSpPr>
          <p:cNvPr id="10" name="p10-action-title-1">
            <a:extLst xmlns:a="http://schemas.openxmlformats.org/drawingml/2006/main">
              <a:ext uri="{FF2B5EF4-FFF2-40B4-BE49-F238E27FC236}">
                <a16:creationId xmlns:a16="http://schemas.microsoft.com/office/drawing/2014/main" id="{3C0214DA-A5F5-44A8-BA57-F7A0548DAE63}"/>
              </a:ext>
            </a:extLst>
          </p:cNvPr>
          <p:cNvSpPr>
            <a:spLocks xmlns:a="http://schemas.openxmlformats.org/drawingml/2006/main" noGrp="1"/>
          </p:cNvSpPr>
          <p:nvPr/>
        </p:nvSpPr>
        <p:spPr>
          <a:xfrm xmlns:a="http://schemas.openxmlformats.org/drawingml/2006/main">
            <a:off x="4419600" y="2667000"/>
            <a:ext cx="7772400" cy="419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建立共同验证资产</a:t>
            </a:r>
          </a:p>
        </p:txBody>
      </p:sp>
      <p:sp>
        <p:nvSpPr>
          <p:cNvPr id="11" name="p10-action-body-1">
            <a:extLst xmlns:a="http://schemas.openxmlformats.org/drawingml/2006/main">
              <a:ext uri="{FF2B5EF4-FFF2-40B4-BE49-F238E27FC236}">
                <a16:creationId xmlns:a16="http://schemas.microsoft.com/office/drawing/2014/main" id="{DE188452-09A4-42B8-85FB-00F4AE4B083F}"/>
              </a:ext>
            </a:extLst>
          </p:cNvPr>
          <p:cNvSpPr>
            <a:spLocks xmlns:a="http://schemas.openxmlformats.org/drawingml/2006/main" noGrp="1"/>
          </p:cNvSpPr>
          <p:nvPr/>
        </p:nvSpPr>
        <p:spPr>
          <a:xfrm xmlns:a="http://schemas.openxmlformats.org/drawingml/2006/main">
            <a:off x="4419600" y="3143250"/>
            <a:ext cx="77724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固化动作忠实度、持久状态、
几何/碰撞、失败率、延迟和
总体拥有成本的验证协议；
保留负面结果。</a:t>
            </a:r>
          </a:p>
        </p:txBody>
      </p:sp>
      <p:sp>
        <p:nvSpPr>
          <p:cNvPr id="12" name="p10-action-v-1">
            <a:extLst xmlns:a="http://schemas.openxmlformats.org/drawingml/2006/main">
              <a:ext uri="{FF2B5EF4-FFF2-40B4-BE49-F238E27FC236}">
                <a16:creationId xmlns:a16="http://schemas.microsoft.com/office/drawing/2014/main" id="{6514EBF5-2F4B-4098-9D86-0A5A33E54912}"/>
              </a:ext>
            </a:extLst>
          </p:cNvPr>
          <p:cNvSpPr>
            <a:spLocks xmlns:a="http://schemas.openxmlformats.org/drawingml/2006/main" noGrp="1"/>
          </p:cNvSpPr>
          <p:nvPr/>
        </p:nvSpPr>
        <p:spPr>
          <a:xfrm xmlns:a="http://schemas.openxmlformats.org/drawingml/2006/main">
            <a:off x="7696200" y="2114550"/>
            <a:ext cx="9525" cy="1809750"/>
          </a:xfrm>
          <a:prstGeom xmlns:a="http://schemas.openxmlformats.org/drawingml/2006/main" prst="rect">
            <a:avLst/>
          </a:prstGeom>
          <a:solidFill xmlns:a="http://schemas.openxmlformats.org/drawingml/2006/main">
            <a:srgbClr val="D8D0C6"/>
          </a:solidFill>
        </p:spPr>
      </p:sp>
      <p:sp>
        <p:nvSpPr>
          <p:cNvPr id="13" name="p10-action-num-2">
            <a:extLst xmlns:a="http://schemas.openxmlformats.org/drawingml/2006/main">
              <a:ext uri="{FF2B5EF4-FFF2-40B4-BE49-F238E27FC236}">
                <a16:creationId xmlns:a16="http://schemas.microsoft.com/office/drawing/2014/main" id="{DEB920CC-F4ED-49EF-85AB-24A64502CB7F}"/>
              </a:ext>
            </a:extLst>
          </p:cNvPr>
          <p:cNvSpPr>
            <a:spLocks xmlns:a="http://schemas.openxmlformats.org/drawingml/2006/main" noGrp="1"/>
          </p:cNvSpPr>
          <p:nvPr/>
        </p:nvSpPr>
        <p:spPr>
          <a:xfrm xmlns:a="http://schemas.openxmlformats.org/drawingml/2006/main">
            <a:off x="8001000" y="2114550"/>
            <a:ext cx="4191000" cy="47434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C56B4D"/>
                </a:solidFill>
                <a:latin typeface="Noto Serif SC"/>
                <a:ea typeface="Noto Serif SC"/>
                <a:cs typeface="Noto Serif SC"/>
              </a:defRPr>
            </a:pPr>
            <a:r>
              <a:t>03</a:t>
            </a:r>
          </a:p>
        </p:txBody>
      </p:sp>
      <p:sp>
        <p:nvSpPr>
          <p:cNvPr id="14" name="p10-action-title-2">
            <a:extLst xmlns:a="http://schemas.openxmlformats.org/drawingml/2006/main">
              <a:ext uri="{FF2B5EF4-FFF2-40B4-BE49-F238E27FC236}">
                <a16:creationId xmlns:a16="http://schemas.microsoft.com/office/drawing/2014/main" id="{472D75B4-518E-4934-AD18-C21302B51D0C}"/>
              </a:ext>
            </a:extLst>
          </p:cNvPr>
          <p:cNvSpPr>
            <a:spLocks xmlns:a="http://schemas.openxmlformats.org/drawingml/2006/main" noGrp="1"/>
          </p:cNvSpPr>
          <p:nvPr/>
        </p:nvSpPr>
        <p:spPr>
          <a:xfrm xmlns:a="http://schemas.openxmlformats.org/drawingml/2006/main">
            <a:off x="8001000" y="2667000"/>
            <a:ext cx="4191000" cy="4191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i="0">
                <a:solidFill>
                  <a:srgbClr val="24211E"/>
                </a:solidFill>
                <a:latin typeface="Noto Sans SC"/>
                <a:ea typeface="Noto Sans SC"/>
                <a:cs typeface="Noto Sans SC"/>
              </a:defRPr>
            </a:pPr>
            <a:r>
              <a:t>锁定关键权利边界</a:t>
            </a:r>
          </a:p>
        </p:txBody>
      </p:sp>
      <p:sp>
        <p:nvSpPr>
          <p:cNvPr id="15" name="p10-action-body-2">
            <a:extLst xmlns:a="http://schemas.openxmlformats.org/drawingml/2006/main">
              <a:ext uri="{FF2B5EF4-FFF2-40B4-BE49-F238E27FC236}">
                <a16:creationId xmlns:a16="http://schemas.microsoft.com/office/drawing/2014/main" id="{D6B3E8F0-9F46-46D5-A8B9-1B25EFB5EB3E}"/>
              </a:ext>
            </a:extLst>
          </p:cNvPr>
          <p:cNvSpPr>
            <a:spLocks xmlns:a="http://schemas.openxmlformats.org/drawingml/2006/main" noGrp="1"/>
          </p:cNvSpPr>
          <p:nvPr/>
        </p:nvSpPr>
        <p:spPr>
          <a:xfrm xmlns:a="http://schemas.openxmlformats.org/drawingml/2006/main">
            <a:off x="8001000" y="3143250"/>
            <a:ext cx="4191000" cy="37147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在合同中明确输入/输出数据权、
模型改进权、部署范围和
再分发规则。</a:t>
            </a:r>
          </a:p>
        </p:txBody>
      </p:sp>
      <p:sp>
        <p:nvSpPr>
          <p:cNvPr id="16" name="p10-trigger-kicker">
            <a:extLst xmlns:a="http://schemas.openxmlformats.org/drawingml/2006/main">
              <a:ext uri="{FF2B5EF4-FFF2-40B4-BE49-F238E27FC236}">
                <a16:creationId xmlns:a16="http://schemas.microsoft.com/office/drawing/2014/main" id="{13B9CFE8-4F57-4546-B360-59C82D72499A}"/>
              </a:ext>
            </a:extLst>
          </p:cNvPr>
          <p:cNvSpPr>
            <a:spLocks xmlns:a="http://schemas.openxmlformats.org/drawingml/2006/main" noGrp="1"/>
          </p:cNvSpPr>
          <p:nvPr/>
        </p:nvSpPr>
        <p:spPr>
          <a:xfrm xmlns:a="http://schemas.openxmlformats.org/drawingml/2006/main">
            <a:off x="609600" y="4267200"/>
            <a:ext cx="11582400" cy="25908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000" b="1" i="0">
                <a:solidFill>
                  <a:srgbClr val="6E6861"/>
                </a:solidFill>
                <a:latin typeface="Noto Sans SC"/>
                <a:ea typeface="Noto Sans SC"/>
                <a:cs typeface="Noto Sans SC"/>
              </a:defRPr>
            </a:pPr>
            <a:r>
              <a:t>未来出现什么证据时重审</a:t>
            </a:r>
          </a:p>
        </p:txBody>
      </p:sp>
      <p:sp>
        <p:nvSpPr>
          <p:cNvPr id="17" name="p10-trigger-heading-rule">
            <a:extLst xmlns:a="http://schemas.openxmlformats.org/drawingml/2006/main">
              <a:ext uri="{FF2B5EF4-FFF2-40B4-BE49-F238E27FC236}">
                <a16:creationId xmlns:a16="http://schemas.microsoft.com/office/drawing/2014/main" id="{04860FF2-BA0B-46B6-825E-56E5BECB7E1C}"/>
              </a:ext>
            </a:extLst>
          </p:cNvPr>
          <p:cNvSpPr>
            <a:spLocks xmlns:a="http://schemas.openxmlformats.org/drawingml/2006/main" noGrp="1"/>
          </p:cNvSpPr>
          <p:nvPr/>
        </p:nvSpPr>
        <p:spPr>
          <a:xfrm xmlns:a="http://schemas.openxmlformats.org/drawingml/2006/main">
            <a:off x="3390900" y="4410075"/>
            <a:ext cx="8191500" cy="9525"/>
          </a:xfrm>
          <a:prstGeom xmlns:a="http://schemas.openxmlformats.org/drawingml/2006/main" prst="rect">
            <a:avLst/>
          </a:prstGeom>
          <a:solidFill xmlns:a="http://schemas.openxmlformats.org/drawingml/2006/main">
            <a:srgbClr val="BDB4AA"/>
          </a:solidFill>
        </p:spPr>
      </p:sp>
      <p:sp>
        <p:nvSpPr>
          <p:cNvPr id="18" name="p10-triggers-bg">
            <a:extLst xmlns:a="http://schemas.openxmlformats.org/drawingml/2006/main">
              <a:ext uri="{FF2B5EF4-FFF2-40B4-BE49-F238E27FC236}">
                <a16:creationId xmlns:a16="http://schemas.microsoft.com/office/drawing/2014/main" id="{C5A618C6-C355-4CDF-826F-5107F6C649FE}"/>
              </a:ext>
            </a:extLst>
          </p:cNvPr>
          <p:cNvSpPr>
            <a:spLocks xmlns:a="http://schemas.openxmlformats.org/drawingml/2006/main" noGrp="1"/>
          </p:cNvSpPr>
          <p:nvPr/>
        </p:nvSpPr>
        <p:spPr>
          <a:xfrm xmlns:a="http://schemas.openxmlformats.org/drawingml/2006/main">
            <a:off x="609600" y="4629150"/>
            <a:ext cx="10972800" cy="1562100"/>
          </a:xfrm>
          <a:prstGeom xmlns:a="http://schemas.openxmlformats.org/drawingml/2006/main" prst="rect">
            <a:avLst/>
          </a:prstGeom>
          <a:solidFill xmlns:a="http://schemas.openxmlformats.org/drawingml/2006/main">
            <a:srgbClr val="EEEAE4"/>
          </a:solidFill>
        </p:spPr>
      </p:sp>
      <p:sp>
        <p:nvSpPr>
          <p:cNvPr id="19" name="p10-trigger-mark-0">
            <a:extLst xmlns:a="http://schemas.openxmlformats.org/drawingml/2006/main">
              <a:ext uri="{FF2B5EF4-FFF2-40B4-BE49-F238E27FC236}">
                <a16:creationId xmlns:a16="http://schemas.microsoft.com/office/drawing/2014/main" id="{AF73FAB0-4708-4F14-BDED-770674716051}"/>
              </a:ext>
            </a:extLst>
          </p:cNvPr>
          <p:cNvSpPr>
            <a:spLocks xmlns:a="http://schemas.openxmlformats.org/drawingml/2006/main" noGrp="1"/>
          </p:cNvSpPr>
          <p:nvPr/>
        </p:nvSpPr>
        <p:spPr>
          <a:xfrm xmlns:a="http://schemas.openxmlformats.org/drawingml/2006/main">
            <a:off x="762000" y="4781550"/>
            <a:ext cx="266700" cy="28575"/>
          </a:xfrm>
          <a:prstGeom xmlns:a="http://schemas.openxmlformats.org/drawingml/2006/main" prst="rect">
            <a:avLst/>
          </a:prstGeom>
          <a:solidFill xmlns:a="http://schemas.openxmlformats.org/drawingml/2006/main">
            <a:srgbClr val="75867A"/>
          </a:solidFill>
        </p:spPr>
      </p:sp>
      <p:sp>
        <p:nvSpPr>
          <p:cNvPr id="20" name="p10-trigger-title-0">
            <a:extLst xmlns:a="http://schemas.openxmlformats.org/drawingml/2006/main">
              <a:ext uri="{FF2B5EF4-FFF2-40B4-BE49-F238E27FC236}">
                <a16:creationId xmlns:a16="http://schemas.microsoft.com/office/drawing/2014/main" id="{B9ACDC8A-785D-4DFB-B825-22F56A60490F}"/>
              </a:ext>
            </a:extLst>
          </p:cNvPr>
          <p:cNvSpPr>
            <a:spLocks xmlns:a="http://schemas.openxmlformats.org/drawingml/2006/main" noGrp="1"/>
          </p:cNvSpPr>
          <p:nvPr/>
        </p:nvSpPr>
        <p:spPr>
          <a:xfrm xmlns:a="http://schemas.openxmlformats.org/drawingml/2006/main">
            <a:off x="762000" y="4914900"/>
            <a:ext cx="11430000" cy="1943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稳定接口</a:t>
            </a:r>
          </a:p>
        </p:txBody>
      </p:sp>
      <p:sp>
        <p:nvSpPr>
          <p:cNvPr id="21" name="p10-trigger-event-0">
            <a:extLst xmlns:a="http://schemas.openxmlformats.org/drawingml/2006/main">
              <a:ext uri="{FF2B5EF4-FFF2-40B4-BE49-F238E27FC236}">
                <a16:creationId xmlns:a16="http://schemas.microsoft.com/office/drawing/2014/main" id="{716807FD-B1CD-4001-8F8F-0CCD7175A549}"/>
              </a:ext>
            </a:extLst>
          </p:cNvPr>
          <p:cNvSpPr>
            <a:spLocks xmlns:a="http://schemas.openxmlformats.org/drawingml/2006/main" noGrp="1"/>
          </p:cNvSpPr>
          <p:nvPr/>
        </p:nvSpPr>
        <p:spPr>
          <a:xfrm xmlns:a="http://schemas.openxmlformats.org/drawingml/2006/main">
            <a:off x="762000" y="5238750"/>
            <a:ext cx="11430000" cy="1619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持续调用；
价格与服务等级公开</a:t>
            </a:r>
          </a:p>
        </p:txBody>
      </p:sp>
      <p:sp>
        <p:nvSpPr>
          <p:cNvPr id="22" name="p10-trigger-use-0">
            <a:extLst xmlns:a="http://schemas.openxmlformats.org/drawingml/2006/main">
              <a:ext uri="{FF2B5EF4-FFF2-40B4-BE49-F238E27FC236}">
                <a16:creationId xmlns:a16="http://schemas.microsoft.com/office/drawing/2014/main" id="{2BD91865-DEEA-4AAE-8EA7-448C1B8170A6}"/>
              </a:ext>
            </a:extLst>
          </p:cNvPr>
          <p:cNvSpPr>
            <a:spLocks xmlns:a="http://schemas.openxmlformats.org/drawingml/2006/main" noGrp="1"/>
          </p:cNvSpPr>
          <p:nvPr/>
        </p:nvSpPr>
        <p:spPr>
          <a:xfrm xmlns:a="http://schemas.openxmlformats.org/drawingml/2006/main">
            <a:off x="762000" y="5772150"/>
            <a:ext cx="11430000" cy="1085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重审产品 / 平台
替代关系</a:t>
            </a:r>
          </a:p>
        </p:txBody>
      </p:sp>
      <p:sp>
        <p:nvSpPr>
          <p:cNvPr id="23" name="p10-trigger-v-0">
            <a:extLst xmlns:a="http://schemas.openxmlformats.org/drawingml/2006/main">
              <a:ext uri="{FF2B5EF4-FFF2-40B4-BE49-F238E27FC236}">
                <a16:creationId xmlns:a16="http://schemas.microsoft.com/office/drawing/2014/main" id="{DF802178-7BB4-4D61-9DFB-A540EA5F7687}"/>
              </a:ext>
            </a:extLst>
          </p:cNvPr>
          <p:cNvSpPr>
            <a:spLocks xmlns:a="http://schemas.openxmlformats.org/drawingml/2006/main" noGrp="1"/>
          </p:cNvSpPr>
          <p:nvPr/>
        </p:nvSpPr>
        <p:spPr>
          <a:xfrm xmlns:a="http://schemas.openxmlformats.org/drawingml/2006/main">
            <a:off x="2758440" y="4781550"/>
            <a:ext cx="9525" cy="1257300"/>
          </a:xfrm>
          <a:prstGeom xmlns:a="http://schemas.openxmlformats.org/drawingml/2006/main" prst="rect">
            <a:avLst/>
          </a:prstGeom>
          <a:solidFill xmlns:a="http://schemas.openxmlformats.org/drawingml/2006/main">
            <a:srgbClr val="D8D0C6"/>
          </a:solidFill>
        </p:spPr>
      </p:sp>
      <p:sp>
        <p:nvSpPr>
          <p:cNvPr id="24" name="p10-trigger-mark-1">
            <a:extLst xmlns:a="http://schemas.openxmlformats.org/drawingml/2006/main">
              <a:ext uri="{FF2B5EF4-FFF2-40B4-BE49-F238E27FC236}">
                <a16:creationId xmlns:a16="http://schemas.microsoft.com/office/drawing/2014/main" id="{96748628-53EE-476D-8B45-86EA238C2ED5}"/>
              </a:ext>
            </a:extLst>
          </p:cNvPr>
          <p:cNvSpPr>
            <a:spLocks xmlns:a="http://schemas.openxmlformats.org/drawingml/2006/main" noGrp="1"/>
          </p:cNvSpPr>
          <p:nvPr/>
        </p:nvSpPr>
        <p:spPr>
          <a:xfrm xmlns:a="http://schemas.openxmlformats.org/drawingml/2006/main">
            <a:off x="2987040" y="4781550"/>
            <a:ext cx="266700" cy="28575"/>
          </a:xfrm>
          <a:prstGeom xmlns:a="http://schemas.openxmlformats.org/drawingml/2006/main" prst="rect">
            <a:avLst/>
          </a:prstGeom>
          <a:solidFill xmlns:a="http://schemas.openxmlformats.org/drawingml/2006/main">
            <a:srgbClr val="75867A"/>
          </a:solidFill>
        </p:spPr>
      </p:sp>
      <p:sp>
        <p:nvSpPr>
          <p:cNvPr id="25" name="p10-trigger-title-1">
            <a:extLst xmlns:a="http://schemas.openxmlformats.org/drawingml/2006/main">
              <a:ext uri="{FF2B5EF4-FFF2-40B4-BE49-F238E27FC236}">
                <a16:creationId xmlns:a16="http://schemas.microsoft.com/office/drawing/2014/main" id="{46F2D87E-FAF2-4E6E-A810-8A5730F524B7}"/>
              </a:ext>
            </a:extLst>
          </p:cNvPr>
          <p:cNvSpPr>
            <a:spLocks xmlns:a="http://schemas.openxmlformats.org/drawingml/2006/main" noGrp="1"/>
          </p:cNvSpPr>
          <p:nvPr/>
        </p:nvSpPr>
        <p:spPr>
          <a:xfrm xmlns:a="http://schemas.openxmlformats.org/drawingml/2006/main">
            <a:off x="2987040" y="4914900"/>
            <a:ext cx="9204960" cy="1943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独立复现</a:t>
            </a:r>
          </a:p>
        </p:txBody>
      </p:sp>
      <p:sp>
        <p:nvSpPr>
          <p:cNvPr id="26" name="p10-trigger-event-1">
            <a:extLst xmlns:a="http://schemas.openxmlformats.org/drawingml/2006/main">
              <a:ext uri="{FF2B5EF4-FFF2-40B4-BE49-F238E27FC236}">
                <a16:creationId xmlns:a16="http://schemas.microsoft.com/office/drawing/2014/main" id="{49C6DF81-AAF9-45CA-9A07-B204968D64ED}"/>
              </a:ext>
            </a:extLst>
          </p:cNvPr>
          <p:cNvSpPr>
            <a:spLocks xmlns:a="http://schemas.openxmlformats.org/drawingml/2006/main" noGrp="1"/>
          </p:cNvSpPr>
          <p:nvPr/>
        </p:nvSpPr>
        <p:spPr>
          <a:xfrm xmlns:a="http://schemas.openxmlformats.org/drawingml/2006/main">
            <a:off x="2987040" y="5238750"/>
            <a:ext cx="9204960" cy="1619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同一或可比协议下
复现关键结果</a:t>
            </a:r>
          </a:p>
        </p:txBody>
      </p:sp>
      <p:sp>
        <p:nvSpPr>
          <p:cNvPr id="27" name="p10-trigger-use-1">
            <a:extLst xmlns:a="http://schemas.openxmlformats.org/drawingml/2006/main">
              <a:ext uri="{FF2B5EF4-FFF2-40B4-BE49-F238E27FC236}">
                <a16:creationId xmlns:a16="http://schemas.microsoft.com/office/drawing/2014/main" id="{4870BE35-4B3D-4D8F-853E-BC5E2CB36AC9}"/>
              </a:ext>
            </a:extLst>
          </p:cNvPr>
          <p:cNvSpPr>
            <a:spLocks xmlns:a="http://schemas.openxmlformats.org/drawingml/2006/main" noGrp="1"/>
          </p:cNvSpPr>
          <p:nvPr/>
        </p:nvSpPr>
        <p:spPr>
          <a:xfrm xmlns:a="http://schemas.openxmlformats.org/drawingml/2006/main">
            <a:off x="2987040" y="5772150"/>
            <a:ext cx="9204960" cy="1085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重审技术证据
成熟度</a:t>
            </a:r>
          </a:p>
        </p:txBody>
      </p:sp>
      <p:sp>
        <p:nvSpPr>
          <p:cNvPr id="28" name="p10-trigger-v-1">
            <a:extLst xmlns:a="http://schemas.openxmlformats.org/drawingml/2006/main">
              <a:ext uri="{FF2B5EF4-FFF2-40B4-BE49-F238E27FC236}">
                <a16:creationId xmlns:a16="http://schemas.microsoft.com/office/drawing/2014/main" id="{13E2DEC1-A750-41B3-AFF1-93E1148EA01B}"/>
              </a:ext>
            </a:extLst>
          </p:cNvPr>
          <p:cNvSpPr>
            <a:spLocks xmlns:a="http://schemas.openxmlformats.org/drawingml/2006/main" noGrp="1"/>
          </p:cNvSpPr>
          <p:nvPr/>
        </p:nvSpPr>
        <p:spPr>
          <a:xfrm xmlns:a="http://schemas.openxmlformats.org/drawingml/2006/main">
            <a:off x="4983480" y="4781550"/>
            <a:ext cx="9525" cy="1257300"/>
          </a:xfrm>
          <a:prstGeom xmlns:a="http://schemas.openxmlformats.org/drawingml/2006/main" prst="rect">
            <a:avLst/>
          </a:prstGeom>
          <a:solidFill xmlns:a="http://schemas.openxmlformats.org/drawingml/2006/main">
            <a:srgbClr val="D8D0C6"/>
          </a:solidFill>
        </p:spPr>
      </p:sp>
      <p:sp>
        <p:nvSpPr>
          <p:cNvPr id="29" name="p10-trigger-mark-2">
            <a:extLst xmlns:a="http://schemas.openxmlformats.org/drawingml/2006/main">
              <a:ext uri="{FF2B5EF4-FFF2-40B4-BE49-F238E27FC236}">
                <a16:creationId xmlns:a16="http://schemas.microsoft.com/office/drawing/2014/main" id="{AD9A9A14-CF84-4D8D-9A74-EED65A56FE16}"/>
              </a:ext>
            </a:extLst>
          </p:cNvPr>
          <p:cNvSpPr>
            <a:spLocks xmlns:a="http://schemas.openxmlformats.org/drawingml/2006/main" noGrp="1"/>
          </p:cNvSpPr>
          <p:nvPr/>
        </p:nvSpPr>
        <p:spPr>
          <a:xfrm xmlns:a="http://schemas.openxmlformats.org/drawingml/2006/main">
            <a:off x="5212080" y="4781550"/>
            <a:ext cx="266700" cy="28575"/>
          </a:xfrm>
          <a:prstGeom xmlns:a="http://schemas.openxmlformats.org/drawingml/2006/main" prst="rect">
            <a:avLst/>
          </a:prstGeom>
          <a:solidFill xmlns:a="http://schemas.openxmlformats.org/drawingml/2006/main">
            <a:srgbClr val="C56B4D"/>
          </a:solidFill>
        </p:spPr>
      </p:sp>
      <p:sp>
        <p:nvSpPr>
          <p:cNvPr id="30" name="p10-trigger-title-2">
            <a:extLst xmlns:a="http://schemas.openxmlformats.org/drawingml/2006/main">
              <a:ext uri="{FF2B5EF4-FFF2-40B4-BE49-F238E27FC236}">
                <a16:creationId xmlns:a16="http://schemas.microsoft.com/office/drawing/2014/main" id="{84B3060E-C072-415B-986A-3AB769084634}"/>
              </a:ext>
            </a:extLst>
          </p:cNvPr>
          <p:cNvSpPr>
            <a:spLocks xmlns:a="http://schemas.openxmlformats.org/drawingml/2006/main" noGrp="1"/>
          </p:cNvSpPr>
          <p:nvPr/>
        </p:nvSpPr>
        <p:spPr>
          <a:xfrm xmlns:a="http://schemas.openxmlformats.org/drawingml/2006/main">
            <a:off x="5212080" y="4914900"/>
            <a:ext cx="6979920" cy="1943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正式商用闭合</a:t>
            </a:r>
          </a:p>
        </p:txBody>
      </p:sp>
      <p:sp>
        <p:nvSpPr>
          <p:cNvPr id="31" name="p10-trigger-event-2">
            <a:extLst xmlns:a="http://schemas.openxmlformats.org/drawingml/2006/main">
              <a:ext uri="{FF2B5EF4-FFF2-40B4-BE49-F238E27FC236}">
                <a16:creationId xmlns:a16="http://schemas.microsoft.com/office/drawing/2014/main" id="{F4ABE187-6797-42AE-B4D9-0206AE049384}"/>
              </a:ext>
            </a:extLst>
          </p:cNvPr>
          <p:cNvSpPr>
            <a:spLocks xmlns:a="http://schemas.openxmlformats.org/drawingml/2006/main" noGrp="1"/>
          </p:cNvSpPr>
          <p:nvPr/>
        </p:nvSpPr>
        <p:spPr>
          <a:xfrm xmlns:a="http://schemas.openxmlformats.org/drawingml/2006/main">
            <a:off x="5212080" y="5238750"/>
            <a:ext cx="6979920" cy="1619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许可、服务等级和
责任边界闭合</a:t>
            </a:r>
          </a:p>
        </p:txBody>
      </p:sp>
      <p:sp>
        <p:nvSpPr>
          <p:cNvPr id="32" name="p10-trigger-use-2">
            <a:extLst xmlns:a="http://schemas.openxmlformats.org/drawingml/2006/main">
              <a:ext uri="{FF2B5EF4-FFF2-40B4-BE49-F238E27FC236}">
                <a16:creationId xmlns:a16="http://schemas.microsoft.com/office/drawing/2014/main" id="{3C32B442-0425-4741-9AFD-B86281140AC8}"/>
              </a:ext>
            </a:extLst>
          </p:cNvPr>
          <p:cNvSpPr>
            <a:spLocks xmlns:a="http://schemas.openxmlformats.org/drawingml/2006/main" noGrp="1"/>
          </p:cNvSpPr>
          <p:nvPr/>
        </p:nvSpPr>
        <p:spPr>
          <a:xfrm xmlns:a="http://schemas.openxmlformats.org/drawingml/2006/main">
            <a:off x="5212080" y="5772150"/>
            <a:ext cx="6979920" cy="1085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重审采购与
部署可行性</a:t>
            </a:r>
          </a:p>
        </p:txBody>
      </p:sp>
      <p:sp>
        <p:nvSpPr>
          <p:cNvPr id="33" name="p10-trigger-v-2">
            <a:extLst xmlns:a="http://schemas.openxmlformats.org/drawingml/2006/main">
              <a:ext uri="{FF2B5EF4-FFF2-40B4-BE49-F238E27FC236}">
                <a16:creationId xmlns:a16="http://schemas.microsoft.com/office/drawing/2014/main" id="{DD54E8F7-68B2-4F88-BD39-4F70209EAE45}"/>
              </a:ext>
            </a:extLst>
          </p:cNvPr>
          <p:cNvSpPr>
            <a:spLocks xmlns:a="http://schemas.openxmlformats.org/drawingml/2006/main" noGrp="1"/>
          </p:cNvSpPr>
          <p:nvPr/>
        </p:nvSpPr>
        <p:spPr>
          <a:xfrm xmlns:a="http://schemas.openxmlformats.org/drawingml/2006/main">
            <a:off x="7208520" y="4781550"/>
            <a:ext cx="9525" cy="1257300"/>
          </a:xfrm>
          <a:prstGeom xmlns:a="http://schemas.openxmlformats.org/drawingml/2006/main" prst="rect">
            <a:avLst/>
          </a:prstGeom>
          <a:solidFill xmlns:a="http://schemas.openxmlformats.org/drawingml/2006/main">
            <a:srgbClr val="D8D0C6"/>
          </a:solidFill>
        </p:spPr>
      </p:sp>
      <p:sp>
        <p:nvSpPr>
          <p:cNvPr id="34" name="p10-trigger-mark-3">
            <a:extLst xmlns:a="http://schemas.openxmlformats.org/drawingml/2006/main">
              <a:ext uri="{FF2B5EF4-FFF2-40B4-BE49-F238E27FC236}">
                <a16:creationId xmlns:a16="http://schemas.microsoft.com/office/drawing/2014/main" id="{63F31D9F-0F68-4F65-A912-D5B1AEF9FAB5}"/>
              </a:ext>
            </a:extLst>
          </p:cNvPr>
          <p:cNvSpPr>
            <a:spLocks xmlns:a="http://schemas.openxmlformats.org/drawingml/2006/main" noGrp="1"/>
          </p:cNvSpPr>
          <p:nvPr/>
        </p:nvSpPr>
        <p:spPr>
          <a:xfrm xmlns:a="http://schemas.openxmlformats.org/drawingml/2006/main">
            <a:off x="7437120" y="4781550"/>
            <a:ext cx="266700" cy="28575"/>
          </a:xfrm>
          <a:prstGeom xmlns:a="http://schemas.openxmlformats.org/drawingml/2006/main" prst="rect">
            <a:avLst/>
          </a:prstGeom>
          <a:solidFill xmlns:a="http://schemas.openxmlformats.org/drawingml/2006/main">
            <a:srgbClr val="C56B4D"/>
          </a:solidFill>
        </p:spPr>
      </p:sp>
      <p:sp>
        <p:nvSpPr>
          <p:cNvPr id="35" name="p10-trigger-title-3">
            <a:extLst xmlns:a="http://schemas.openxmlformats.org/drawingml/2006/main">
              <a:ext uri="{FF2B5EF4-FFF2-40B4-BE49-F238E27FC236}">
                <a16:creationId xmlns:a16="http://schemas.microsoft.com/office/drawing/2014/main" id="{2C1618EC-2E32-4F5A-AC1C-478DADAC404F}"/>
              </a:ext>
            </a:extLst>
          </p:cNvPr>
          <p:cNvSpPr>
            <a:spLocks xmlns:a="http://schemas.openxmlformats.org/drawingml/2006/main" noGrp="1"/>
          </p:cNvSpPr>
          <p:nvPr/>
        </p:nvSpPr>
        <p:spPr>
          <a:xfrm xmlns:a="http://schemas.openxmlformats.org/drawingml/2006/main">
            <a:off x="7437120" y="4914900"/>
            <a:ext cx="4754880" cy="1943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客户第一方采用</a:t>
            </a:r>
          </a:p>
        </p:txBody>
      </p:sp>
      <p:sp>
        <p:nvSpPr>
          <p:cNvPr id="36" name="p10-trigger-event-3">
            <a:extLst xmlns:a="http://schemas.openxmlformats.org/drawingml/2006/main">
              <a:ext uri="{FF2B5EF4-FFF2-40B4-BE49-F238E27FC236}">
                <a16:creationId xmlns:a16="http://schemas.microsoft.com/office/drawing/2014/main" id="{6BE55615-5562-4B7E-B7B9-15617C5AEC96}"/>
              </a:ext>
            </a:extLst>
          </p:cNvPr>
          <p:cNvSpPr>
            <a:spLocks xmlns:a="http://schemas.openxmlformats.org/drawingml/2006/main" noGrp="1"/>
          </p:cNvSpPr>
          <p:nvPr/>
        </p:nvSpPr>
        <p:spPr>
          <a:xfrm xmlns:a="http://schemas.openxmlformats.org/drawingml/2006/main">
            <a:off x="7437120" y="5238750"/>
            <a:ext cx="4754880" cy="1619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具名客户确认
付费生产部署或续约</a:t>
            </a:r>
          </a:p>
        </p:txBody>
      </p:sp>
      <p:sp>
        <p:nvSpPr>
          <p:cNvPr id="37" name="p10-trigger-use-3">
            <a:extLst xmlns:a="http://schemas.openxmlformats.org/drawingml/2006/main">
              <a:ext uri="{FF2B5EF4-FFF2-40B4-BE49-F238E27FC236}">
                <a16:creationId xmlns:a16="http://schemas.microsoft.com/office/drawing/2014/main" id="{13F4FECD-2159-48EE-8AF0-5B002F469522}"/>
              </a:ext>
            </a:extLst>
          </p:cNvPr>
          <p:cNvSpPr>
            <a:spLocks xmlns:a="http://schemas.openxmlformats.org/drawingml/2006/main" noGrp="1"/>
          </p:cNvSpPr>
          <p:nvPr/>
        </p:nvSpPr>
        <p:spPr>
          <a:xfrm xmlns:a="http://schemas.openxmlformats.org/drawingml/2006/main">
            <a:off x="7437120" y="5772150"/>
            <a:ext cx="4754880" cy="1085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重审商业采用
与竞争关系</a:t>
            </a:r>
          </a:p>
        </p:txBody>
      </p:sp>
      <p:sp>
        <p:nvSpPr>
          <p:cNvPr id="38" name="p10-trigger-v-3">
            <a:extLst xmlns:a="http://schemas.openxmlformats.org/drawingml/2006/main">
              <a:ext uri="{FF2B5EF4-FFF2-40B4-BE49-F238E27FC236}">
                <a16:creationId xmlns:a16="http://schemas.microsoft.com/office/drawing/2014/main" id="{1366D19B-754B-4DC0-99A2-2A3C47F2200F}"/>
              </a:ext>
            </a:extLst>
          </p:cNvPr>
          <p:cNvSpPr>
            <a:spLocks xmlns:a="http://schemas.openxmlformats.org/drawingml/2006/main" noGrp="1"/>
          </p:cNvSpPr>
          <p:nvPr/>
        </p:nvSpPr>
        <p:spPr>
          <a:xfrm xmlns:a="http://schemas.openxmlformats.org/drawingml/2006/main">
            <a:off x="9433560" y="4781550"/>
            <a:ext cx="9525" cy="1257300"/>
          </a:xfrm>
          <a:prstGeom xmlns:a="http://schemas.openxmlformats.org/drawingml/2006/main" prst="rect">
            <a:avLst/>
          </a:prstGeom>
          <a:solidFill xmlns:a="http://schemas.openxmlformats.org/drawingml/2006/main">
            <a:srgbClr val="D8D0C6"/>
          </a:solidFill>
        </p:spPr>
      </p:sp>
      <p:sp>
        <p:nvSpPr>
          <p:cNvPr id="39" name="p10-trigger-mark-4">
            <a:extLst xmlns:a="http://schemas.openxmlformats.org/drawingml/2006/main">
              <a:ext uri="{FF2B5EF4-FFF2-40B4-BE49-F238E27FC236}">
                <a16:creationId xmlns:a16="http://schemas.microsoft.com/office/drawing/2014/main" id="{E33F5249-431F-4236-9757-EB45C481B80D}"/>
              </a:ext>
            </a:extLst>
          </p:cNvPr>
          <p:cNvSpPr>
            <a:spLocks xmlns:a="http://schemas.openxmlformats.org/drawingml/2006/main" noGrp="1"/>
          </p:cNvSpPr>
          <p:nvPr/>
        </p:nvSpPr>
        <p:spPr>
          <a:xfrm xmlns:a="http://schemas.openxmlformats.org/drawingml/2006/main">
            <a:off x="9662160" y="4781550"/>
            <a:ext cx="266700" cy="28575"/>
          </a:xfrm>
          <a:prstGeom xmlns:a="http://schemas.openxmlformats.org/drawingml/2006/main" prst="rect">
            <a:avLst/>
          </a:prstGeom>
          <a:solidFill xmlns:a="http://schemas.openxmlformats.org/drawingml/2006/main">
            <a:srgbClr val="766F82"/>
          </a:solidFill>
        </p:spPr>
      </p:sp>
      <p:sp>
        <p:nvSpPr>
          <p:cNvPr id="40" name="p10-trigger-title-4">
            <a:extLst xmlns:a="http://schemas.openxmlformats.org/drawingml/2006/main">
              <a:ext uri="{FF2B5EF4-FFF2-40B4-BE49-F238E27FC236}">
                <a16:creationId xmlns:a16="http://schemas.microsoft.com/office/drawing/2014/main" id="{155066A9-C601-4911-AFD6-60DCDF75738B}"/>
              </a:ext>
            </a:extLst>
          </p:cNvPr>
          <p:cNvSpPr>
            <a:spLocks xmlns:a="http://schemas.openxmlformats.org/drawingml/2006/main" noGrp="1"/>
          </p:cNvSpPr>
          <p:nvPr/>
        </p:nvSpPr>
        <p:spPr>
          <a:xfrm xmlns:a="http://schemas.openxmlformats.org/drawingml/2006/main">
            <a:off x="9662160" y="4914900"/>
            <a:ext cx="2529840" cy="19431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4211E"/>
                </a:solidFill>
                <a:latin typeface="Noto Sans SC"/>
                <a:ea typeface="Noto Sans SC"/>
                <a:cs typeface="Noto Sans SC"/>
              </a:defRPr>
            </a:pPr>
            <a:r>
              <a:t>稳定动作产品</a:t>
            </a:r>
          </a:p>
        </p:txBody>
      </p:sp>
      <p:sp>
        <p:nvSpPr>
          <p:cNvPr id="41" name="p10-trigger-event-4">
            <a:extLst xmlns:a="http://schemas.openxmlformats.org/drawingml/2006/main">
              <a:ext uri="{FF2B5EF4-FFF2-40B4-BE49-F238E27FC236}">
                <a16:creationId xmlns:a16="http://schemas.microsoft.com/office/drawing/2014/main" id="{0FE5D317-923A-4143-9109-19A2B528FF52}"/>
              </a:ext>
            </a:extLst>
          </p:cNvPr>
          <p:cNvSpPr>
            <a:spLocks xmlns:a="http://schemas.openxmlformats.org/drawingml/2006/main" noGrp="1"/>
          </p:cNvSpPr>
          <p:nvPr/>
        </p:nvSpPr>
        <p:spPr>
          <a:xfrm xmlns:a="http://schemas.openxmlformats.org/drawingml/2006/main">
            <a:off x="9662160" y="5238750"/>
            <a:ext cx="2529840" cy="1619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0" i="0">
                <a:solidFill>
                  <a:srgbClr val="24211E"/>
                </a:solidFill>
                <a:latin typeface="Noto Sans SC"/>
                <a:ea typeface="Noto Sans SC"/>
                <a:cs typeface="Noto Sans SC"/>
              </a:defRPr>
            </a:pPr>
            <a:r>
              <a:t>动作运行时 / NIM
正式发布并获验证</a:t>
            </a:r>
          </a:p>
        </p:txBody>
      </p:sp>
      <p:sp>
        <p:nvSpPr>
          <p:cNvPr id="42" name="p10-trigger-use-4">
            <a:extLst xmlns:a="http://schemas.openxmlformats.org/drawingml/2006/main">
              <a:ext uri="{FF2B5EF4-FFF2-40B4-BE49-F238E27FC236}">
                <a16:creationId xmlns:a16="http://schemas.microsoft.com/office/drawing/2014/main" id="{6D4B657E-0E15-4435-97F4-8EF9CDC73290}"/>
              </a:ext>
            </a:extLst>
          </p:cNvPr>
          <p:cNvSpPr>
            <a:spLocks xmlns:a="http://schemas.openxmlformats.org/drawingml/2006/main" noGrp="1"/>
          </p:cNvSpPr>
          <p:nvPr/>
        </p:nvSpPr>
        <p:spPr>
          <a:xfrm xmlns:a="http://schemas.openxmlformats.org/drawingml/2006/main">
            <a:off x="9662160" y="5772150"/>
            <a:ext cx="2529840" cy="10858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600" b="1" i="0">
                <a:solidFill>
                  <a:srgbClr val="6E6861"/>
                </a:solidFill>
                <a:latin typeface="Noto Sans SC"/>
                <a:ea typeface="Noto Sans SC"/>
                <a:cs typeface="Noto Sans SC"/>
              </a:defRPr>
            </a:pPr>
            <a:r>
              <a:t>重审自托管
绕行风险</a:t>
            </a:r>
          </a:p>
        </p:txBody>
      </p:sp>
      <p:sp>
        <p:nvSpPr>
          <p:cNvPr id="43" name="p10-footer-rule">
            <a:extLst xmlns:a="http://schemas.openxmlformats.org/drawingml/2006/main">
              <a:ext uri="{FF2B5EF4-FFF2-40B4-BE49-F238E27FC236}">
                <a16:creationId xmlns:a16="http://schemas.microsoft.com/office/drawing/2014/main" id="{1856E682-39EB-4271-8172-CE5685E5EA8B}"/>
              </a:ext>
            </a:extLst>
          </p:cNvPr>
          <p:cNvSpPr>
            <a:spLocks xmlns:a="http://schemas.openxmlformats.org/drawingml/2006/main" noGrp="1"/>
          </p:cNvSpPr>
          <p:nvPr/>
        </p:nvSpPr>
        <p:spPr>
          <a:xfrm xmlns:a="http://schemas.openxmlformats.org/drawingml/2006/main">
            <a:off x="609600" y="6438900"/>
            <a:ext cx="10972800" cy="9525"/>
          </a:xfrm>
          <a:prstGeom xmlns:a="http://schemas.openxmlformats.org/drawingml/2006/main" prst="rect">
            <a:avLst/>
          </a:prstGeom>
          <a:solidFill xmlns:a="http://schemas.openxmlformats.org/drawingml/2006/main">
            <a:srgbClr val="D8D0C6"/>
          </a:solidFill>
        </p:spPr>
      </p:sp>
      <p:sp>
        <p:nvSpPr>
          <p:cNvPr id="44" name="p10-footer-source">
            <a:extLst xmlns:a="http://schemas.openxmlformats.org/drawingml/2006/main">
              <a:ext uri="{FF2B5EF4-FFF2-40B4-BE49-F238E27FC236}">
                <a16:creationId xmlns:a16="http://schemas.microsoft.com/office/drawing/2014/main" id="{ACF22A0A-40C4-4F93-97FE-427B833B90CA}"/>
              </a:ext>
            </a:extLst>
          </p:cNvPr>
          <p:cNvSpPr>
            <a:spLocks xmlns:a="http://schemas.openxmlformats.org/drawingml/2006/main" noGrp="1"/>
          </p:cNvSpPr>
          <p:nvPr/>
        </p:nvSpPr>
        <p:spPr>
          <a:xfrm xmlns:a="http://schemas.openxmlformats.org/drawingml/2006/main">
            <a:off x="609600" y="6515100"/>
            <a:ext cx="115824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1000" b="0" i="0">
                <a:solidFill>
                  <a:srgbClr val="6E6861"/>
                </a:solidFill>
                <a:latin typeface="Noto Sans SC"/>
                <a:ea typeface="Noto Sans SC"/>
                <a:cs typeface="Noto Sans SC"/>
              </a:defRPr>
            </a:pPr>
            <a:r>
              <a:t>跨页综合：官方条款、开发者和技术资料；公司/伙伴自报及独立体验</a:t>
            </a:r>
          </a:p>
        </p:txBody>
      </p:sp>
      <p:sp>
        <p:nvSpPr>
          <p:cNvPr id="45" name="p10-footer-page">
            <a:extLst xmlns:a="http://schemas.openxmlformats.org/drawingml/2006/main">
              <a:ext uri="{FF2B5EF4-FFF2-40B4-BE49-F238E27FC236}">
                <a16:creationId xmlns:a16="http://schemas.microsoft.com/office/drawing/2014/main" id="{48D71D96-E0A9-491C-B75C-832E8558D3DC}"/>
              </a:ext>
            </a:extLst>
          </p:cNvPr>
          <p:cNvSpPr>
            <a:spLocks xmlns:a="http://schemas.openxmlformats.org/drawingml/2006/main" noGrp="1"/>
          </p:cNvSpPr>
          <p:nvPr/>
        </p:nvSpPr>
        <p:spPr>
          <a:xfrm xmlns:a="http://schemas.openxmlformats.org/drawingml/2006/main">
            <a:off x="9525000" y="6515100"/>
            <a:ext cx="2667000" cy="342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r">
              <a:defRPr sz="1000" b="0" i="0">
                <a:solidFill>
                  <a:srgbClr val="6E6861"/>
                </a:solidFill>
                <a:latin typeface="Noto Sans SC"/>
                <a:ea typeface="Noto Sans SC"/>
                <a:cs typeface="Noto Sans SC"/>
              </a:defRPr>
            </a:pPr>
            <a:r>
              <a:t>截至 2026-07-14  ·  10</a:t>
            </a:r>
          </a:p>
        </p:txBody>
      </p:sp>
    </p:spTree>
    <p:extLst>
      <p:ext uri="{BB962C8B-B14F-4D97-AF65-F5344CB8AC3E}">
        <p14:creationId xmlns:p14="http://schemas.microsoft.com/office/powerpoint/2010/main" val="1077873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2026-07-15T11:38:11.4030000Z</dcterms:created>
  <dcterms:modified xsi:type="dcterms:W3CDTF">2026-07-15T11:38:11.4030000Z</dcterms:modified>
</coreProperties>
</file>