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bba309ae343da" /><Relationship Type="http://schemas.openxmlformats.org/officeDocument/2006/relationships/extended-properties" Target="/docProps/app.xml" Id="R563def5719234cee" /><Relationship Type="http://schemas.openxmlformats.org/officeDocument/2006/relationships/officeDocument" Target="/ppt/presentation.xml" Id="Rc83256ea71d544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0c842cfb1c4a4f"/>
  </p:sldMasterIdLst>
  <p:notesMasterIdLst>
    <p:notesMasterId xmlns:r="http://schemas.openxmlformats.org/officeDocument/2006/relationships" r:id="R48fc242015f6476a"/>
  </p:notesMasterIdLst>
  <p:sldIdLst>
    <p:sldId xmlns:r="http://schemas.openxmlformats.org/officeDocument/2006/relationships" id="256" r:id="Rfa7638a4806148ee"/>
    <p:sldId xmlns:r="http://schemas.openxmlformats.org/officeDocument/2006/relationships" id="257" r:id="R5358d4601ef9454d"/>
    <p:sldId xmlns:r="http://schemas.openxmlformats.org/officeDocument/2006/relationships" id="258" r:id="Rdff0776b2cda4eff"/>
    <p:sldId xmlns:r="http://schemas.openxmlformats.org/officeDocument/2006/relationships" id="259" r:id="R3c5d65f95da14f0c"/>
    <p:sldId xmlns:r="http://schemas.openxmlformats.org/officeDocument/2006/relationships" id="260" r:id="R070e980e3a9d4afa"/>
    <p:sldId xmlns:r="http://schemas.openxmlformats.org/officeDocument/2006/relationships" id="261" r:id="Rf245c2f2351f45c8"/>
    <p:sldId xmlns:r="http://schemas.openxmlformats.org/officeDocument/2006/relationships" id="262" r:id="R049d5067338d4325"/>
    <p:sldId xmlns:r="http://schemas.openxmlformats.org/officeDocument/2006/relationships" id="263" r:id="R057c94fca10d4b0f"/>
    <p:sldId xmlns:r="http://schemas.openxmlformats.org/officeDocument/2006/relationships" id="264" r:id="R025cf3f56fb74050"/>
    <p:sldId xmlns:r="http://schemas.openxmlformats.org/officeDocument/2006/relationships" id="265" r:id="R727e0bb9546d4c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347e6481f84931" /><Relationship Type="http://schemas.openxmlformats.org/officeDocument/2006/relationships/slideMaster" Target="/ppt/slideMasters/slideMaster1.xml" Id="R260c842cfb1c4a4f" /><Relationship Type="http://schemas.openxmlformats.org/officeDocument/2006/relationships/notesMaster" Target="/ppt/notesMasters/notesMaster1.xml" Id="R48fc242015f6476a" /><Relationship Type="http://schemas.openxmlformats.org/officeDocument/2006/relationships/presProps" Target="/ppt/presProps.xml" Id="R68a9142cfc76408e" /><Relationship Type="http://schemas.openxmlformats.org/officeDocument/2006/relationships/tableStyles" Target="/ppt/tableStyles.xml" Id="R862c705e0a0d4e37" /><Relationship Type="http://schemas.openxmlformats.org/officeDocument/2006/relationships/slide" Target="/ppt/slides/slide1.xml" Id="Rfa7638a4806148ee" /><Relationship Type="http://schemas.openxmlformats.org/officeDocument/2006/relationships/slide" Target="/ppt/slides/slide2.xml" Id="R5358d4601ef9454d" /><Relationship Type="http://schemas.openxmlformats.org/officeDocument/2006/relationships/slide" Target="/ppt/slides/slide3.xml" Id="Rdff0776b2cda4eff" /><Relationship Type="http://schemas.openxmlformats.org/officeDocument/2006/relationships/slide" Target="/ppt/slides/slide4.xml" Id="R3c5d65f95da14f0c" /><Relationship Type="http://schemas.openxmlformats.org/officeDocument/2006/relationships/slide" Target="/ppt/slides/slide5.xml" Id="R070e980e3a9d4afa" /><Relationship Type="http://schemas.openxmlformats.org/officeDocument/2006/relationships/slide" Target="/ppt/slides/slide6.xml" Id="Rf245c2f2351f45c8" /><Relationship Type="http://schemas.openxmlformats.org/officeDocument/2006/relationships/slide" Target="/ppt/slides/slide7.xml" Id="R049d5067338d4325" /><Relationship Type="http://schemas.openxmlformats.org/officeDocument/2006/relationships/slide" Target="/ppt/slides/slide8.xml" Id="R057c94fca10d4b0f" /><Relationship Type="http://schemas.openxmlformats.org/officeDocument/2006/relationships/slide" Target="/ppt/slides/slide9.xml" Id="R025cf3f56fb74050" /><Relationship Type="http://schemas.openxmlformats.org/officeDocument/2006/relationships/slide" Target="/ppt/slides/slide10.xml" Id="R727e0bb9546d4c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02e71e58045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608b642e142ec" /><Relationship Type="http://schemas.openxmlformats.org/officeDocument/2006/relationships/notesMaster" Target="/ppt/notesMasters/notesMaster1.xml" Id="Rdfe31d70c766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24225f5d944b2" /><Relationship Type="http://schemas.openxmlformats.org/officeDocument/2006/relationships/notesMaster" Target="/ppt/notesMasters/notesMaster1.xml" Id="R4240658933c444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49d0e471642cb" /><Relationship Type="http://schemas.openxmlformats.org/officeDocument/2006/relationships/notesMaster" Target="/ppt/notesMasters/notesMaster1.xml" Id="R5f6a0db871fd4c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6e363b0ae4401e" /><Relationship Type="http://schemas.openxmlformats.org/officeDocument/2006/relationships/notesMaster" Target="/ppt/notesMasters/notesMaster1.xml" Id="R2690b2dcf58844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769caa6f34a9e" /><Relationship Type="http://schemas.openxmlformats.org/officeDocument/2006/relationships/notesMaster" Target="/ppt/notesMasters/notesMaster1.xml" Id="Re34d0afa8e604b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e7b31e6c5c4a0e" /><Relationship Type="http://schemas.openxmlformats.org/officeDocument/2006/relationships/notesMaster" Target="/ppt/notesMasters/notesMaster1.xml" Id="Ra1b8be7046df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c7a9e2b2f84c82" /><Relationship Type="http://schemas.openxmlformats.org/officeDocument/2006/relationships/notesMaster" Target="/ppt/notesMasters/notesMaster1.xml" Id="R03c2a884c2bc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25ed10cecc4d7f" /><Relationship Type="http://schemas.openxmlformats.org/officeDocument/2006/relationships/notesMaster" Target="/ppt/notesMasters/notesMaster1.xml" Id="R9aaf8206a3b04d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55d6e45944fbd" /><Relationship Type="http://schemas.openxmlformats.org/officeDocument/2006/relationships/notesMaster" Target="/ppt/notesMasters/notesMaster1.xml" Id="Rbbdf1a25bb3842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a5ed3492b54d7e" /><Relationship Type="http://schemas.openxmlformats.org/officeDocument/2006/relationships/notesMaster" Target="/ppt/notesMasters/notesMaster1.xml" Id="Rf7a5548d9b8740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b87c166ca4b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cb11b207a648a3" /><Relationship Type="http://schemas.openxmlformats.org/officeDocument/2006/relationships/slideLayout" Target="/ppt/slideLayouts/slideLayout1.xml" Id="Rdbab1177e1e94b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ab1177e1e94b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7b84807ee4e7c" /><Relationship Type="http://schemas.openxmlformats.org/officeDocument/2006/relationships/notesSlide" Target="/ppt/notesSlides/notesSlide1.xml" Id="R9561895d8f96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81677f2844c98" /><Relationship Type="http://schemas.openxmlformats.org/officeDocument/2006/relationships/notesSlide" Target="/ppt/notesSlides/notesSlide2.xml" Id="R16fb81a39db743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5a1fcd7b944f8" /><Relationship Type="http://schemas.openxmlformats.org/officeDocument/2006/relationships/notesSlide" Target="/ppt/notesSlides/notesSlide3.xml" Id="R9ef4b5bac3f543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97865afc9471d" /><Relationship Type="http://schemas.openxmlformats.org/officeDocument/2006/relationships/notesSlide" Target="/ppt/notesSlides/notesSlide4.xml" Id="R6e22bfdcf9b544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2f893037f42eb" /><Relationship Type="http://schemas.openxmlformats.org/officeDocument/2006/relationships/notesSlide" Target="/ppt/notesSlides/notesSlide5.xml" Id="Rd660524c05fd4c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9eb4466104bda" /><Relationship Type="http://schemas.openxmlformats.org/officeDocument/2006/relationships/notesSlide" Target="/ppt/notesSlides/notesSlide6.xml" Id="Re6126da89a52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338b77d924c2c" /><Relationship Type="http://schemas.openxmlformats.org/officeDocument/2006/relationships/notesSlide" Target="/ppt/notesSlides/notesSlide7.xml" Id="R57272aaf67ab4c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bc9ce4c894136" /><Relationship Type="http://schemas.openxmlformats.org/officeDocument/2006/relationships/notesSlide" Target="/ppt/notesSlides/notesSlide8.xml" Id="Ra95ce74260ba4d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27bf365984096" /><Relationship Type="http://schemas.openxmlformats.org/officeDocument/2006/relationships/notesSlide" Target="/ppt/notesSlides/notesSlide9.xml" Id="R314351ac1f674e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b60f33b3b4fd5" /><Relationship Type="http://schemas.openxmlformats.org/officeDocument/2006/relationships/notesSlide" Target="/ppt/notesSlides/notesSlide10.xml" Id="R861544a44aca4c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-identity">
            <a:extLst xmlns:a="http://schemas.openxmlformats.org/drawingml/2006/main">
              <a:ext uri="{FF2B5EF4-FFF2-40B4-BE49-F238E27FC236}">
                <a16:creationId xmlns:a16="http://schemas.microsoft.com/office/drawing/2014/main" id="{FBB4DF85-882E-4447-B7C8-EEA6794A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72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Manifold 非中国世界模型竞争格局
五类重点路径与未来 12–24 个月竞争信号
截至 2026-07-14</a:t>
            </a:r>
          </a:p>
        </p:txBody>
      </p:sp>
      <p:sp>
        <p:nvSpPr>
          <p:cNvPr id="2" name="p1-title">
            <a:extLst xmlns:a="http://schemas.openxmlformats.org/drawingml/2006/main">
              <a:ext uri="{FF2B5EF4-FFF2-40B4-BE49-F238E27FC236}">
                <a16:creationId xmlns:a16="http://schemas.microsoft.com/office/drawing/2014/main" id="{8C24B05C-EE11-4F70-89DC-4A16307C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海外世界模型出现三种交付路径，
客户侧生产采用仍待验证</a:t>
            </a:r>
          </a:p>
        </p:txBody>
      </p:sp>
      <p:sp>
        <p:nvSpPr>
          <p:cNvPr id="3" name="p1-answer">
            <a:extLst xmlns:a="http://schemas.openxmlformats.org/drawingml/2006/main">
              <a:ext uri="{FF2B5EF4-FFF2-40B4-BE49-F238E27FC236}">
                <a16:creationId xmlns:a16="http://schemas.microsoft.com/office/drawing/2014/main" id="{81FE36F6-0B7C-41EB-8283-E4ADA2BD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公开计价接口、申请制入口和可下载/自托管组件
正在把竞争从模型演示推向交付链；
但截至 2026-07-14，公开证据尚不足以判断
五席中任何对象已进入客户确认的付费生产阶段。</a:t>
            </a:r>
          </a:p>
        </p:txBody>
      </p:sp>
      <p:sp>
        <p:nvSpPr>
          <p:cNvPr id="4" name="p1-path-1-mark">
            <a:extLst xmlns:a="http://schemas.openxmlformats.org/drawingml/2006/main">
              <a:ext uri="{FF2B5EF4-FFF2-40B4-BE49-F238E27FC236}">
                <a16:creationId xmlns:a16="http://schemas.microsoft.com/office/drawing/2014/main" id="{DB556BFA-45E6-497F-8F8E-9450C08B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p1-path-1-label">
            <a:extLst xmlns:a="http://schemas.openxmlformats.org/drawingml/2006/main">
              <a:ext uri="{FF2B5EF4-FFF2-40B4-BE49-F238E27FC236}">
                <a16:creationId xmlns:a16="http://schemas.microsoft.com/office/drawing/2014/main" id="{02A16F53-2E93-4D76-972D-EAC5EA37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50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公开计价接口</a:t>
            </a:r>
          </a:p>
        </p:txBody>
      </p:sp>
      <p:sp>
        <p:nvSpPr>
          <p:cNvPr id="6" name="p1-path-1-body">
            <a:extLst xmlns:a="http://schemas.openxmlformats.org/drawingml/2006/main">
              <a:ext uri="{FF2B5EF4-FFF2-40B4-BE49-F238E27FC236}">
                <a16:creationId xmlns:a16="http://schemas.microsoft.com/office/drawing/2014/main" id="{D55F32FB-9A90-450F-8161-402CBEA4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5052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供给方式已经分化。
World Labs 与 Decart 提供公开计价接口；
Odyssey 与 Runway 采用文档化或申请制入口；
Cosmos 3 提供可下载和自托管组件。</a:t>
            </a:r>
          </a:p>
        </p:txBody>
      </p:sp>
      <p:sp>
        <p:nvSpPr>
          <p:cNvPr id="7" name="p1-path-2-mark">
            <a:extLst xmlns:a="http://schemas.openxmlformats.org/drawingml/2006/main">
              <a:ext uri="{FF2B5EF4-FFF2-40B4-BE49-F238E27FC236}">
                <a16:creationId xmlns:a16="http://schemas.microsoft.com/office/drawing/2014/main" id="{6D3D8380-D5F5-4028-8086-2BD6A4A6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p1-path-2-label">
            <a:extLst xmlns:a="http://schemas.openxmlformats.org/drawingml/2006/main">
              <a:ext uri="{FF2B5EF4-FFF2-40B4-BE49-F238E27FC236}">
                <a16:creationId xmlns:a16="http://schemas.microsoft.com/office/drawing/2014/main" id="{53950766-4FA7-4DC3-AFE7-755A1140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350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文档化或申请制入口</a:t>
            </a:r>
          </a:p>
        </p:txBody>
      </p:sp>
      <p:sp>
        <p:nvSpPr>
          <p:cNvPr id="9" name="p1-path-2-body">
            <a:extLst xmlns:a="http://schemas.openxmlformats.org/drawingml/2006/main">
              <a:ext uri="{FF2B5EF4-FFF2-40B4-BE49-F238E27FC236}">
                <a16:creationId xmlns:a16="http://schemas.microsoft.com/office/drawing/2014/main" id="{57C4F3EF-B474-44C5-8BD2-4C10671E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5052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竞争单元正在扩大。
比较重点已从生成效果扩展到
接口、运行时、部署与集成，
而不是单一模型指标。</a:t>
            </a:r>
          </a:p>
        </p:txBody>
      </p:sp>
      <p:sp>
        <p:nvSpPr>
          <p:cNvPr id="10" name="p1-path-3-mark">
            <a:extLst xmlns:a="http://schemas.openxmlformats.org/drawingml/2006/main">
              <a:ext uri="{FF2B5EF4-FFF2-40B4-BE49-F238E27FC236}">
                <a16:creationId xmlns:a16="http://schemas.microsoft.com/office/drawing/2014/main" id="{1D25F021-C796-4A0F-A1D0-57386C06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p1-path-3-label">
            <a:extLst xmlns:a="http://schemas.openxmlformats.org/drawingml/2006/main">
              <a:ext uri="{FF2B5EF4-FFF2-40B4-BE49-F238E27FC236}">
                <a16:creationId xmlns:a16="http://schemas.microsoft.com/office/drawing/2014/main" id="{29C1C750-7C0D-4FB7-933E-5BCCFE0A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3505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可下载/自托管组件</a:t>
            </a:r>
          </a:p>
        </p:txBody>
      </p:sp>
      <p:sp>
        <p:nvSpPr>
          <p:cNvPr id="12" name="p1-path-3-body">
            <a:extLst xmlns:a="http://schemas.openxmlformats.org/drawingml/2006/main">
              <a:ext uri="{FF2B5EF4-FFF2-40B4-BE49-F238E27FC236}">
                <a16:creationId xmlns:a16="http://schemas.microsoft.com/office/drawing/2014/main" id="{C1850EF3-87DC-45AF-B6ED-F73E260B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35052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商业证据仍是共同短板。
当前最高证据只到供应商托管原型、
公司自报合作、公开计价供应路径或伙伴自报集成；
尚未恢复到客户第一方确认的付费生产采用。</a:t>
            </a:r>
          </a:p>
        </p:txBody>
      </p:sp>
      <p:sp>
        <p:nvSpPr>
          <p:cNvPr id="13" name="p1-rule-1">
            <a:extLst xmlns:a="http://schemas.openxmlformats.org/drawingml/2006/main">
              <a:ext uri="{FF2B5EF4-FFF2-40B4-BE49-F238E27FC236}">
                <a16:creationId xmlns:a16="http://schemas.microsoft.com/office/drawing/2014/main" id="{A155F2A5-8200-445E-A2C6-1D0353B2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29050"/>
            <a:ext cx="95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4" name="p1-rule-2">
            <a:extLst xmlns:a="http://schemas.openxmlformats.org/drawingml/2006/main">
              <a:ext uri="{FF2B5EF4-FFF2-40B4-BE49-F238E27FC236}">
                <a16:creationId xmlns:a16="http://schemas.microsoft.com/office/drawing/2014/main" id="{6A9C0329-738B-447E-A48B-9C60B504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95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5" name="p1-footer-source">
            <a:extLst xmlns:a="http://schemas.openxmlformats.org/drawingml/2006/main">
              <a:ext uri="{FF2B5EF4-FFF2-40B4-BE49-F238E27FC236}">
                <a16:creationId xmlns:a16="http://schemas.microsoft.com/office/drawing/2014/main" id="{C79109F0-119B-4278-BBA6-9E0D7AA7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公开来源：官方产品/API/价格、条款、公司/伙伴自报及独立体验｜相对 Manifold 公开锚点的条件性分析</a:t>
            </a:r>
          </a:p>
        </p:txBody>
      </p:sp>
      <p:sp>
        <p:nvSpPr>
          <p:cNvPr id="16" name="p1-footer-page">
            <a:extLst xmlns:a="http://schemas.openxmlformats.org/drawingml/2006/main">
              <a:ext uri="{FF2B5EF4-FFF2-40B4-BE49-F238E27FC236}">
                <a16:creationId xmlns:a16="http://schemas.microsoft.com/office/drawing/2014/main" id="{14C74AF5-E61D-47A0-A4B5-661FC3D5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2026-07-14｜1</a:t>
            </a:r>
          </a:p>
        </p:txBody>
      </p:sp>
    </p:spTree>
    <p:extLst>
      <p:ext uri="{BB962C8B-B14F-4D97-AF65-F5344CB8AC3E}">
        <p14:creationId xmlns:p14="http://schemas.microsoft.com/office/powerpoint/2010/main" val="316423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2-title">
            <a:extLst xmlns:a="http://schemas.openxmlformats.org/drawingml/2006/main">
              <a:ext uri="{FF2B5EF4-FFF2-40B4-BE49-F238E27FC236}">
                <a16:creationId xmlns:a16="http://schemas.microsoft.com/office/drawing/2014/main" id="{A903284B-84D7-43FD-BF5D-52C1929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海外玩家按世界形态与交付位置分化，
获得方式决定进入路径</a:t>
            </a:r>
          </a:p>
        </p:txBody>
      </p:sp>
      <p:sp>
        <p:nvSpPr>
          <p:cNvPr id="2" name="p2-conclusion">
            <a:extLst xmlns:a="http://schemas.openxmlformats.org/drawingml/2006/main">
              <a:ext uri="{FF2B5EF4-FFF2-40B4-BE49-F238E27FC236}">
                <a16:creationId xmlns:a16="http://schemas.microsoft.com/office/drawing/2014/main" id="{BBFBC3CB-B4D3-45C7-B100-4295003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内容探索、开发者基础设施与机器人控制
正在形成不同阵地；节点位置不表示能力高低。</a:t>
            </a:r>
          </a:p>
        </p:txBody>
      </p:sp>
      <p:sp>
        <p:nvSpPr>
          <p:cNvPr id="3" name="p2-col-1">
            <a:extLst xmlns:a="http://schemas.openxmlformats.org/drawingml/2006/main">
              <a:ext uri="{FF2B5EF4-FFF2-40B4-BE49-F238E27FC236}">
                <a16:creationId xmlns:a16="http://schemas.microsoft.com/office/drawing/2014/main" id="{E956B34D-1173-415B-AC49-BFC248C6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76450"/>
            <a:ext cx="335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持久空间
世界</a:t>
            </a:r>
          </a:p>
        </p:txBody>
      </p:sp>
      <p:sp>
        <p:nvSpPr>
          <p:cNvPr id="4" name="p2-col-2">
            <a:extLst xmlns:a="http://schemas.openxmlformats.org/drawingml/2006/main">
              <a:ext uri="{FF2B5EF4-FFF2-40B4-BE49-F238E27FC236}">
                <a16:creationId xmlns:a16="http://schemas.microsoft.com/office/drawing/2014/main" id="{480CD184-A6F6-4B3D-B1E5-6F46D56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335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实时交互
世界流</a:t>
            </a:r>
          </a:p>
        </p:txBody>
      </p:sp>
      <p:sp>
        <p:nvSpPr>
          <p:cNvPr id="5" name="p2-col-3">
            <a:extLst xmlns:a="http://schemas.openxmlformats.org/drawingml/2006/main">
              <a:ext uri="{FF2B5EF4-FFF2-40B4-BE49-F238E27FC236}">
                <a16:creationId xmlns:a16="http://schemas.microsoft.com/office/drawing/2014/main" id="{9759C37A-71F0-4C80-A577-FD610954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35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动作条件
物理智能组件</a:t>
            </a:r>
          </a:p>
        </p:txBody>
      </p:sp>
      <p:sp>
        <p:nvSpPr>
          <p:cNvPr id="6" name="p2-row-1">
            <a:extLst xmlns:a="http://schemas.openxmlformats.org/drawingml/2006/main">
              <a:ext uri="{FF2B5EF4-FFF2-40B4-BE49-F238E27FC236}">
                <a16:creationId xmlns:a16="http://schemas.microsoft.com/office/drawing/2014/main" id="{4DF5D7FE-B5B0-44AF-AB06-6E767E84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857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内容与
探索</a:t>
            </a:r>
          </a:p>
        </p:txBody>
      </p:sp>
      <p:sp>
        <p:nvSpPr>
          <p:cNvPr id="7" name="p2-row-2">
            <a:extLst xmlns:a="http://schemas.openxmlformats.org/drawingml/2006/main">
              <a:ext uri="{FF2B5EF4-FFF2-40B4-BE49-F238E27FC236}">
                <a16:creationId xmlns:a16="http://schemas.microsoft.com/office/drawing/2014/main" id="{FBB4B4B8-2616-4822-99CE-F146D5AA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8572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开发者
世界 /
仿真基础
设施</a:t>
            </a:r>
          </a:p>
        </p:txBody>
      </p:sp>
      <p:sp>
        <p:nvSpPr>
          <p:cNvPr id="8" name="p2-row-3">
            <a:extLst xmlns:a="http://schemas.openxmlformats.org/drawingml/2006/main">
              <a:ext uri="{FF2B5EF4-FFF2-40B4-BE49-F238E27FC236}">
                <a16:creationId xmlns:a16="http://schemas.microsoft.com/office/drawing/2014/main" id="{113AFF68-B54C-4C1A-A50D-8B346DEA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8572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机器人
规划
控制</a:t>
            </a:r>
          </a:p>
        </p:txBody>
      </p:sp>
      <p:sp>
        <p:nvSpPr>
          <p:cNvPr id="9" name="p2-v-0">
            <a:extLst xmlns:a="http://schemas.openxmlformats.org/drawingml/2006/main">
              <a:ext uri="{FF2B5EF4-FFF2-40B4-BE49-F238E27FC236}">
                <a16:creationId xmlns:a16="http://schemas.microsoft.com/office/drawing/2014/main" id="{FA883E82-5C13-451B-9023-40E8D0D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7144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p2-v-1">
            <a:extLst xmlns:a="http://schemas.openxmlformats.org/drawingml/2006/main">
              <a:ext uri="{FF2B5EF4-FFF2-40B4-BE49-F238E27FC236}">
                <a16:creationId xmlns:a16="http://schemas.microsoft.com/office/drawing/2014/main" id="{4ECCFE90-58AB-4928-B200-B8D173A0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57400"/>
            <a:ext cx="7144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1" name="p2-v-2">
            <a:extLst xmlns:a="http://schemas.openxmlformats.org/drawingml/2006/main">
              <a:ext uri="{FF2B5EF4-FFF2-40B4-BE49-F238E27FC236}">
                <a16:creationId xmlns:a16="http://schemas.microsoft.com/office/drawing/2014/main" id="{72578562-796A-43AC-A2AD-9A48467E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7144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2" name="p2-v-3">
            <a:extLst xmlns:a="http://schemas.openxmlformats.org/drawingml/2006/main">
              <a:ext uri="{FF2B5EF4-FFF2-40B4-BE49-F238E27FC236}">
                <a16:creationId xmlns:a16="http://schemas.microsoft.com/office/drawing/2014/main" id="{26573974-3954-4123-A7D6-2B5E090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2057400"/>
            <a:ext cx="7144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p2-h-0">
            <a:extLst xmlns:a="http://schemas.openxmlformats.org/drawingml/2006/main">
              <a:ext uri="{FF2B5EF4-FFF2-40B4-BE49-F238E27FC236}">
                <a16:creationId xmlns:a16="http://schemas.microsoft.com/office/drawing/2014/main" id="{BB501ADC-15E4-4D92-8FFB-16EABCD8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100584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4" name="p2-h-1">
            <a:extLst xmlns:a="http://schemas.openxmlformats.org/drawingml/2006/main">
              <a:ext uri="{FF2B5EF4-FFF2-40B4-BE49-F238E27FC236}">
                <a16:creationId xmlns:a16="http://schemas.microsoft.com/office/drawing/2014/main" id="{2E088BC2-D260-4CE9-8802-D710716A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100584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5" name="p2-h-2">
            <a:extLst xmlns:a="http://schemas.openxmlformats.org/drawingml/2006/main">
              <a:ext uri="{FF2B5EF4-FFF2-40B4-BE49-F238E27FC236}">
                <a16:creationId xmlns:a16="http://schemas.microsoft.com/office/drawing/2014/main" id="{B2702233-2582-4D60-BB8E-95317F20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100584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6" name="p2-h-3">
            <a:extLst xmlns:a="http://schemas.openxmlformats.org/drawingml/2006/main">
              <a:ext uri="{FF2B5EF4-FFF2-40B4-BE49-F238E27FC236}">
                <a16:creationId xmlns:a16="http://schemas.microsoft.com/office/drawing/2014/main" id="{A81499EB-F5C2-42B8-BBAE-6E59FD55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100584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7" name="p2-h-4">
            <a:extLst xmlns:a="http://schemas.openxmlformats.org/drawingml/2006/main">
              <a:ext uri="{FF2B5EF4-FFF2-40B4-BE49-F238E27FC236}">
                <a16:creationId xmlns:a16="http://schemas.microsoft.com/office/drawing/2014/main" id="{62E0FA65-83A4-4E5A-ABD8-52E7356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00700"/>
            <a:ext cx="100584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8" name="p2-world-labs-mark">
            <a:extLst xmlns:a="http://schemas.openxmlformats.org/drawingml/2006/main">
              <a:ext uri="{FF2B5EF4-FFF2-40B4-BE49-F238E27FC236}">
                <a16:creationId xmlns:a16="http://schemas.microsoft.com/office/drawing/2014/main" id="{FE049381-F8CB-4928-BC4A-FF88F21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527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p2-world-labs">
            <a:extLst xmlns:a="http://schemas.openxmlformats.org/drawingml/2006/main">
              <a:ext uri="{FF2B5EF4-FFF2-40B4-BE49-F238E27FC236}">
                <a16:creationId xmlns:a16="http://schemas.microsoft.com/office/drawing/2014/main" id="{03EEF3C4-6978-4632-9A83-99AC3EE2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8605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20" name="p2-runway-mark">
            <a:extLst xmlns:a="http://schemas.openxmlformats.org/drawingml/2006/main">
              <a:ext uri="{FF2B5EF4-FFF2-40B4-BE49-F238E27FC236}">
                <a16:creationId xmlns:a16="http://schemas.microsoft.com/office/drawing/2014/main" id="{1E236C7B-79B1-4C3C-ADC7-733251E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955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1" name="p2-runway">
            <a:extLst xmlns:a="http://schemas.openxmlformats.org/drawingml/2006/main">
              <a:ext uri="{FF2B5EF4-FFF2-40B4-BE49-F238E27FC236}">
                <a16:creationId xmlns:a16="http://schemas.microsoft.com/office/drawing/2014/main" id="{4C48EEB1-8F63-4EA6-AE1D-B1D74772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22" name="p2-runway-robotics">
            <a:extLst xmlns:a="http://schemas.openxmlformats.org/drawingml/2006/main">
              <a:ext uri="{FF2B5EF4-FFF2-40B4-BE49-F238E27FC236}">
                <a16:creationId xmlns:a16="http://schemas.microsoft.com/office/drawing/2014/main" id="{DD2DCC8C-C3BA-483D-BAB2-40A1E2AB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Runway Robotics：
规划控制（次级）</a:t>
            </a:r>
          </a:p>
        </p:txBody>
      </p:sp>
      <p:sp>
        <p:nvSpPr>
          <p:cNvPr id="23" name="p2-genie-outline">
            <a:extLst xmlns:a="http://schemas.openxmlformats.org/drawingml/2006/main">
              <a:ext uri="{FF2B5EF4-FFF2-40B4-BE49-F238E27FC236}">
                <a16:creationId xmlns:a16="http://schemas.microsoft.com/office/drawing/2014/main" id="{84F51804-84CC-4C31-AE7A-10C7B78A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8BCC4"/>
            </a:solidFill>
            <a:prstDash val="solid"/>
          </a:ln>
        </p:spPr>
      </p:sp>
      <p:sp>
        <p:nvSpPr>
          <p:cNvPr id="24" name="p2-genie">
            <a:extLst xmlns:a="http://schemas.openxmlformats.org/drawingml/2006/main">
              <a:ext uri="{FF2B5EF4-FFF2-40B4-BE49-F238E27FC236}">
                <a16:creationId xmlns:a16="http://schemas.microsoft.com/office/drawing/2014/main" id="{9C07494A-3A6F-40F8-BD5A-6516A199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0425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Genie 3 / Project Genie</a:t>
            </a:r>
          </a:p>
        </p:txBody>
      </p:sp>
      <p:sp>
        <p:nvSpPr>
          <p:cNvPr id="25" name="p2-overworld-outline">
            <a:extLst xmlns:a="http://schemas.openxmlformats.org/drawingml/2006/main">
              <a:ext uri="{FF2B5EF4-FFF2-40B4-BE49-F238E27FC236}">
                <a16:creationId xmlns:a16="http://schemas.microsoft.com/office/drawing/2014/main" id="{59821751-275B-41B0-A51D-F8A6241C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8BCC4"/>
            </a:solidFill>
            <a:prstDash val="solid"/>
          </a:ln>
        </p:spPr>
      </p:sp>
      <p:sp>
        <p:nvSpPr>
          <p:cNvPr id="26" name="p2-overworld">
            <a:extLst xmlns:a="http://schemas.openxmlformats.org/drawingml/2006/main">
              <a:ext uri="{FF2B5EF4-FFF2-40B4-BE49-F238E27FC236}">
                <a16:creationId xmlns:a16="http://schemas.microsoft.com/office/drawing/2014/main" id="{7AC7BCE7-1CEF-4929-A329-4EFC1CB3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48075"/>
            <a:ext cx="274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Overworld（地域条件）</a:t>
            </a:r>
          </a:p>
        </p:txBody>
      </p:sp>
      <p:sp>
        <p:nvSpPr>
          <p:cNvPr id="27" name="p2-odyssey-mark">
            <a:extLst xmlns:a="http://schemas.openxmlformats.org/drawingml/2006/main">
              <a:ext uri="{FF2B5EF4-FFF2-40B4-BE49-F238E27FC236}">
                <a16:creationId xmlns:a16="http://schemas.microsoft.com/office/drawing/2014/main" id="{0D6FC721-30FC-4315-8FC4-267F79F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481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8" name="p2-odyssey">
            <a:extLst xmlns:a="http://schemas.openxmlformats.org/drawingml/2006/main">
              <a:ext uri="{FF2B5EF4-FFF2-40B4-BE49-F238E27FC236}">
                <a16:creationId xmlns:a16="http://schemas.microsoft.com/office/drawing/2014/main" id="{1B7C3564-1136-418F-B6F2-966E17B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8145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29" name="p2-decart-mark">
            <a:extLst xmlns:a="http://schemas.openxmlformats.org/drawingml/2006/main">
              <a:ext uri="{FF2B5EF4-FFF2-40B4-BE49-F238E27FC236}">
                <a16:creationId xmlns:a16="http://schemas.microsoft.com/office/drawing/2014/main" id="{E22F7D80-3D88-450E-8FD3-4B847BC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529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0" name="p2-decart">
            <a:extLst xmlns:a="http://schemas.openxmlformats.org/drawingml/2006/main">
              <a:ext uri="{FF2B5EF4-FFF2-40B4-BE49-F238E27FC236}">
                <a16:creationId xmlns:a16="http://schemas.microsoft.com/office/drawing/2014/main" id="{5B6026B3-D161-40B7-9371-4C93129A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68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31" name="p2-cosmos-mark">
            <a:extLst xmlns:a="http://schemas.openxmlformats.org/drawingml/2006/main">
              <a:ext uri="{FF2B5EF4-FFF2-40B4-BE49-F238E27FC236}">
                <a16:creationId xmlns:a16="http://schemas.microsoft.com/office/drawing/2014/main" id="{3C8FD722-AC6F-49FC-9198-7370B3E3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2" name="p2-cosmos">
            <a:extLst xmlns:a="http://schemas.openxmlformats.org/drawingml/2006/main">
              <a:ext uri="{FF2B5EF4-FFF2-40B4-BE49-F238E27FC236}">
                <a16:creationId xmlns:a16="http://schemas.microsoft.com/office/drawing/2014/main" id="{0AFB4137-F0F7-46D0-887B-FF7B3E4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33" name="p2-cosmos-secondary">
            <a:extLst xmlns:a="http://schemas.openxmlformats.org/drawingml/2006/main">
              <a:ext uri="{FF2B5EF4-FFF2-40B4-BE49-F238E27FC236}">
                <a16:creationId xmlns:a16="http://schemas.microsoft.com/office/drawing/2014/main" id="{BB1F78A7-48D4-43E3-9CEA-F5CF4169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Cosmos 3 规划控制（次级）</a:t>
            </a:r>
          </a:p>
        </p:txBody>
      </p:sp>
      <p:sp>
        <p:nvSpPr>
          <p:cNvPr id="34" name="p2-mira-outline">
            <a:extLst xmlns:a="http://schemas.openxmlformats.org/drawingml/2006/main">
              <a:ext uri="{FF2B5EF4-FFF2-40B4-BE49-F238E27FC236}">
                <a16:creationId xmlns:a16="http://schemas.microsoft.com/office/drawing/2014/main" id="{96156A2A-C9F0-48C9-90C7-97E0F81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8BCC4"/>
            </a:solidFill>
            <a:prstDash val="solid"/>
          </a:ln>
        </p:spPr>
      </p:sp>
      <p:sp>
        <p:nvSpPr>
          <p:cNvPr id="35" name="p2-mira">
            <a:extLst xmlns:a="http://schemas.openxmlformats.org/drawingml/2006/main">
              <a:ext uri="{FF2B5EF4-FFF2-40B4-BE49-F238E27FC236}">
                <a16:creationId xmlns:a16="http://schemas.microsoft.com/office/drawing/2014/main" id="{22E143AA-2A67-433B-B11E-6122861A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62475"/>
            <a:ext cx="2476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General Intuition / MIRA</a:t>
            </a:r>
          </a:p>
        </p:txBody>
      </p:sp>
      <p:sp>
        <p:nvSpPr>
          <p:cNvPr id="36" name="p2-meta-outline">
            <a:extLst xmlns:a="http://schemas.openxmlformats.org/drawingml/2006/main">
              <a:ext uri="{FF2B5EF4-FFF2-40B4-BE49-F238E27FC236}">
                <a16:creationId xmlns:a16="http://schemas.microsoft.com/office/drawing/2014/main" id="{85387070-4EA8-4680-BB9B-8AFAB04D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B8BCC4"/>
            </a:solidFill>
            <a:prstDash val="solid"/>
          </a:ln>
        </p:spPr>
      </p:sp>
      <p:sp>
        <p:nvSpPr>
          <p:cNvPr id="37" name="p2-meta">
            <a:extLst xmlns:a="http://schemas.openxmlformats.org/drawingml/2006/main">
              <a:ext uri="{FF2B5EF4-FFF2-40B4-BE49-F238E27FC236}">
                <a16:creationId xmlns:a16="http://schemas.microsoft.com/office/drawing/2014/main" id="{BCE79337-1DD5-4FFB-B108-4F4F35FB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1600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38" name="p2-status">
            <a:extLst xmlns:a="http://schemas.openxmlformats.org/drawingml/2006/main">
              <a:ext uri="{FF2B5EF4-FFF2-40B4-BE49-F238E27FC236}">
                <a16:creationId xmlns:a16="http://schemas.microsoft.com/office/drawing/2014/main" id="{CB12FECA-7F46-4196-B8E0-C55ABE0B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固定五席 5｜观察对象 4｜早期信号 1 · AMI Labs（图外；自有技术资产与入口待核）</a:t>
            </a:r>
          </a:p>
        </p:txBody>
      </p:sp>
      <p:sp>
        <p:nvSpPr>
          <p:cNvPr id="39" name="p2-access">
            <a:extLst xmlns:a="http://schemas.openxmlformats.org/drawingml/2006/main">
              <a:ext uri="{FF2B5EF4-FFF2-40B4-BE49-F238E27FC236}">
                <a16:creationId xmlns:a16="http://schemas.microsoft.com/office/drawing/2014/main" id="{496BB191-672D-473A-A502-FD616CD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获得方式：公开接口｜受控入口｜可下载/自托管｜尚未核实</a:t>
            </a:r>
          </a:p>
        </p:txBody>
      </p:sp>
      <p:sp>
        <p:nvSpPr>
          <p:cNvPr id="40" name="p2-badges">
            <a:extLst xmlns:a="http://schemas.openxmlformats.org/drawingml/2006/main">
              <a:ext uri="{FF2B5EF4-FFF2-40B4-BE49-F238E27FC236}">
                <a16:creationId xmlns:a16="http://schemas.microsoft.com/office/drawing/2014/main" id="{962C079A-D9D1-4CCC-9610-D95BC85C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限定：Odyssey 实际账户未独立确认｜Overworld 地域条件</a:t>
            </a:r>
          </a:p>
        </p:txBody>
      </p:sp>
      <p:sp>
        <p:nvSpPr>
          <p:cNvPr id="41" name="p2-scope">
            <a:extLst xmlns:a="http://schemas.openxmlformats.org/drawingml/2006/main">
              <a:ext uri="{FF2B5EF4-FFF2-40B4-BE49-F238E27FC236}">
                <a16:creationId xmlns:a16="http://schemas.microsoft.com/office/drawing/2014/main" id="{81A25742-3130-4C49-BE11-2D275187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71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中国大陆公司不作为节点；Manifold 只作公开比较锚点；
VLA、机器人基础模型、仿真/合成数据、纯视频、纯 3D 与垂直内部组件不作节点。</a:t>
            </a:r>
          </a:p>
        </p:txBody>
      </p:sp>
      <p:sp>
        <p:nvSpPr>
          <p:cNvPr id="42" name="p2-page">
            <a:extLst xmlns:a="http://schemas.openxmlformats.org/drawingml/2006/main">
              <a:ext uri="{FF2B5EF4-FFF2-40B4-BE49-F238E27FC236}">
                <a16:creationId xmlns:a16="http://schemas.microsoft.com/office/drawing/2014/main" id="{29FC0F80-34A1-4DB4-B241-D4AF9ED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10350"/>
            <a:ext cx="150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2026-07-14｜2</a:t>
            </a:r>
          </a:p>
        </p:txBody>
      </p:sp>
    </p:spTree>
    <p:extLst>
      <p:ext uri="{BB962C8B-B14F-4D97-AF65-F5344CB8AC3E}">
        <p14:creationId xmlns:p14="http://schemas.microsoft.com/office/powerpoint/2010/main" val="1685660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3-title">
            <a:extLst xmlns:a="http://schemas.openxmlformats.org/drawingml/2006/main">
              <a:ext uri="{FF2B5EF4-FFF2-40B4-BE49-F238E27FC236}">
                <a16:creationId xmlns:a16="http://schemas.microsoft.com/office/drawing/2014/main" id="{D913E5A5-A23A-41FB-837B-4271F27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五席代表五种互补路径，差异在产品形态与证据成熟度</a:t>
            </a:r>
          </a:p>
        </p:txBody>
      </p:sp>
      <p:sp>
        <p:nvSpPr>
          <p:cNvPr id="2" name="p3-header-fill">
            <a:extLst xmlns:a="http://schemas.openxmlformats.org/drawingml/2006/main">
              <a:ext uri="{FF2B5EF4-FFF2-40B4-BE49-F238E27FC236}">
                <a16:creationId xmlns:a16="http://schemas.microsoft.com/office/drawing/2014/main" id="{FF620E32-4BA5-4FA3-BD7D-420EDF4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3" name="p3-header-0">
            <a:extLst xmlns:a="http://schemas.openxmlformats.org/drawingml/2006/main">
              <a:ext uri="{FF2B5EF4-FFF2-40B4-BE49-F238E27FC236}">
                <a16:creationId xmlns:a16="http://schemas.microsoft.com/office/drawing/2014/main" id="{D4D70B3A-B064-4AE5-8ACE-5C809D3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5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比较维度</a:t>
            </a:r>
          </a:p>
        </p:txBody>
      </p:sp>
      <p:sp>
        <p:nvSpPr>
          <p:cNvPr id="4" name="p3-header-mark-1">
            <a:extLst xmlns:a="http://schemas.openxmlformats.org/drawingml/2006/main">
              <a:ext uri="{FF2B5EF4-FFF2-40B4-BE49-F238E27FC236}">
                <a16:creationId xmlns:a16="http://schemas.microsoft.com/office/drawing/2014/main" id="{084303DE-7C16-4169-ACE8-34BCBDA9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14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p3-header-1">
            <a:extLst xmlns:a="http://schemas.openxmlformats.org/drawingml/2006/main">
              <a:ext uri="{FF2B5EF4-FFF2-40B4-BE49-F238E27FC236}">
                <a16:creationId xmlns:a16="http://schemas.microsoft.com/office/drawing/2014/main" id="{DCB57114-4D23-4D65-8144-96206E6D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181100"/>
            <a:ext cx="179451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 Labs</a:t>
            </a:r>
          </a:p>
        </p:txBody>
      </p:sp>
      <p:sp>
        <p:nvSpPr>
          <p:cNvPr id="6" name="p3-header-mark-2">
            <a:extLst xmlns:a="http://schemas.openxmlformats.org/drawingml/2006/main">
              <a:ext uri="{FF2B5EF4-FFF2-40B4-BE49-F238E27FC236}">
                <a16:creationId xmlns:a16="http://schemas.microsoft.com/office/drawing/2014/main" id="{7695E509-1DA7-4DA6-ACC4-310A3AC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114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p3-header-2">
            <a:extLst xmlns:a="http://schemas.openxmlformats.org/drawingml/2006/main">
              <a:ext uri="{FF2B5EF4-FFF2-40B4-BE49-F238E27FC236}">
                <a16:creationId xmlns:a16="http://schemas.microsoft.com/office/drawing/2014/main" id="{F6071542-5C13-4D25-94F9-049BC603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1181100"/>
            <a:ext cx="179451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Odyssey</a:t>
            </a:r>
          </a:p>
        </p:txBody>
      </p:sp>
      <p:sp>
        <p:nvSpPr>
          <p:cNvPr id="8" name="p3-header-mark-3">
            <a:extLst xmlns:a="http://schemas.openxmlformats.org/drawingml/2006/main">
              <a:ext uri="{FF2B5EF4-FFF2-40B4-BE49-F238E27FC236}">
                <a16:creationId xmlns:a16="http://schemas.microsoft.com/office/drawing/2014/main" id="{AE578C47-C4C2-4733-B7A3-918E3A7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114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p3-header-3">
            <a:extLst xmlns:a="http://schemas.openxmlformats.org/drawingml/2006/main">
              <a:ext uri="{FF2B5EF4-FFF2-40B4-BE49-F238E27FC236}">
                <a16:creationId xmlns:a16="http://schemas.microsoft.com/office/drawing/2014/main" id="{7DDD60E7-8D75-42B1-A768-4D69A7F5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1181100"/>
            <a:ext cx="179451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Runway</a:t>
            </a:r>
          </a:p>
        </p:txBody>
      </p:sp>
      <p:sp>
        <p:nvSpPr>
          <p:cNvPr id="10" name="p3-header-mark-4">
            <a:extLst xmlns:a="http://schemas.openxmlformats.org/drawingml/2006/main">
              <a:ext uri="{FF2B5EF4-FFF2-40B4-BE49-F238E27FC236}">
                <a16:creationId xmlns:a16="http://schemas.microsoft.com/office/drawing/2014/main" id="{8A988A29-B5A1-4D06-A256-E93C0CBE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114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p3-header-4">
            <a:extLst xmlns:a="http://schemas.openxmlformats.org/drawingml/2006/main">
              <a:ext uri="{FF2B5EF4-FFF2-40B4-BE49-F238E27FC236}">
                <a16:creationId xmlns:a16="http://schemas.microsoft.com/office/drawing/2014/main" id="{1705A234-68FB-4FAD-A249-4EFFF7D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1181100"/>
            <a:ext cx="179451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Decart</a:t>
            </a:r>
          </a:p>
        </p:txBody>
      </p:sp>
      <p:sp>
        <p:nvSpPr>
          <p:cNvPr id="12" name="p3-header-mark-5">
            <a:extLst xmlns:a="http://schemas.openxmlformats.org/drawingml/2006/main">
              <a:ext uri="{FF2B5EF4-FFF2-40B4-BE49-F238E27FC236}">
                <a16:creationId xmlns:a16="http://schemas.microsoft.com/office/drawing/2014/main" id="{FCF8F89F-09E4-4332-93DA-A12D333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1143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p3-header-5">
            <a:extLst xmlns:a="http://schemas.openxmlformats.org/drawingml/2006/main">
              <a:ext uri="{FF2B5EF4-FFF2-40B4-BE49-F238E27FC236}">
                <a16:creationId xmlns:a16="http://schemas.microsoft.com/office/drawing/2014/main" id="{74DA4065-2BEC-409F-8BC4-6C3AB18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1181100"/>
            <a:ext cx="179451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NVIDIA Cosmos 3</a:t>
            </a:r>
          </a:p>
        </p:txBody>
      </p:sp>
      <p:sp>
        <p:nvSpPr>
          <p:cNvPr id="14" name="p3-rowhead-fill-0">
            <a:extLst xmlns:a="http://schemas.openxmlformats.org/drawingml/2006/main">
              <a:ext uri="{FF2B5EF4-FFF2-40B4-BE49-F238E27FC236}">
                <a16:creationId xmlns:a16="http://schemas.microsoft.com/office/drawing/2014/main" id="{D40B1969-EA13-413D-95FB-C318AD9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15" name="p3-rowhead-0">
            <a:extLst xmlns:a="http://schemas.openxmlformats.org/drawingml/2006/main">
              <a:ext uri="{FF2B5EF4-FFF2-40B4-BE49-F238E27FC236}">
                <a16:creationId xmlns:a16="http://schemas.microsoft.com/office/drawing/2014/main" id="{EAE2FD15-0333-4CDD-97E0-FBB8C44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5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技术证据</a:t>
            </a:r>
          </a:p>
        </p:txBody>
      </p:sp>
      <p:sp>
        <p:nvSpPr>
          <p:cNvPr id="16" name="p3-cell-0-0">
            <a:extLst xmlns:a="http://schemas.openxmlformats.org/drawingml/2006/main">
              <a:ext uri="{FF2B5EF4-FFF2-40B4-BE49-F238E27FC236}">
                <a16:creationId xmlns:a16="http://schemas.microsoft.com/office/drawing/2014/main" id="{50E3651B-F305-4D77-B807-27C15D7D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573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位姿条件导航与空间记忆；
动态物体仍待证</a:t>
            </a:r>
          </a:p>
        </p:txBody>
      </p:sp>
      <p:sp>
        <p:nvSpPr>
          <p:cNvPr id="17" name="p3-cell-0-1">
            <a:extLst xmlns:a="http://schemas.openxmlformats.org/drawingml/2006/main">
              <a:ext uri="{FF2B5EF4-FFF2-40B4-BE49-F238E27FC236}">
                <a16:creationId xmlns:a16="http://schemas.microsoft.com/office/drawing/2014/main" id="{47E19276-DD1B-43BF-8651-AD60D75B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16573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历史帧和动作条件未来；长时稳定性未独立验证</a:t>
            </a:r>
          </a:p>
        </p:txBody>
      </p:sp>
      <p:sp>
        <p:nvSpPr>
          <p:cNvPr id="18" name="p3-cell-0-2">
            <a:extLst xmlns:a="http://schemas.openxmlformats.org/drawingml/2006/main">
              <a:ext uri="{FF2B5EF4-FFF2-40B4-BE49-F238E27FC236}">
                <a16:creationId xmlns:a16="http://schemas.microsoft.com/office/drawing/2014/main" id="{B12BD494-11AF-4865-834E-2BA642C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16573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Worlds 支持导航条件未来；
Robotics 证据单列</a:t>
            </a:r>
          </a:p>
        </p:txBody>
      </p:sp>
      <p:sp>
        <p:nvSpPr>
          <p:cNvPr id="19" name="p3-cell-0-3">
            <a:extLst xmlns:a="http://schemas.openxmlformats.org/drawingml/2006/main">
              <a:ext uri="{FF2B5EF4-FFF2-40B4-BE49-F238E27FC236}">
                <a16:creationId xmlns:a16="http://schemas.microsoft.com/office/drawing/2014/main" id="{0898A328-39CC-467C-AC38-449ED05F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16573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油门/转向驱动三向后续视图；
动作域较窄</a:t>
            </a:r>
          </a:p>
        </p:txBody>
      </p:sp>
      <p:sp>
        <p:nvSpPr>
          <p:cNvPr id="20" name="p3-cell-0-4">
            <a:extLst xmlns:a="http://schemas.openxmlformats.org/drawingml/2006/main">
              <a:ext uri="{FF2B5EF4-FFF2-40B4-BE49-F238E27FC236}">
                <a16:creationId xmlns:a16="http://schemas.microsoft.com/office/drawing/2014/main" id="{7A7A5B4F-4C58-47C6-B2B4-EDE71938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16573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动作条件前向预测；漂移、几何和碰撞仍有限</a:t>
            </a:r>
          </a:p>
        </p:txBody>
      </p:sp>
      <p:sp>
        <p:nvSpPr>
          <p:cNvPr id="21" name="p3-rowhead-fill-1">
            <a:extLst xmlns:a="http://schemas.openxmlformats.org/drawingml/2006/main">
              <a:ext uri="{FF2B5EF4-FFF2-40B4-BE49-F238E27FC236}">
                <a16:creationId xmlns:a16="http://schemas.microsoft.com/office/drawing/2014/main" id="{6501AD9D-686B-4A06-8D1A-CCA813F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23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2" name="p3-rowhead-1">
            <a:extLst xmlns:a="http://schemas.openxmlformats.org/drawingml/2006/main">
              <a:ext uri="{FF2B5EF4-FFF2-40B4-BE49-F238E27FC236}">
                <a16:creationId xmlns:a16="http://schemas.microsoft.com/office/drawing/2014/main" id="{DC701B2A-B17C-41C9-A2C9-14000A5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58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外部可获得性</a:t>
            </a:r>
          </a:p>
        </p:txBody>
      </p:sp>
      <p:sp>
        <p:nvSpPr>
          <p:cNvPr id="23" name="p3-cell-1-0">
            <a:extLst xmlns:a="http://schemas.openxmlformats.org/drawingml/2006/main">
              <a:ext uri="{FF2B5EF4-FFF2-40B4-BE49-F238E27FC236}">
                <a16:creationId xmlns:a16="http://schemas.microsoft.com/office/drawing/2014/main" id="{1F882FAB-F27D-4003-A70C-B2959096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09850"/>
            <a:ext cx="179451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公开计价的
专有世界接口</a:t>
            </a:r>
          </a:p>
        </p:txBody>
      </p:sp>
      <p:sp>
        <p:nvSpPr>
          <p:cNvPr id="24" name="p3-cell-1-1">
            <a:extLst xmlns:a="http://schemas.openxmlformats.org/drawingml/2006/main">
              <a:ext uri="{FF2B5EF4-FFF2-40B4-BE49-F238E27FC236}">
                <a16:creationId xmlns:a16="http://schemas.microsoft.com/office/drawing/2014/main" id="{6477C8BB-1F49-4332-887B-3AED7B4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2609850"/>
            <a:ext cx="179451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厂商文档化原型接口；
实际账户未确认</a:t>
            </a:r>
          </a:p>
        </p:txBody>
      </p:sp>
      <p:sp>
        <p:nvSpPr>
          <p:cNvPr id="25" name="p3-cell-1-2">
            <a:extLst xmlns:a="http://schemas.openxmlformats.org/drawingml/2006/main">
              <a:ext uri="{FF2B5EF4-FFF2-40B4-BE49-F238E27FC236}">
                <a16:creationId xmlns:a16="http://schemas.microsoft.com/office/drawing/2014/main" id="{59238557-EFF2-4A05-A41D-BC13284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2609850"/>
            <a:ext cx="179451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Worlds 申请制；
Robotics 需洽谈</a:t>
            </a:r>
          </a:p>
        </p:txBody>
      </p:sp>
      <p:sp>
        <p:nvSpPr>
          <p:cNvPr id="26" name="p3-cell-1-3">
            <a:extLst xmlns:a="http://schemas.openxmlformats.org/drawingml/2006/main">
              <a:ext uri="{FF2B5EF4-FFF2-40B4-BE49-F238E27FC236}">
                <a16:creationId xmlns:a16="http://schemas.microsoft.com/office/drawing/2014/main" id="{EEEBF19C-D78D-4319-841C-57F9439A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2609850"/>
            <a:ext cx="179451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公开账户、按秒计费的
预览接口</a:t>
            </a:r>
          </a:p>
        </p:txBody>
      </p:sp>
      <p:sp>
        <p:nvSpPr>
          <p:cNvPr id="27" name="p3-cell-1-4">
            <a:extLst xmlns:a="http://schemas.openxmlformats.org/drawingml/2006/main">
              <a:ext uri="{FF2B5EF4-FFF2-40B4-BE49-F238E27FC236}">
                <a16:creationId xmlns:a16="http://schemas.microsoft.com/office/drawing/2014/main" id="{7C417778-D73D-45A5-B313-D09EE42C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609850"/>
            <a:ext cx="179451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模型材料可下载并可自托管；
Generator NIM 1.0.0
只含文生/图生视频</a:t>
            </a:r>
          </a:p>
        </p:txBody>
      </p:sp>
      <p:sp>
        <p:nvSpPr>
          <p:cNvPr id="28" name="p3-rowhead-fill-2">
            <a:extLst xmlns:a="http://schemas.openxmlformats.org/drawingml/2006/main">
              <a:ext uri="{FF2B5EF4-FFF2-40B4-BE49-F238E27FC236}">
                <a16:creationId xmlns:a16="http://schemas.microsoft.com/office/drawing/2014/main" id="{8B94372F-6520-41EF-B09D-5C2926EB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238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9" name="p3-rowhead-2">
            <a:extLst xmlns:a="http://schemas.openxmlformats.org/drawingml/2006/main">
              <a:ext uri="{FF2B5EF4-FFF2-40B4-BE49-F238E27FC236}">
                <a16:creationId xmlns:a16="http://schemas.microsoft.com/office/drawing/2014/main" id="{E1607C6C-AE82-4AED-8C17-6994D65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58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商业采用上限</a:t>
            </a:r>
          </a:p>
        </p:txBody>
      </p:sp>
      <p:sp>
        <p:nvSpPr>
          <p:cNvPr id="30" name="p3-cell-2-0">
            <a:extLst xmlns:a="http://schemas.openxmlformats.org/drawingml/2006/main">
              <a:ext uri="{FF2B5EF4-FFF2-40B4-BE49-F238E27FC236}">
                <a16:creationId xmlns:a16="http://schemas.microsoft.com/office/drawing/2014/main" id="{46E9489A-FC4E-4378-87D6-A63DB1AC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38600"/>
            <a:ext cx="179451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供应商托管原型；
无客户第一方生产证据</a:t>
            </a:r>
          </a:p>
        </p:txBody>
      </p:sp>
      <p:sp>
        <p:nvSpPr>
          <p:cNvPr id="31" name="p3-cell-2-1">
            <a:extLst xmlns:a="http://schemas.openxmlformats.org/drawingml/2006/main">
              <a:ext uri="{FF2B5EF4-FFF2-40B4-BE49-F238E27FC236}">
                <a16:creationId xmlns:a16="http://schemas.microsoft.com/office/drawing/2014/main" id="{084A8851-2A63-42E3-85E5-CF7F904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4038600"/>
            <a:ext cx="179451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合同框架与自报云合作；
无具名采用证据</a:t>
            </a:r>
          </a:p>
        </p:txBody>
      </p:sp>
      <p:sp>
        <p:nvSpPr>
          <p:cNvPr id="32" name="p3-cell-2-2">
            <a:extLst xmlns:a="http://schemas.openxmlformats.org/drawingml/2006/main">
              <a:ext uri="{FF2B5EF4-FFF2-40B4-BE49-F238E27FC236}">
                <a16:creationId xmlns:a16="http://schemas.microsoft.com/office/drawing/2014/main" id="{5AA47749-271C-4945-A95B-2A4B638F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4038600"/>
            <a:ext cx="179451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公司自报合作；
无伙伴侧部署证据</a:t>
            </a:r>
          </a:p>
        </p:txBody>
      </p:sp>
      <p:sp>
        <p:nvSpPr>
          <p:cNvPr id="33" name="p3-cell-2-3">
            <a:extLst xmlns:a="http://schemas.openxmlformats.org/drawingml/2006/main">
              <a:ext uri="{FF2B5EF4-FFF2-40B4-BE49-F238E27FC236}">
                <a16:creationId xmlns:a16="http://schemas.microsoft.com/office/drawing/2014/main" id="{C8C6D0B3-4D4F-48C8-8769-279A884E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4038600"/>
            <a:ext cx="179451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有价格与独立体验；
无付费客户或生产证据</a:t>
            </a:r>
          </a:p>
        </p:txBody>
      </p:sp>
      <p:sp>
        <p:nvSpPr>
          <p:cNvPr id="34" name="p3-cell-2-4">
            <a:extLst xmlns:a="http://schemas.openxmlformats.org/drawingml/2006/main">
              <a:ext uri="{FF2B5EF4-FFF2-40B4-BE49-F238E27FC236}">
                <a16:creationId xmlns:a16="http://schemas.microsoft.com/office/drawing/2014/main" id="{12B6D985-4855-4F20-906E-AC9408BC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4038600"/>
            <a:ext cx="179451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伙伴自报早期测试/内部部署；
无客户第一方付费生产证据</a:t>
            </a:r>
          </a:p>
        </p:txBody>
      </p:sp>
      <p:sp>
        <p:nvSpPr>
          <p:cNvPr id="35" name="p3-rowhead-fill-3">
            <a:extLst xmlns:a="http://schemas.openxmlformats.org/drawingml/2006/main">
              <a:ext uri="{FF2B5EF4-FFF2-40B4-BE49-F238E27FC236}">
                <a16:creationId xmlns:a16="http://schemas.microsoft.com/office/drawing/2014/main" id="{7A1A4298-8F08-4323-994B-5E455425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36" name="p3-rowhead-3">
            <a:extLst xmlns:a="http://schemas.openxmlformats.org/drawingml/2006/main">
              <a:ext uri="{FF2B5EF4-FFF2-40B4-BE49-F238E27FC236}">
                <a16:creationId xmlns:a16="http://schemas.microsoft.com/office/drawing/2014/main" id="{F274E908-E74A-4D6B-9AB5-CF42F721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5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 Manifold
的意义</a:t>
            </a:r>
          </a:p>
        </p:txBody>
      </p:sp>
      <p:sp>
        <p:nvSpPr>
          <p:cNvPr id="37" name="p3-cell-3-0">
            <a:extLst xmlns:a="http://schemas.openxmlformats.org/drawingml/2006/main">
              <a:ext uri="{FF2B5EF4-FFF2-40B4-BE49-F238E27FC236}">
                <a16:creationId xmlns:a16="http://schemas.microsoft.com/office/drawing/2014/main" id="{64C6FFEF-6AD1-4688-B966-3EF98E3A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387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空间世界接口可能绕行
生成与交付环节</a:t>
            </a:r>
          </a:p>
        </p:txBody>
      </p:sp>
      <p:sp>
        <p:nvSpPr>
          <p:cNvPr id="38" name="p3-cell-3-1">
            <a:extLst xmlns:a="http://schemas.openxmlformats.org/drawingml/2006/main">
              <a:ext uri="{FF2B5EF4-FFF2-40B4-BE49-F238E27FC236}">
                <a16:creationId xmlns:a16="http://schemas.microsoft.com/office/drawing/2014/main" id="{EAAFC77C-874B-4836-BCEF-68177B4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52387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若接口稳定，可成为实时世界流基础设施</a:t>
            </a:r>
          </a:p>
        </p:txBody>
      </p:sp>
      <p:sp>
        <p:nvSpPr>
          <p:cNvPr id="39" name="p3-cell-3-2">
            <a:extLst xmlns:a="http://schemas.openxmlformats.org/drawingml/2006/main">
              <a:ext uri="{FF2B5EF4-FFF2-40B4-BE49-F238E27FC236}">
                <a16:creationId xmlns:a16="http://schemas.microsoft.com/office/drawing/2014/main" id="{B79F5FE1-ED91-4A64-AB4C-6C3AD23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870" y="52387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内容平台向可探索世界
和机器人应用延伸</a:t>
            </a:r>
          </a:p>
        </p:txBody>
      </p:sp>
      <p:sp>
        <p:nvSpPr>
          <p:cNvPr id="40" name="p3-cell-3-3">
            <a:extLst xmlns:a="http://schemas.openxmlformats.org/drawingml/2006/main">
              <a:ext uri="{FF2B5EF4-FFF2-40B4-BE49-F238E27FC236}">
                <a16:creationId xmlns:a16="http://schemas.microsoft.com/office/drawing/2014/main" id="{F128F201-43C4-4D65-BDD1-9703E4C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80" y="52387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可计费驾驶接口把竞争
推向具体任务</a:t>
            </a:r>
          </a:p>
        </p:txBody>
      </p:sp>
      <p:sp>
        <p:nvSpPr>
          <p:cNvPr id="41" name="p3-cell-3-4">
            <a:extLst xmlns:a="http://schemas.openxmlformats.org/drawingml/2006/main">
              <a:ext uri="{FF2B5EF4-FFF2-40B4-BE49-F238E27FC236}">
                <a16:creationId xmlns:a16="http://schemas.microsoft.com/office/drawing/2014/main" id="{4BAF1CDF-91E1-4509-96EE-30C40698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5238750"/>
            <a:ext cx="179451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自托管组件可绕行供应商，
也可成为共同底层</a:t>
            </a:r>
          </a:p>
        </p:txBody>
      </p:sp>
      <p:sp>
        <p:nvSpPr>
          <p:cNvPr id="42" name="p3-v-0">
            <a:extLst xmlns:a="http://schemas.openxmlformats.org/drawingml/2006/main">
              <a:ext uri="{FF2B5EF4-FFF2-40B4-BE49-F238E27FC236}">
                <a16:creationId xmlns:a16="http://schemas.microsoft.com/office/drawing/2014/main" id="{3150DEB5-3871-4326-B24F-79998DF8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3" name="p3-v-1">
            <a:extLst xmlns:a="http://schemas.openxmlformats.org/drawingml/2006/main">
              <a:ext uri="{FF2B5EF4-FFF2-40B4-BE49-F238E27FC236}">
                <a16:creationId xmlns:a16="http://schemas.microsoft.com/office/drawing/2014/main" id="{A5E6A35F-E1D6-422E-BCDE-F65374C6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4" name="p3-v-2">
            <a:extLst xmlns:a="http://schemas.openxmlformats.org/drawingml/2006/main">
              <a:ext uri="{FF2B5EF4-FFF2-40B4-BE49-F238E27FC236}">
                <a16:creationId xmlns:a16="http://schemas.microsoft.com/office/drawing/2014/main" id="{93641E47-2C45-4731-972B-96E60507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5" name="p3-v-3">
            <a:extLst xmlns:a="http://schemas.openxmlformats.org/drawingml/2006/main">
              <a:ext uri="{FF2B5EF4-FFF2-40B4-BE49-F238E27FC236}">
                <a16:creationId xmlns:a16="http://schemas.microsoft.com/office/drawing/2014/main" id="{3BD74B05-3A07-4347-8A35-612C025F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67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6" name="p3-v-4">
            <a:extLst xmlns:a="http://schemas.openxmlformats.org/drawingml/2006/main">
              <a:ext uri="{FF2B5EF4-FFF2-40B4-BE49-F238E27FC236}">
                <a16:creationId xmlns:a16="http://schemas.microsoft.com/office/drawing/2014/main" id="{7D20E161-5C2F-4716-A671-0A130DAD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58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7" name="p3-v-5">
            <a:extLst xmlns:a="http://schemas.openxmlformats.org/drawingml/2006/main">
              <a:ext uri="{FF2B5EF4-FFF2-40B4-BE49-F238E27FC236}">
                <a16:creationId xmlns:a16="http://schemas.microsoft.com/office/drawing/2014/main" id="{ED37F4B1-D8E9-4624-AF38-A32EED4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8" name="p3-v-6">
            <a:extLst xmlns:a="http://schemas.openxmlformats.org/drawingml/2006/main">
              <a:ext uri="{FF2B5EF4-FFF2-40B4-BE49-F238E27FC236}">
                <a16:creationId xmlns:a16="http://schemas.microsoft.com/office/drawing/2014/main" id="{64D47F39-4ED2-4842-9A5F-7D10D7B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066800"/>
            <a:ext cx="7144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9" name="p3-h-0">
            <a:extLst xmlns:a="http://schemas.openxmlformats.org/drawingml/2006/main">
              <a:ext uri="{FF2B5EF4-FFF2-40B4-BE49-F238E27FC236}">
                <a16:creationId xmlns:a16="http://schemas.microsoft.com/office/drawing/2014/main" id="{76E5109E-C8EC-4DC7-A20F-7D94805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0" name="p3-h-1">
            <a:extLst xmlns:a="http://schemas.openxmlformats.org/drawingml/2006/main">
              <a:ext uri="{FF2B5EF4-FFF2-40B4-BE49-F238E27FC236}">
                <a16:creationId xmlns:a16="http://schemas.microsoft.com/office/drawing/2014/main" id="{6723841F-D5B6-44C9-B906-06CC76B6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1" name="p3-h-2">
            <a:extLst xmlns:a="http://schemas.openxmlformats.org/drawingml/2006/main">
              <a:ext uri="{FF2B5EF4-FFF2-40B4-BE49-F238E27FC236}">
                <a16:creationId xmlns:a16="http://schemas.microsoft.com/office/drawing/2014/main" id="{D50ED440-7099-403A-BCD7-74B6AAF5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2" name="p3-h-3">
            <a:extLst xmlns:a="http://schemas.openxmlformats.org/drawingml/2006/main">
              <a:ext uri="{FF2B5EF4-FFF2-40B4-BE49-F238E27FC236}">
                <a16:creationId xmlns:a16="http://schemas.microsoft.com/office/drawing/2014/main" id="{2EE6047D-2F40-48B5-BDF9-678D3EA3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3" name="p3-h-4">
            <a:extLst xmlns:a="http://schemas.openxmlformats.org/drawingml/2006/main">
              <a:ext uri="{FF2B5EF4-FFF2-40B4-BE49-F238E27FC236}">
                <a16:creationId xmlns:a16="http://schemas.microsoft.com/office/drawing/2014/main" id="{0053026D-A9EF-46FA-A6A5-22C4724B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4" name="p3-h-5">
            <a:extLst xmlns:a="http://schemas.openxmlformats.org/drawingml/2006/main">
              <a:ext uri="{FF2B5EF4-FFF2-40B4-BE49-F238E27FC236}">
                <a16:creationId xmlns:a16="http://schemas.microsoft.com/office/drawing/2014/main" id="{26522F36-8610-4C70-82FF-BE0D1A30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5" name="p3-note">
            <a:extLst xmlns:a="http://schemas.openxmlformats.org/drawingml/2006/main">
              <a:ext uri="{FF2B5EF4-FFF2-40B4-BE49-F238E27FC236}">
                <a16:creationId xmlns:a16="http://schemas.microsoft.com/office/drawing/2014/main" id="{5DC40E86-7795-4D1D-9720-A228C16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固定五席体现路线互补，不构成能力、公司或商业成熟度排名。</a:t>
            </a:r>
          </a:p>
        </p:txBody>
      </p:sp>
      <p:sp>
        <p:nvSpPr>
          <p:cNvPr id="56" name="p3-footer-source">
            <a:extLst xmlns:a="http://schemas.openxmlformats.org/drawingml/2006/main">
              <a:ext uri="{FF2B5EF4-FFF2-40B4-BE49-F238E27FC236}">
                <a16:creationId xmlns:a16="http://schemas.microsoft.com/office/drawing/2014/main" id="{4EF8FAB1-0EDB-4811-826F-8E513A11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公开来源：官方技术/产品/接入/价格资料、公司/伙伴自报及独立体验｜相对 Manifold 公开锚点的条件性分析</a:t>
            </a:r>
          </a:p>
        </p:txBody>
      </p:sp>
      <p:sp>
        <p:nvSpPr>
          <p:cNvPr id="57" name="p3-footer-page">
            <a:extLst xmlns:a="http://schemas.openxmlformats.org/drawingml/2006/main">
              <a:ext uri="{FF2B5EF4-FFF2-40B4-BE49-F238E27FC236}">
                <a16:creationId xmlns:a16="http://schemas.microsoft.com/office/drawing/2014/main" id="{2B43B5AA-7B47-4D13-A40C-4ED508D0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2026-07-14｜3</a:t>
            </a:r>
          </a:p>
        </p:txBody>
      </p:sp>
    </p:spTree>
    <p:extLst>
      <p:ext uri="{BB962C8B-B14F-4D97-AF65-F5344CB8AC3E}">
        <p14:creationId xmlns:p14="http://schemas.microsoft.com/office/powerpoint/2010/main" val="723887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4-title">
            <a:extLst xmlns:a="http://schemas.openxmlformats.org/drawingml/2006/main">
              <a:ext uri="{FF2B5EF4-FFF2-40B4-BE49-F238E27FC236}">
                <a16:creationId xmlns:a16="http://schemas.microsoft.com/office/drawing/2014/main" id="{9FA1C28A-6666-49C6-AB26-C06966E2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582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 Labs 已开放空间世界接口，动态交互与采用仍待证</a:t>
            </a:r>
          </a:p>
        </p:txBody>
      </p:sp>
      <p:sp>
        <p:nvSpPr>
          <p:cNvPr id="2" name="p4-route-mark">
            <a:extLst xmlns:a="http://schemas.openxmlformats.org/drawingml/2006/main">
              <a:ext uri="{FF2B5EF4-FFF2-40B4-BE49-F238E27FC236}">
                <a16:creationId xmlns:a16="http://schemas.microsoft.com/office/drawing/2014/main" id="{67B197DB-2DCC-4D6D-9D90-B2F63C95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p4-route">
            <a:extLst xmlns:a="http://schemas.openxmlformats.org/drawingml/2006/main">
              <a:ext uri="{FF2B5EF4-FFF2-40B4-BE49-F238E27FC236}">
                <a16:creationId xmlns:a16="http://schemas.microsoft.com/office/drawing/2014/main" id="{6A4AD537-81E6-4142-B681-5078BC5C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</a:t>
            </a:r>
          </a:p>
        </p:txBody>
      </p:sp>
      <p:sp>
        <p:nvSpPr>
          <p:cNvPr id="4" name="p4-v">
            <a:extLst xmlns:a="http://schemas.openxmlformats.org/drawingml/2006/main">
              <a:ext uri="{FF2B5EF4-FFF2-40B4-BE49-F238E27FC236}">
                <a16:creationId xmlns:a16="http://schemas.microsoft.com/office/drawing/2014/main" id="{ECAC37BF-B8E6-499E-9364-1F25313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7144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4-h">
            <a:extLst xmlns:a="http://schemas.openxmlformats.org/drawingml/2006/main">
              <a:ext uri="{FF2B5EF4-FFF2-40B4-BE49-F238E27FC236}">
                <a16:creationId xmlns:a16="http://schemas.microsoft.com/office/drawing/2014/main" id="{634457CB-6483-49B7-991A-82854033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p4-est-label">
            <a:extLst xmlns:a="http://schemas.openxmlformats.org/drawingml/2006/main">
              <a:ext uri="{FF2B5EF4-FFF2-40B4-BE49-F238E27FC236}">
                <a16:creationId xmlns:a16="http://schemas.microsoft.com/office/drawing/2014/main" id="{8C73EA2E-A658-4B2E-B3D8-E16485C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7" name="p4-est-inner">
            <a:extLst xmlns:a="http://schemas.openxmlformats.org/drawingml/2006/main">
              <a:ext uri="{FF2B5EF4-FFF2-40B4-BE49-F238E27FC236}">
                <a16:creationId xmlns:a16="http://schemas.microsoft.com/office/drawing/2014/main" id="{D50CA594-07CA-40CB-B589-BB8A2E1D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7144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p4-est-a-label">
            <a:extLst xmlns:a="http://schemas.openxmlformats.org/drawingml/2006/main">
              <a:ext uri="{FF2B5EF4-FFF2-40B4-BE49-F238E27FC236}">
                <a16:creationId xmlns:a16="http://schemas.microsoft.com/office/drawing/2014/main" id="{747D853C-F6BE-4221-BD96-A85F9DC5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RTFM</a:t>
            </a:r>
          </a:p>
        </p:txBody>
      </p:sp>
      <p:sp>
        <p:nvSpPr>
          <p:cNvPr id="9" name="p4-est-a-body">
            <a:extLst xmlns:a="http://schemas.openxmlformats.org/drawingml/2006/main">
              <a:ext uri="{FF2B5EF4-FFF2-40B4-BE49-F238E27FC236}">
                <a16:creationId xmlns:a16="http://schemas.microsoft.com/office/drawing/2014/main" id="{F67E93C3-897F-41D4-B2A3-23E72F67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76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公开位姿条件未来视图
与空间记忆；
动态物体仍待证。</a:t>
            </a:r>
          </a:p>
        </p:txBody>
      </p:sp>
      <p:sp>
        <p:nvSpPr>
          <p:cNvPr id="10" name="p4-est-b-label">
            <a:extLst xmlns:a="http://schemas.openxmlformats.org/drawingml/2006/main">
              <a:ext uri="{FF2B5EF4-FFF2-40B4-BE49-F238E27FC236}">
                <a16:creationId xmlns:a16="http://schemas.microsoft.com/office/drawing/2014/main" id="{013F953A-56B3-4D19-BA73-01ACB734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Marble / World API</a:t>
            </a:r>
          </a:p>
        </p:txBody>
      </p:sp>
      <p:sp>
        <p:nvSpPr>
          <p:cNvPr id="11" name="p4-est-b-body">
            <a:extLst xmlns:a="http://schemas.openxmlformats.org/drawingml/2006/main">
              <a:ext uri="{FF2B5EF4-FFF2-40B4-BE49-F238E27FC236}">
                <a16:creationId xmlns:a16="http://schemas.microsoft.com/office/drawing/2014/main" id="{A790C4FD-95EE-41BC-B55D-40774FEA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4003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已提供公开计价；
与 RTFM 分立，
两条路线分别判断。</a:t>
            </a:r>
          </a:p>
        </p:txBody>
      </p:sp>
      <p:sp>
        <p:nvSpPr>
          <p:cNvPr id="12" name="p4-not-label">
            <a:extLst xmlns:a="http://schemas.openxmlformats.org/drawingml/2006/main">
              <a:ext uri="{FF2B5EF4-FFF2-40B4-BE49-F238E27FC236}">
                <a16:creationId xmlns:a16="http://schemas.microsoft.com/office/drawing/2014/main" id="{2F444E35-D749-4CED-AECE-A600AF69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3" name="p4-not-body">
            <a:extLst xmlns:a="http://schemas.openxmlformats.org/drawingml/2006/main">
              <a:ext uri="{FF2B5EF4-FFF2-40B4-BE49-F238E27FC236}">
                <a16:creationId xmlns:a16="http://schemas.microsoft.com/office/drawing/2014/main" id="{2B3E100C-BBA6-417C-8A71-505A4C8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持久动态物体、独立系统复现、
客户第一方付费生产采用未证；
服务与用户内容权仍有采购摩擦。</a:t>
            </a:r>
          </a:p>
        </p:txBody>
      </p:sp>
      <p:sp>
        <p:nvSpPr>
          <p:cNvPr id="14" name="p4-meaning-label">
            <a:extLst xmlns:a="http://schemas.openxmlformats.org/drawingml/2006/main">
              <a:ext uri="{FF2B5EF4-FFF2-40B4-BE49-F238E27FC236}">
                <a16:creationId xmlns:a16="http://schemas.microsoft.com/office/drawing/2014/main" id="{6A11CD83-8D67-4760-A6E5-3EF5E80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 Manifold 意味着什么</a:t>
            </a:r>
          </a:p>
        </p:txBody>
      </p:sp>
      <p:sp>
        <p:nvSpPr>
          <p:cNvPr id="15" name="p4-meaning-body">
            <a:extLst xmlns:a="http://schemas.openxmlformats.org/drawingml/2006/main">
              <a:ext uri="{FF2B5EF4-FFF2-40B4-BE49-F238E27FC236}">
                <a16:creationId xmlns:a16="http://schemas.microsoft.com/office/drawing/2014/main" id="{EB424C40-C177-4D60-85CD-56CA5983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257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空间世界接口可能绕行专有生成与交付环节，
但不能确认双方已争夺相同客户或预算。</a:t>
            </a:r>
          </a:p>
        </p:txBody>
      </p:sp>
      <p:sp>
        <p:nvSpPr>
          <p:cNvPr id="16" name="p4-trigger-mark">
            <a:extLst xmlns:a="http://schemas.openxmlformats.org/drawingml/2006/main">
              <a:ext uri="{FF2B5EF4-FFF2-40B4-BE49-F238E27FC236}">
                <a16:creationId xmlns:a16="http://schemas.microsoft.com/office/drawing/2014/main" id="{785B60B8-FC6B-4808-847A-FEB28D69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7" name="p4-trigger-label">
            <a:extLst xmlns:a="http://schemas.openxmlformats.org/drawingml/2006/main">
              <a:ext uri="{FF2B5EF4-FFF2-40B4-BE49-F238E27FC236}">
                <a16:creationId xmlns:a16="http://schemas.microsoft.com/office/drawing/2014/main" id="{303726B6-BB23-40F0-B1F4-80BF455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一个关键触发器</a:t>
            </a:r>
          </a:p>
        </p:txBody>
      </p:sp>
      <p:sp>
        <p:nvSpPr>
          <p:cNvPr id="18" name="p4-trigger-body">
            <a:extLst xmlns:a="http://schemas.openxmlformats.org/drawingml/2006/main">
              <a:ext uri="{FF2B5EF4-FFF2-40B4-BE49-F238E27FC236}">
                <a16:creationId xmlns:a16="http://schemas.microsoft.com/office/drawing/2014/main" id="{05C0C4B3-F505-42DA-96B1-03B2C129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5257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RTFM 获得独立复现，
或 World API 形成版本化服务。</a:t>
            </a:r>
          </a:p>
        </p:txBody>
      </p:sp>
      <p:sp>
        <p:nvSpPr>
          <p:cNvPr id="19" name="p4-footer-source">
            <a:extLst xmlns:a="http://schemas.openxmlformats.org/drawingml/2006/main">
              <a:ext uri="{FF2B5EF4-FFF2-40B4-BE49-F238E27FC236}">
                <a16:creationId xmlns:a16="http://schemas.microsoft.com/office/drawing/2014/main" id="{9441547F-90A0-4E60-8B70-D96BEF1C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RTFM 与 World API 分立｜来源：官方研究/项目页、API、价格、条款及厂商案例｜相对 Manifold 公开锚点的条件性分析</a:t>
            </a:r>
          </a:p>
        </p:txBody>
      </p:sp>
      <p:sp>
        <p:nvSpPr>
          <p:cNvPr id="20" name="p4-footer-page">
            <a:extLst xmlns:a="http://schemas.openxmlformats.org/drawingml/2006/main">
              <a:ext uri="{FF2B5EF4-FFF2-40B4-BE49-F238E27FC236}">
                <a16:creationId xmlns:a16="http://schemas.microsoft.com/office/drawing/2014/main" id="{EA2590B2-5820-417B-9433-C6451137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2026-07-14｜4</a:t>
            </a:r>
          </a:p>
        </p:txBody>
      </p:sp>
    </p:spTree>
    <p:extLst>
      <p:ext uri="{BB962C8B-B14F-4D97-AF65-F5344CB8AC3E}">
        <p14:creationId xmlns:p14="http://schemas.microsoft.com/office/powerpoint/2010/main" val="2077746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5-title">
            <a:extLst xmlns:a="http://schemas.openxmlformats.org/drawingml/2006/main">
              <a:ext uri="{FF2B5EF4-FFF2-40B4-BE49-F238E27FC236}">
                <a16:creationId xmlns:a16="http://schemas.microsoft.com/office/drawing/2014/main" id="{2F936229-6D4F-4A4A-8619-C58C760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Odyssey 已将实时世界流写入开发者接口，
实际开放与稳定服务仍待证</a:t>
            </a:r>
          </a:p>
        </p:txBody>
      </p:sp>
      <p:sp>
        <p:nvSpPr>
          <p:cNvPr id="2" name="p5-route-mark">
            <a:extLst xmlns:a="http://schemas.openxmlformats.org/drawingml/2006/main">
              <a:ext uri="{FF2B5EF4-FFF2-40B4-BE49-F238E27FC236}">
                <a16:creationId xmlns:a16="http://schemas.microsoft.com/office/drawing/2014/main" id="{8874067D-799C-4057-B6D1-F4A6502A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p5-route">
            <a:extLst xmlns:a="http://schemas.openxmlformats.org/drawingml/2006/main">
              <a:ext uri="{FF2B5EF4-FFF2-40B4-BE49-F238E27FC236}">
                <a16:creationId xmlns:a16="http://schemas.microsoft.com/office/drawing/2014/main" id="{15DE6932-A6BD-4349-9E0F-60F08D7A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实时世界流接口路径</a:t>
            </a:r>
          </a:p>
        </p:txBody>
      </p:sp>
      <p:sp>
        <p:nvSpPr>
          <p:cNvPr id="4" name="p5-main-v">
            <a:extLst xmlns:a="http://schemas.openxmlformats.org/drawingml/2006/main">
              <a:ext uri="{FF2B5EF4-FFF2-40B4-BE49-F238E27FC236}">
                <a16:creationId xmlns:a16="http://schemas.microsoft.com/office/drawing/2014/main" id="{CD95E1BE-D3F7-4ED3-A6C9-67FCA502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7144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5-est-label">
            <a:extLst xmlns:a="http://schemas.openxmlformats.org/drawingml/2006/main">
              <a:ext uri="{FF2B5EF4-FFF2-40B4-BE49-F238E27FC236}">
                <a16:creationId xmlns:a16="http://schemas.microsoft.com/office/drawing/2014/main" id="{8F9B17F3-221C-4866-B396-5BCAD915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19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6" name="p5-est-body">
            <a:extLst xmlns:a="http://schemas.openxmlformats.org/drawingml/2006/main">
              <a:ext uri="{FF2B5EF4-FFF2-40B4-BE49-F238E27FC236}">
                <a16:creationId xmlns:a16="http://schemas.microsoft.com/office/drawing/2014/main" id="{12D58E9D-99A6-4EBC-BC01-7E7364BC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19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Odyssey-2 Pro 以历史状态和用户动作生成后续画面；
厂商文档给出密钥、JavaScript / Python 接入和连接规则。</a:t>
            </a:r>
          </a:p>
        </p:txBody>
      </p:sp>
      <p:sp>
        <p:nvSpPr>
          <p:cNvPr id="7" name="p5-left-rule">
            <a:extLst xmlns:a="http://schemas.openxmlformats.org/drawingml/2006/main">
              <a:ext uri="{FF2B5EF4-FFF2-40B4-BE49-F238E27FC236}">
                <a16:creationId xmlns:a16="http://schemas.microsoft.com/office/drawing/2014/main" id="{58EA9AA5-2325-4047-B128-7883B8C5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1912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p5-meaning-label">
            <a:extLst xmlns:a="http://schemas.openxmlformats.org/drawingml/2006/main">
              <a:ext uri="{FF2B5EF4-FFF2-40B4-BE49-F238E27FC236}">
                <a16:creationId xmlns:a16="http://schemas.microsoft.com/office/drawing/2014/main" id="{D84347F2-64CB-4502-B90B-34841596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19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 Manifold 意味着什么</a:t>
            </a:r>
          </a:p>
        </p:txBody>
      </p:sp>
      <p:sp>
        <p:nvSpPr>
          <p:cNvPr id="9" name="p5-meaning-body">
            <a:extLst xmlns:a="http://schemas.openxmlformats.org/drawingml/2006/main">
              <a:ext uri="{FF2B5EF4-FFF2-40B4-BE49-F238E27FC236}">
                <a16:creationId xmlns:a16="http://schemas.microsoft.com/office/drawing/2014/main" id="{DCC8160B-B2B0-4CA0-B136-A831F59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191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若账户、可靠性和单位经济性闭合，
它可能形成实时世界流基础设施；
当前只能作条件性判断。</a:t>
            </a:r>
          </a:p>
        </p:txBody>
      </p:sp>
      <p:sp>
        <p:nvSpPr>
          <p:cNvPr id="10" name="p5-trigger-mark">
            <a:extLst xmlns:a="http://schemas.openxmlformats.org/drawingml/2006/main">
              <a:ext uri="{FF2B5EF4-FFF2-40B4-BE49-F238E27FC236}">
                <a16:creationId xmlns:a16="http://schemas.microsoft.com/office/drawing/2014/main" id="{4C1FADE4-4C43-47FD-BAF9-2EED416A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p5-trigger-label">
            <a:extLst xmlns:a="http://schemas.openxmlformats.org/drawingml/2006/main">
              <a:ext uri="{FF2B5EF4-FFF2-40B4-BE49-F238E27FC236}">
                <a16:creationId xmlns:a16="http://schemas.microsoft.com/office/drawing/2014/main" id="{3F3B39B5-4A1F-40E1-A54C-68BE9CE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19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一个关键触发器</a:t>
            </a:r>
          </a:p>
        </p:txBody>
      </p:sp>
      <p:sp>
        <p:nvSpPr>
          <p:cNvPr id="12" name="p5-trigger-body">
            <a:extLst xmlns:a="http://schemas.openxmlformats.org/drawingml/2006/main">
              <a:ext uri="{FF2B5EF4-FFF2-40B4-BE49-F238E27FC236}">
                <a16:creationId xmlns:a16="http://schemas.microsoft.com/office/drawing/2014/main" id="{CF598724-0054-4557-8439-799BE2B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独立账户在公开价格和服务等级下
完成长时稳定调用。</a:t>
            </a:r>
          </a:p>
        </p:txBody>
      </p:sp>
      <p:sp>
        <p:nvSpPr>
          <p:cNvPr id="13" name="p5-not-label">
            <a:extLst xmlns:a="http://schemas.openxmlformats.org/drawingml/2006/main">
              <a:ext uri="{FF2B5EF4-FFF2-40B4-BE49-F238E27FC236}">
                <a16:creationId xmlns:a16="http://schemas.microsoft.com/office/drawing/2014/main" id="{7B0512A5-B98F-4670-9FA4-F7CC884D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85950"/>
            <a:ext cx="422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4" name="p5-item-mark-0">
            <a:extLst xmlns:a="http://schemas.openxmlformats.org/drawingml/2006/main">
              <a:ext uri="{FF2B5EF4-FFF2-40B4-BE49-F238E27FC236}">
                <a16:creationId xmlns:a16="http://schemas.microsoft.com/office/drawing/2014/main" id="{C3622348-ED8A-4E0C-B71C-A14A5B10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p5-item-0">
            <a:extLst xmlns:a="http://schemas.openxmlformats.org/drawingml/2006/main">
              <a:ext uri="{FF2B5EF4-FFF2-40B4-BE49-F238E27FC236}">
                <a16:creationId xmlns:a16="http://schemas.microsoft.com/office/drawing/2014/main" id="{EEA14AAE-64A6-4D26-AD73-90F5BCF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实际账户与持续调用未独立确认</a:t>
            </a:r>
          </a:p>
        </p:txBody>
      </p:sp>
      <p:sp>
        <p:nvSpPr>
          <p:cNvPr id="16" name="p5-item-rule-1">
            <a:extLst xmlns:a="http://schemas.openxmlformats.org/drawingml/2006/main">
              <a:ext uri="{FF2B5EF4-FFF2-40B4-BE49-F238E27FC236}">
                <a16:creationId xmlns:a16="http://schemas.microsoft.com/office/drawing/2014/main" id="{9E4F8F34-35FB-4C35-9331-3D9EDFE1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19400"/>
            <a:ext cx="42291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7" name="p5-item-mark-1">
            <a:extLst xmlns:a="http://schemas.openxmlformats.org/drawingml/2006/main">
              <a:ext uri="{FF2B5EF4-FFF2-40B4-BE49-F238E27FC236}">
                <a16:creationId xmlns:a16="http://schemas.microsoft.com/office/drawing/2014/main" id="{9ACC3A43-9927-4B4A-A219-139D7C95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718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8" name="p5-item-1">
            <a:extLst xmlns:a="http://schemas.openxmlformats.org/drawingml/2006/main">
              <a:ext uri="{FF2B5EF4-FFF2-40B4-BE49-F238E27FC236}">
                <a16:creationId xmlns:a16="http://schemas.microsoft.com/office/drawing/2014/main" id="{55F6602C-A96A-48D7-9A84-3D94ABE9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当前默认单流上限 150 秒</a:t>
            </a:r>
          </a:p>
        </p:txBody>
      </p:sp>
      <p:sp>
        <p:nvSpPr>
          <p:cNvPr id="19" name="p5-item-rule-2">
            <a:extLst xmlns:a="http://schemas.openxmlformats.org/drawingml/2006/main">
              <a:ext uri="{FF2B5EF4-FFF2-40B4-BE49-F238E27FC236}">
                <a16:creationId xmlns:a16="http://schemas.microsoft.com/office/drawing/2014/main" id="{F4432666-DE3F-4A5D-BBF9-6D7BC6E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42291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0" name="p5-item-mark-2">
            <a:extLst xmlns:a="http://schemas.openxmlformats.org/drawingml/2006/main">
              <a:ext uri="{FF2B5EF4-FFF2-40B4-BE49-F238E27FC236}">
                <a16:creationId xmlns:a16="http://schemas.microsoft.com/office/drawing/2014/main" id="{9F386E7B-561C-49AC-835B-DD738C3D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1" name="p5-item-2">
            <a:extLst xmlns:a="http://schemas.openxmlformats.org/drawingml/2006/main">
              <a:ext uri="{FF2B5EF4-FFF2-40B4-BE49-F238E27FC236}">
                <a16:creationId xmlns:a16="http://schemas.microsoft.com/office/drawing/2014/main" id="{A2625C0D-D52B-4776-845C-47F50C6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当前默认单连接上限 60 分钟</a:t>
            </a:r>
          </a:p>
        </p:txBody>
      </p:sp>
      <p:sp>
        <p:nvSpPr>
          <p:cNvPr id="22" name="p5-item-rule-3">
            <a:extLst xmlns:a="http://schemas.openxmlformats.org/drawingml/2006/main">
              <a:ext uri="{FF2B5EF4-FFF2-40B4-BE49-F238E27FC236}">
                <a16:creationId xmlns:a16="http://schemas.microsoft.com/office/drawing/2014/main" id="{1B9A1D67-6F1F-402B-994F-A1106C02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38600"/>
            <a:ext cx="42291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3" name="p5-item-mark-3">
            <a:extLst xmlns:a="http://schemas.openxmlformats.org/drawingml/2006/main">
              <a:ext uri="{FF2B5EF4-FFF2-40B4-BE49-F238E27FC236}">
                <a16:creationId xmlns:a16="http://schemas.microsoft.com/office/drawing/2014/main" id="{5CE79472-3A0D-4DF5-98FA-A2297DE4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4" name="p5-item-3">
            <a:extLst xmlns:a="http://schemas.openxmlformats.org/drawingml/2006/main">
              <a:ext uri="{FF2B5EF4-FFF2-40B4-BE49-F238E27FC236}">
                <a16:creationId xmlns:a16="http://schemas.microsoft.com/office/drawing/2014/main" id="{F53E6EE6-5309-4133-948B-4EC8FB22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无活动流 15 分钟自动断开</a:t>
            </a:r>
          </a:p>
        </p:txBody>
      </p:sp>
      <p:sp>
        <p:nvSpPr>
          <p:cNvPr id="25" name="p5-item-rule-4">
            <a:extLst xmlns:a="http://schemas.openxmlformats.org/drawingml/2006/main">
              <a:ext uri="{FF2B5EF4-FFF2-40B4-BE49-F238E27FC236}">
                <a16:creationId xmlns:a16="http://schemas.microsoft.com/office/drawing/2014/main" id="{FB18A189-FFC0-4748-A409-D87E050D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42291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6" name="p5-item-mark-4">
            <a:extLst xmlns:a="http://schemas.openxmlformats.org/drawingml/2006/main">
              <a:ext uri="{FF2B5EF4-FFF2-40B4-BE49-F238E27FC236}">
                <a16:creationId xmlns:a16="http://schemas.microsoft.com/office/drawing/2014/main" id="{9AF9F21E-878A-4930-9823-22E16B4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006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7" name="p5-item-4">
            <a:extLst xmlns:a="http://schemas.openxmlformats.org/drawingml/2006/main">
              <a:ext uri="{FF2B5EF4-FFF2-40B4-BE49-F238E27FC236}">
                <a16:creationId xmlns:a16="http://schemas.microsoft.com/office/drawing/2014/main" id="{B770716B-28F0-4075-AF4A-64D9E419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400"/>
            <a:ext cx="39624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这些运营限制均不构成服务等级保证</a:t>
            </a:r>
          </a:p>
        </p:txBody>
      </p:sp>
      <p:sp>
        <p:nvSpPr>
          <p:cNvPr id="28" name="p5-footer-source">
            <a:extLst xmlns:a="http://schemas.openxmlformats.org/drawingml/2006/main">
              <a:ext uri="{FF2B5EF4-FFF2-40B4-BE49-F238E27FC236}">
                <a16:creationId xmlns:a16="http://schemas.microsoft.com/office/drawing/2014/main" id="{80B04969-7C36-4252-AC90-9D033CE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来源：官方开发者文档、运营限制与条款；公司自报云合作｜相对 Manifold 公开锚点的条件性分析</a:t>
            </a:r>
          </a:p>
        </p:txBody>
      </p:sp>
      <p:sp>
        <p:nvSpPr>
          <p:cNvPr id="29" name="p5-footer-page">
            <a:extLst xmlns:a="http://schemas.openxmlformats.org/drawingml/2006/main">
              <a:ext uri="{FF2B5EF4-FFF2-40B4-BE49-F238E27FC236}">
                <a16:creationId xmlns:a16="http://schemas.microsoft.com/office/drawing/2014/main" id="{44E0EFF9-F095-4691-96E5-E5F7B496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2026-07-14｜5</a:t>
            </a:r>
          </a:p>
        </p:txBody>
      </p:sp>
    </p:spTree>
    <p:extLst>
      <p:ext uri="{BB962C8B-B14F-4D97-AF65-F5344CB8AC3E}">
        <p14:creationId xmlns:p14="http://schemas.microsoft.com/office/powerpoint/2010/main" val="1794235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6-title">
            <a:extLst xmlns:a="http://schemas.openxmlformats.org/drawingml/2006/main">
              <a:ext uri="{FF2B5EF4-FFF2-40B4-BE49-F238E27FC236}">
                <a16:creationId xmlns:a16="http://schemas.microsoft.com/office/drawing/2014/main" id="{8588D12F-7AE6-4242-9838-673609AA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582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Runway 同押可探索世界与机器人，两条路线均处早期</a:t>
            </a:r>
          </a:p>
        </p:txBody>
      </p:sp>
      <p:sp>
        <p:nvSpPr>
          <p:cNvPr id="2" name="p6-route-mark">
            <a:extLst xmlns:a="http://schemas.openxmlformats.org/drawingml/2006/main">
              <a:ext uri="{FF2B5EF4-FFF2-40B4-BE49-F238E27FC236}">
                <a16:creationId xmlns:a16="http://schemas.microsoft.com/office/drawing/2014/main" id="{AA03DAA3-3754-4AFF-94F3-33AF52E1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p6-route">
            <a:extLst xmlns:a="http://schemas.openxmlformats.org/drawingml/2006/main">
              <a:ext uri="{FF2B5EF4-FFF2-40B4-BE49-F238E27FC236}">
                <a16:creationId xmlns:a16="http://schemas.microsoft.com/office/drawing/2014/main" id="{C2E974A6-CA29-460F-B363-A65754F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内容平台外延</a:t>
            </a:r>
          </a:p>
        </p:txBody>
      </p:sp>
      <p:sp>
        <p:nvSpPr>
          <p:cNvPr id="4" name="p6-v">
            <a:extLst xmlns:a="http://schemas.openxmlformats.org/drawingml/2006/main">
              <a:ext uri="{FF2B5EF4-FFF2-40B4-BE49-F238E27FC236}">
                <a16:creationId xmlns:a16="http://schemas.microsoft.com/office/drawing/2014/main" id="{40D36E6C-96FF-41FC-B42C-B212463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7144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6-h">
            <a:extLst xmlns:a="http://schemas.openxmlformats.org/drawingml/2006/main">
              <a:ext uri="{FF2B5EF4-FFF2-40B4-BE49-F238E27FC236}">
                <a16:creationId xmlns:a16="http://schemas.microsoft.com/office/drawing/2014/main" id="{240D87A7-3C78-4739-BDF0-882B7F2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p6-est-label">
            <a:extLst xmlns:a="http://schemas.openxmlformats.org/drawingml/2006/main">
              <a:ext uri="{FF2B5EF4-FFF2-40B4-BE49-F238E27FC236}">
                <a16:creationId xmlns:a16="http://schemas.microsoft.com/office/drawing/2014/main" id="{E559D874-83A6-4BFF-A930-AC4EA0AB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7" name="p6-est-inner">
            <a:extLst xmlns:a="http://schemas.openxmlformats.org/drawingml/2006/main">
              <a:ext uri="{FF2B5EF4-FFF2-40B4-BE49-F238E27FC236}">
                <a16:creationId xmlns:a16="http://schemas.microsoft.com/office/drawing/2014/main" id="{6B842705-DB17-40A1-8797-A20DBE2C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7144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p6-est-a-label">
            <a:extLst xmlns:a="http://schemas.openxmlformats.org/drawingml/2006/main">
              <a:ext uri="{FF2B5EF4-FFF2-40B4-BE49-F238E27FC236}">
                <a16:creationId xmlns:a16="http://schemas.microsoft.com/office/drawing/2014/main" id="{38B9AE6D-A36F-4BA1-B9FC-B7951A10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Worlds</a:t>
            </a:r>
          </a:p>
        </p:txBody>
      </p:sp>
      <p:sp>
        <p:nvSpPr>
          <p:cNvPr id="9" name="p6-est-a-body">
            <a:extLst xmlns:a="http://schemas.openxmlformats.org/drawingml/2006/main">
              <a:ext uri="{FF2B5EF4-FFF2-40B4-BE49-F238E27FC236}">
                <a16:creationId xmlns:a16="http://schemas.microsoft.com/office/drawing/2014/main" id="{00C09A52-D33B-44F7-A91D-9735A639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76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公开申请制 early-access 入口；
实际访问未独立确认。</a:t>
            </a:r>
          </a:p>
        </p:txBody>
      </p:sp>
      <p:sp>
        <p:nvSpPr>
          <p:cNvPr id="10" name="p6-est-b-label">
            <a:extLst xmlns:a="http://schemas.openxmlformats.org/drawingml/2006/main">
              <a:ext uri="{FF2B5EF4-FFF2-40B4-BE49-F238E27FC236}">
                <a16:creationId xmlns:a16="http://schemas.microsoft.com/office/drawing/2014/main" id="{4BC76CA9-1D98-4F13-8023-91835FB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Robotics</a:t>
            </a:r>
          </a:p>
        </p:txBody>
      </p:sp>
      <p:sp>
        <p:nvSpPr>
          <p:cNvPr id="11" name="p6-est-b-body">
            <a:extLst xmlns:a="http://schemas.openxmlformats.org/drawingml/2006/main">
              <a:ext uri="{FF2B5EF4-FFF2-40B4-BE49-F238E27FC236}">
                <a16:creationId xmlns:a16="http://schemas.microsoft.com/office/drawing/2014/main" id="{5323A952-485B-4746-9078-75E681FC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4003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动作条件展开、Python SDK、
云端、定制和本地部署洽谈路径。</a:t>
            </a:r>
          </a:p>
        </p:txBody>
      </p:sp>
      <p:sp>
        <p:nvSpPr>
          <p:cNvPr id="12" name="p6-not-label">
            <a:extLst xmlns:a="http://schemas.openxmlformats.org/drawingml/2006/main">
              <a:ext uri="{FF2B5EF4-FFF2-40B4-BE49-F238E27FC236}">
                <a16:creationId xmlns:a16="http://schemas.microsoft.com/office/drawing/2014/main" id="{65BDDD0E-CC63-41F2-A6DF-E69232A2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3" name="p6-not-body">
            <a:extLst xmlns:a="http://schemas.openxmlformats.org/drawingml/2006/main">
              <a:ext uri="{FF2B5EF4-FFF2-40B4-BE49-F238E27FC236}">
                <a16:creationId xmlns:a16="http://schemas.microsoft.com/office/drawing/2014/main" id="{F3C2BAC3-1832-4716-A50B-B7C43D44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两条路线均缺公开价格、服务等级和独立复现；
合作只见 Runway 单方说明，
未恢复伙伴侧试点、生产部署或收入证据。</a:t>
            </a:r>
          </a:p>
        </p:txBody>
      </p:sp>
      <p:sp>
        <p:nvSpPr>
          <p:cNvPr id="14" name="p6-meaning-label">
            <a:extLst xmlns:a="http://schemas.openxmlformats.org/drawingml/2006/main">
              <a:ext uri="{FF2B5EF4-FFF2-40B4-BE49-F238E27FC236}">
                <a16:creationId xmlns:a16="http://schemas.microsoft.com/office/drawing/2014/main" id="{CFB62D84-3A42-47C1-A31A-A5DA3D28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 Manifold 意味着什么</a:t>
            </a:r>
          </a:p>
        </p:txBody>
      </p:sp>
      <p:sp>
        <p:nvSpPr>
          <p:cNvPr id="15" name="p6-meaning-body">
            <a:extLst xmlns:a="http://schemas.openxmlformats.org/drawingml/2006/main">
              <a:ext uri="{FF2B5EF4-FFF2-40B4-BE49-F238E27FC236}">
                <a16:creationId xmlns:a16="http://schemas.microsoft.com/office/drawing/2014/main" id="{57214049-67E5-4BEF-B615-3A1B8674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257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内容平台可能把创作客户、模型和分发能力
延伸到可探索世界；机器人路线只构成相邻压力，
不能借证给 Worlds。</a:t>
            </a:r>
          </a:p>
        </p:txBody>
      </p:sp>
      <p:sp>
        <p:nvSpPr>
          <p:cNvPr id="16" name="p6-trigger-mark">
            <a:extLst xmlns:a="http://schemas.openxmlformats.org/drawingml/2006/main">
              <a:ext uri="{FF2B5EF4-FFF2-40B4-BE49-F238E27FC236}">
                <a16:creationId xmlns:a16="http://schemas.microsoft.com/office/drawing/2014/main" id="{9771DD83-0D2A-421E-86AB-1DB6AC39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7" name="p6-trigger-label">
            <a:extLst xmlns:a="http://schemas.openxmlformats.org/drawingml/2006/main">
              <a:ext uri="{FF2B5EF4-FFF2-40B4-BE49-F238E27FC236}">
                <a16:creationId xmlns:a16="http://schemas.microsoft.com/office/drawing/2014/main" id="{78E24846-7A80-4B9F-9ED1-1C23BA3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一个关键触发器</a:t>
            </a:r>
          </a:p>
        </p:txBody>
      </p:sp>
      <p:sp>
        <p:nvSpPr>
          <p:cNvPr id="18" name="p6-trigger-body">
            <a:extLst xmlns:a="http://schemas.openxmlformats.org/drawingml/2006/main">
              <a:ext uri="{FF2B5EF4-FFF2-40B4-BE49-F238E27FC236}">
                <a16:creationId xmlns:a16="http://schemas.microsoft.com/office/drawing/2014/main" id="{18FFF1C0-23CA-435F-ADCD-0784C78F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5257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Worlds 或 Robotics 任一组件
获得独立调用和伙伴侧生产确认。</a:t>
            </a:r>
          </a:p>
        </p:txBody>
      </p:sp>
      <p:sp>
        <p:nvSpPr>
          <p:cNvPr id="19" name="p6-footer-source">
            <a:extLst xmlns:a="http://schemas.openxmlformats.org/drawingml/2006/main">
              <a:ext uri="{FF2B5EF4-FFF2-40B4-BE49-F238E27FC236}">
                <a16:creationId xmlns:a16="http://schemas.microsoft.com/office/drawing/2014/main" id="{36057569-755D-4CE9-8085-F6F5AF2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Worlds ≠ Robotics｜来源：官方产品、申请入口、SDK/部署资料及公司自报｜相对 Manifold 公开锚点的条件性分析</a:t>
            </a:r>
          </a:p>
        </p:txBody>
      </p:sp>
      <p:sp>
        <p:nvSpPr>
          <p:cNvPr id="20" name="p6-footer-page">
            <a:extLst xmlns:a="http://schemas.openxmlformats.org/drawingml/2006/main">
              <a:ext uri="{FF2B5EF4-FFF2-40B4-BE49-F238E27FC236}">
                <a16:creationId xmlns:a16="http://schemas.microsoft.com/office/drawing/2014/main" id="{C7077E67-92D1-4D0C-AD5A-A2097306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2026-07-14｜6</a:t>
            </a:r>
          </a:p>
        </p:txBody>
      </p:sp>
    </p:spTree>
    <p:extLst>
      <p:ext uri="{BB962C8B-B14F-4D97-AF65-F5344CB8AC3E}">
        <p14:creationId xmlns:p14="http://schemas.microsoft.com/office/powerpoint/2010/main" val="1507350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7-title">
            <a:extLst xmlns:a="http://schemas.openxmlformats.org/drawingml/2006/main">
              <a:ext uri="{FF2B5EF4-FFF2-40B4-BE49-F238E27FC236}">
                <a16:creationId xmlns:a16="http://schemas.microsoft.com/office/drawing/2014/main" id="{7B28F6A3-0F43-44F0-8B19-C3F074E2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Decart 已把驾驶世界按秒计费，
企业可靠性仍待证</a:t>
            </a:r>
          </a:p>
        </p:txBody>
      </p:sp>
      <p:sp>
        <p:nvSpPr>
          <p:cNvPr id="2" name="p7-route-mark">
            <a:extLst xmlns:a="http://schemas.openxmlformats.org/drawingml/2006/main">
              <a:ext uri="{FF2B5EF4-FFF2-40B4-BE49-F238E27FC236}">
                <a16:creationId xmlns:a16="http://schemas.microsoft.com/office/drawing/2014/main" id="{FF87E3E1-F8FB-49EC-BA99-336AA3E3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p7-route">
            <a:extLst xmlns:a="http://schemas.openxmlformats.org/drawingml/2006/main">
              <a:ext uri="{FF2B5EF4-FFF2-40B4-BE49-F238E27FC236}">
                <a16:creationId xmlns:a16="http://schemas.microsoft.com/office/drawing/2014/main" id="{A84DB738-DDE7-4B4A-8B28-7B9CA3A6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按秒计费驾驶世界</a:t>
            </a:r>
          </a:p>
        </p:txBody>
      </p:sp>
      <p:sp>
        <p:nvSpPr>
          <p:cNvPr id="4" name="p7-main-v">
            <a:extLst xmlns:a="http://schemas.openxmlformats.org/drawingml/2006/main">
              <a:ext uri="{FF2B5EF4-FFF2-40B4-BE49-F238E27FC236}">
                <a16:creationId xmlns:a16="http://schemas.microsoft.com/office/drawing/2014/main" id="{11D8228A-3183-434F-9958-72B9D000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85950"/>
            <a:ext cx="7144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7-price">
            <a:extLst xmlns:a="http://schemas.openxmlformats.org/drawingml/2006/main">
              <a:ext uri="{FF2B5EF4-FFF2-40B4-BE49-F238E27FC236}">
                <a16:creationId xmlns:a16="http://schemas.microsoft.com/office/drawing/2014/main" id="{47AEBC83-E2CB-42AE-AD02-5A2EAAB0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76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3D8DFF"/>
                </a:solidFill>
                <a:latin typeface="Noto Sans SC"/>
                <a:ea typeface="Noto Sans SC"/>
                <a:cs typeface="Noto Sans SC"/>
              </a:defRPr>
            </a:pPr>
            <a:r>
              <a:t>0.02</a:t>
            </a:r>
          </a:p>
        </p:txBody>
      </p:sp>
      <p:sp>
        <p:nvSpPr>
          <p:cNvPr id="6" name="p7-unit">
            <a:extLst xmlns:a="http://schemas.openxmlformats.org/drawingml/2006/main">
              <a:ext uri="{FF2B5EF4-FFF2-40B4-BE49-F238E27FC236}">
                <a16:creationId xmlns:a16="http://schemas.microsoft.com/office/drawing/2014/main" id="{7E9BDE55-0DA6-4727-A51C-9F439A0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美元 / 秒</a:t>
            </a:r>
          </a:p>
        </p:txBody>
      </p:sp>
      <p:sp>
        <p:nvSpPr>
          <p:cNvPr id="7" name="p7-price-rule">
            <a:extLst xmlns:a="http://schemas.openxmlformats.org/drawingml/2006/main">
              <a:ext uri="{FF2B5EF4-FFF2-40B4-BE49-F238E27FC236}">
                <a16:creationId xmlns:a16="http://schemas.microsoft.com/office/drawing/2014/main" id="{8EA6164A-0D88-4200-8456-1081853C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2956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8" name="p7-flow">
            <a:extLst xmlns:a="http://schemas.openxmlformats.org/drawingml/2006/main">
              <a:ext uri="{FF2B5EF4-FFF2-40B4-BE49-F238E27FC236}">
                <a16:creationId xmlns:a16="http://schemas.microsoft.com/office/drawing/2014/main" id="{822D846D-6302-415A-8B60-BFCC2A7B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143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油门 / 转向
→ 有状态会话
→ 前 / 左 / 右后续视图</a:t>
            </a:r>
          </a:p>
        </p:txBody>
      </p:sp>
      <p:sp>
        <p:nvSpPr>
          <p:cNvPr id="9" name="p7-boundary">
            <a:extLst xmlns:a="http://schemas.openxmlformats.org/drawingml/2006/main">
              <a:ext uri="{FF2B5EF4-FFF2-40B4-BE49-F238E27FC236}">
                <a16:creationId xmlns:a16="http://schemas.microsoft.com/office/drawing/2014/main" id="{39FAA483-A7DE-4B52-A7CA-A5B72FA9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143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具体驾驶任务，
不外推为通用世界能力。</a:t>
            </a:r>
          </a:p>
        </p:txBody>
      </p:sp>
      <p:sp>
        <p:nvSpPr>
          <p:cNvPr id="10" name="p7-row-label-0">
            <a:extLst xmlns:a="http://schemas.openxmlformats.org/drawingml/2006/main">
              <a:ext uri="{FF2B5EF4-FFF2-40B4-BE49-F238E27FC236}">
                <a16:creationId xmlns:a16="http://schemas.microsoft.com/office/drawing/2014/main" id="{5874C955-B5AD-48CD-9EFB-3174F83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163830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11" name="p7-row-body-0">
            <a:extLst xmlns:a="http://schemas.openxmlformats.org/drawingml/2006/main">
              <a:ext uri="{FF2B5EF4-FFF2-40B4-BE49-F238E27FC236}">
                <a16:creationId xmlns:a16="http://schemas.microsoft.com/office/drawing/2014/main" id="{0BBE69F8-B924-4F79-AAF4-F72B135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2006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公开账户按 0.02 美元/秒计费；有状态会话持续接收油门和转向动作，并生成前、左、右后续视图。</a:t>
            </a:r>
          </a:p>
        </p:txBody>
      </p:sp>
      <p:sp>
        <p:nvSpPr>
          <p:cNvPr id="12" name="p7-row-rule-1">
            <a:extLst xmlns:a="http://schemas.openxmlformats.org/drawingml/2006/main">
              <a:ext uri="{FF2B5EF4-FFF2-40B4-BE49-F238E27FC236}">
                <a16:creationId xmlns:a16="http://schemas.microsoft.com/office/drawing/2014/main" id="{E9FB4E38-DBE5-4788-907B-F5AFC8D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0325"/>
            <a:ext cx="70675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p7-row-label-1">
            <a:extLst xmlns:a="http://schemas.openxmlformats.org/drawingml/2006/main">
              <a:ext uri="{FF2B5EF4-FFF2-40B4-BE49-F238E27FC236}">
                <a16:creationId xmlns:a16="http://schemas.microsoft.com/office/drawing/2014/main" id="{1A457FD2-4DBE-4DEA-AA5C-BD1925FF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52725"/>
            <a:ext cx="163830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14" name="p7-row-body-1">
            <a:extLst xmlns:a="http://schemas.openxmlformats.org/drawingml/2006/main">
              <a:ext uri="{FF2B5EF4-FFF2-40B4-BE49-F238E27FC236}">
                <a16:creationId xmlns:a16="http://schemas.microsoft.com/office/drawing/2014/main" id="{3B3BA3F9-7612-4B7D-B2C7-6A699C39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5200650" cy="1114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预览服务可撤销且无连续性保证；输入/输出可用于训练改进；独立体验报告路线记忆、控制、漂移和碰撞问题；尚未恢复到付费客户或生产部署证据。</a:t>
            </a:r>
          </a:p>
        </p:txBody>
      </p:sp>
      <p:sp>
        <p:nvSpPr>
          <p:cNvPr id="15" name="p7-row-rule-2">
            <a:extLst xmlns:a="http://schemas.openxmlformats.org/drawingml/2006/main">
              <a:ext uri="{FF2B5EF4-FFF2-40B4-BE49-F238E27FC236}">
                <a16:creationId xmlns:a16="http://schemas.microsoft.com/office/drawing/2014/main" id="{F523FC2F-2888-431F-AE74-E9358798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70675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6" name="p7-row-label-2">
            <a:extLst xmlns:a="http://schemas.openxmlformats.org/drawingml/2006/main">
              <a:ext uri="{FF2B5EF4-FFF2-40B4-BE49-F238E27FC236}">
                <a16:creationId xmlns:a16="http://schemas.microsoft.com/office/drawing/2014/main" id="{968FD37D-E72E-49EA-999B-1AD90572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1638300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 Manifold 意味着什么</a:t>
            </a:r>
          </a:p>
        </p:txBody>
      </p:sp>
      <p:sp>
        <p:nvSpPr>
          <p:cNvPr id="17" name="p7-row-body-2">
            <a:extLst xmlns:a="http://schemas.openxmlformats.org/drawingml/2006/main">
              <a:ext uri="{FF2B5EF4-FFF2-40B4-BE49-F238E27FC236}">
                <a16:creationId xmlns:a16="http://schemas.microsoft.com/office/drawing/2014/main" id="{A3B5EE62-5612-4D32-A22E-09DEFEC0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52006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竞争已从研究演示进入计量计费的具体驾驶任务，但不能外推为通用世界能力或企业级采用。</a:t>
            </a:r>
          </a:p>
        </p:txBody>
      </p:sp>
      <p:sp>
        <p:nvSpPr>
          <p:cNvPr id="18" name="p7-row-rule-3">
            <a:extLst xmlns:a="http://schemas.openxmlformats.org/drawingml/2006/main">
              <a:ext uri="{FF2B5EF4-FFF2-40B4-BE49-F238E27FC236}">
                <a16:creationId xmlns:a16="http://schemas.microsoft.com/office/drawing/2014/main" id="{02157317-C9DB-4ECD-B9AA-E4778A28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91075"/>
            <a:ext cx="706755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9" name="p7-trigger-mark">
            <a:extLst xmlns:a="http://schemas.openxmlformats.org/drawingml/2006/main">
              <a:ext uri="{FF2B5EF4-FFF2-40B4-BE49-F238E27FC236}">
                <a16:creationId xmlns:a16="http://schemas.microsoft.com/office/drawing/2014/main" id="{D4FF09A9-76CF-40B6-AC07-0F77A09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053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p7-row-label-3">
            <a:extLst xmlns:a="http://schemas.openxmlformats.org/drawingml/2006/main">
              <a:ext uri="{FF2B5EF4-FFF2-40B4-BE49-F238E27FC236}">
                <a16:creationId xmlns:a16="http://schemas.microsoft.com/office/drawing/2014/main" id="{68704370-8B4B-40BE-89B4-344325DA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163830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一个关键触发器</a:t>
            </a:r>
          </a:p>
        </p:txBody>
      </p:sp>
      <p:sp>
        <p:nvSpPr>
          <p:cNvPr id="21" name="p7-row-body-3">
            <a:extLst xmlns:a="http://schemas.openxmlformats.org/drawingml/2006/main">
              <a:ext uri="{FF2B5EF4-FFF2-40B4-BE49-F238E27FC236}">
                <a16:creationId xmlns:a16="http://schemas.microsoft.com/office/drawing/2014/main" id="{0319F372-4D5F-4018-9B26-809C34E3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52006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预览接口进入正式商用，并闭合服务等级、数据和责任边界。</a:t>
            </a:r>
          </a:p>
        </p:txBody>
      </p:sp>
      <p:sp>
        <p:nvSpPr>
          <p:cNvPr id="22" name="p7-footer-source">
            <a:extLst xmlns:a="http://schemas.openxmlformats.org/drawingml/2006/main">
              <a:ext uri="{FF2B5EF4-FFF2-40B4-BE49-F238E27FC236}">
                <a16:creationId xmlns:a16="http://schemas.microsoft.com/office/drawing/2014/main" id="{8D4177D6-CB52-4C2F-BA2A-55AE1F44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具体驾驶任务，不外推为通用世界能力｜来源：官方产品/API、价格、条款及独立体验｜相对 Manifold 公开锚点的条件性分析</a:t>
            </a:r>
          </a:p>
        </p:txBody>
      </p:sp>
      <p:sp>
        <p:nvSpPr>
          <p:cNvPr id="23" name="p7-footer-page">
            <a:extLst xmlns:a="http://schemas.openxmlformats.org/drawingml/2006/main">
              <a:ext uri="{FF2B5EF4-FFF2-40B4-BE49-F238E27FC236}">
                <a16:creationId xmlns:a16="http://schemas.microsoft.com/office/drawing/2014/main" id="{9048F14C-4939-4D5B-A263-73057060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2026-07-14｜7</a:t>
            </a:r>
          </a:p>
        </p:txBody>
      </p:sp>
    </p:spTree>
    <p:extLst>
      <p:ext uri="{BB962C8B-B14F-4D97-AF65-F5344CB8AC3E}">
        <p14:creationId xmlns:p14="http://schemas.microsoft.com/office/powerpoint/2010/main" val="330854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8-title">
            <a:extLst xmlns:a="http://schemas.openxmlformats.org/drawingml/2006/main">
              <a:ext uri="{FF2B5EF4-FFF2-40B4-BE49-F238E27FC236}">
                <a16:creationId xmlns:a16="http://schemas.microsoft.com/office/drawing/2014/main" id="{2F69F01F-D163-4F48-87A2-6A48DBD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582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Cosmos 3 形成自托管组件路径，动作产品尚未闭合</a:t>
            </a:r>
          </a:p>
        </p:txBody>
      </p:sp>
      <p:sp>
        <p:nvSpPr>
          <p:cNvPr id="2" name="p8-route-mark">
            <a:extLst xmlns:a="http://schemas.openxmlformats.org/drawingml/2006/main">
              <a:ext uri="{FF2B5EF4-FFF2-40B4-BE49-F238E27FC236}">
                <a16:creationId xmlns:a16="http://schemas.microsoft.com/office/drawing/2014/main" id="{D608B905-1078-4199-9D89-69DDBC4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p8-route">
            <a:extLst xmlns:a="http://schemas.openxmlformats.org/drawingml/2006/main">
              <a:ext uri="{FF2B5EF4-FFF2-40B4-BE49-F238E27FC236}">
                <a16:creationId xmlns:a16="http://schemas.microsoft.com/office/drawing/2014/main" id="{AA770297-83D8-44B4-AB4A-9A243F4F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自托管物理智能组件</a:t>
            </a:r>
          </a:p>
        </p:txBody>
      </p:sp>
      <p:sp>
        <p:nvSpPr>
          <p:cNvPr id="4" name="p8-v">
            <a:extLst xmlns:a="http://schemas.openxmlformats.org/drawingml/2006/main">
              <a:ext uri="{FF2B5EF4-FFF2-40B4-BE49-F238E27FC236}">
                <a16:creationId xmlns:a16="http://schemas.microsoft.com/office/drawing/2014/main" id="{4B1A3D5E-980A-4754-911A-14EC7B5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7144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p8-h">
            <a:extLst xmlns:a="http://schemas.openxmlformats.org/drawingml/2006/main">
              <a:ext uri="{FF2B5EF4-FFF2-40B4-BE49-F238E27FC236}">
                <a16:creationId xmlns:a16="http://schemas.microsoft.com/office/drawing/2014/main" id="{362F857F-EC40-4D52-B056-A05ACD9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p8-est-label">
            <a:extLst xmlns:a="http://schemas.openxmlformats.org/drawingml/2006/main">
              <a:ext uri="{FF2B5EF4-FFF2-40B4-BE49-F238E27FC236}">
                <a16:creationId xmlns:a16="http://schemas.microsoft.com/office/drawing/2014/main" id="{076FFEAA-8EDD-4391-A6EF-A863C3F4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已成立</a:t>
            </a:r>
          </a:p>
        </p:txBody>
      </p:sp>
      <p:sp>
        <p:nvSpPr>
          <p:cNvPr id="7" name="p8-est-body">
            <a:extLst xmlns:a="http://schemas.openxmlformats.org/drawingml/2006/main">
              <a:ext uri="{FF2B5EF4-FFF2-40B4-BE49-F238E27FC236}">
                <a16:creationId xmlns:a16="http://schemas.microsoft.com/office/drawing/2014/main" id="{7DEE2C25-C65C-4699-8371-C0867F0B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5780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动作条件前向动力学已有可运行材料和自托管路径；
Cosmos3-Generator NIM 1.0.0 为初始正式发布，
仅含文生视频和图生视频，未列动作模式。</a:t>
            </a:r>
          </a:p>
        </p:txBody>
      </p:sp>
      <p:sp>
        <p:nvSpPr>
          <p:cNvPr id="8" name="p8-not-label">
            <a:extLst xmlns:a="http://schemas.openxmlformats.org/drawingml/2006/main">
              <a:ext uri="{FF2B5EF4-FFF2-40B4-BE49-F238E27FC236}">
                <a16:creationId xmlns:a16="http://schemas.microsoft.com/office/drawing/2014/main" id="{70BFE2F0-221E-4BE7-B506-9C8D344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未成立</a:t>
            </a:r>
          </a:p>
        </p:txBody>
      </p:sp>
      <p:sp>
        <p:nvSpPr>
          <p:cNvPr id="9" name="p8-not-body">
            <a:extLst xmlns:a="http://schemas.openxmlformats.org/drawingml/2006/main">
              <a:ext uri="{FF2B5EF4-FFF2-40B4-BE49-F238E27FC236}">
                <a16:creationId xmlns:a16="http://schemas.microsoft.com/office/drawing/2014/main" id="{4136105C-7A74-40BC-AD3F-9177062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525780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尚未恢复精确版本化的稳定动作运行时或动作 NIM；
模型材料许可不能覆盖第三方依赖；
硬件范围、总体拥有成本、独立复现
和客户第一方采用仍待闭合。</a:t>
            </a:r>
          </a:p>
        </p:txBody>
      </p:sp>
      <p:sp>
        <p:nvSpPr>
          <p:cNvPr id="10" name="p8-meaning-label">
            <a:extLst xmlns:a="http://schemas.openxmlformats.org/drawingml/2006/main">
              <a:ext uri="{FF2B5EF4-FFF2-40B4-BE49-F238E27FC236}">
                <a16:creationId xmlns:a16="http://schemas.microsoft.com/office/drawing/2014/main" id="{FEB20F86-20EC-4F21-968F-6782C209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 Manifold 意味着什么</a:t>
            </a:r>
          </a:p>
        </p:txBody>
      </p:sp>
      <p:sp>
        <p:nvSpPr>
          <p:cNvPr id="11" name="p8-meaning-body">
            <a:extLst xmlns:a="http://schemas.openxmlformats.org/drawingml/2006/main">
              <a:ext uri="{FF2B5EF4-FFF2-40B4-BE49-F238E27FC236}">
                <a16:creationId xmlns:a16="http://schemas.microsoft.com/office/drawing/2014/main" id="{19DA6F71-C807-42D6-A832-9D168493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52578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自托管组件可能绕行专有供应商，
也可能成为 Manifold 的部署和验证底层；
实际关系取决于 Manifold 的交付单元。</a:t>
            </a:r>
          </a:p>
        </p:txBody>
      </p:sp>
      <p:sp>
        <p:nvSpPr>
          <p:cNvPr id="12" name="p8-trigger-mark">
            <a:extLst xmlns:a="http://schemas.openxmlformats.org/drawingml/2006/main">
              <a:ext uri="{FF2B5EF4-FFF2-40B4-BE49-F238E27FC236}">
                <a16:creationId xmlns:a16="http://schemas.microsoft.com/office/drawing/2014/main" id="{055BCE81-E11C-45C9-9EE4-66FD80F3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p8-trigger-label">
            <a:extLst xmlns:a="http://schemas.openxmlformats.org/drawingml/2006/main">
              <a:ext uri="{FF2B5EF4-FFF2-40B4-BE49-F238E27FC236}">
                <a16:creationId xmlns:a16="http://schemas.microsoft.com/office/drawing/2014/main" id="{4A3B8666-6147-434E-BEB5-37D305B4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525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一个关键触发器</a:t>
            </a:r>
          </a:p>
        </p:txBody>
      </p:sp>
      <p:sp>
        <p:nvSpPr>
          <p:cNvPr id="14" name="p8-trigger-body">
            <a:extLst xmlns:a="http://schemas.openxmlformats.org/drawingml/2006/main">
              <a:ext uri="{FF2B5EF4-FFF2-40B4-BE49-F238E27FC236}">
                <a16:creationId xmlns:a16="http://schemas.microsoft.com/office/drawing/2014/main" id="{D0A63DCF-99DD-479E-A7D5-11A8CD9A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5257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稳定动作运行时或动作 NIM
正式发布并获得独立复现。</a:t>
            </a:r>
          </a:p>
        </p:txBody>
      </p:sp>
      <p:sp>
        <p:nvSpPr>
          <p:cNvPr id="15" name="p8-footer-source">
            <a:extLst xmlns:a="http://schemas.openxmlformats.org/drawingml/2006/main">
              <a:ext uri="{FF2B5EF4-FFF2-40B4-BE49-F238E27FC236}">
                <a16:creationId xmlns:a16="http://schemas.microsoft.com/office/drawing/2014/main" id="{58A7C1B0-3BFC-46F2-9C9B-A1FF1337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Generator NIM ≠ action runtime｜来源：官方研究/模型/自托管文档、Release Notes、许可及伙伴自报｜相对 Manifold 公开锚点的条件性分析</a:t>
            </a:r>
          </a:p>
        </p:txBody>
      </p:sp>
      <p:sp>
        <p:nvSpPr>
          <p:cNvPr id="16" name="p8-footer-page">
            <a:extLst xmlns:a="http://schemas.openxmlformats.org/drawingml/2006/main">
              <a:ext uri="{FF2B5EF4-FFF2-40B4-BE49-F238E27FC236}">
                <a16:creationId xmlns:a16="http://schemas.microsoft.com/office/drawing/2014/main" id="{C7C26E76-76A3-4B00-BE31-90F65426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2026-07-14｜8</a:t>
            </a:r>
          </a:p>
        </p:txBody>
      </p:sp>
    </p:spTree>
    <p:extLst>
      <p:ext uri="{BB962C8B-B14F-4D97-AF65-F5344CB8AC3E}">
        <p14:creationId xmlns:p14="http://schemas.microsoft.com/office/powerpoint/2010/main" val="187809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9-title">
            <a:extLst xmlns:a="http://schemas.openxmlformats.org/drawingml/2006/main">
              <a:ext uri="{FF2B5EF4-FFF2-40B4-BE49-F238E27FC236}">
                <a16:creationId xmlns:a16="http://schemas.microsoft.com/office/drawing/2014/main" id="{DDDF7C03-6316-4817-8673-9EE25A31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四个观察对象与一个早期信号，只在关键证据出现时重审</a:t>
            </a:r>
          </a:p>
        </p:txBody>
      </p:sp>
      <p:sp>
        <p:nvSpPr>
          <p:cNvPr id="2" name="p9-header-fill">
            <a:extLst xmlns:a="http://schemas.openxmlformats.org/drawingml/2006/main">
              <a:ext uri="{FF2B5EF4-FFF2-40B4-BE49-F238E27FC236}">
                <a16:creationId xmlns:a16="http://schemas.microsoft.com/office/drawing/2014/main" id="{6A4FB13A-7695-4B44-BF5F-5F8A9C90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3" name="p9-header-0">
            <a:extLst xmlns:a="http://schemas.openxmlformats.org/drawingml/2006/main">
              <a:ext uri="{FF2B5EF4-FFF2-40B4-BE49-F238E27FC236}">
                <a16:creationId xmlns:a16="http://schemas.microsoft.com/office/drawing/2014/main" id="{77225F4B-360A-4C41-9B0C-EF1C5325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对象</a:t>
            </a:r>
          </a:p>
        </p:txBody>
      </p:sp>
      <p:sp>
        <p:nvSpPr>
          <p:cNvPr id="4" name="p9-header-1">
            <a:extLst xmlns:a="http://schemas.openxmlformats.org/drawingml/2006/main">
              <a:ext uri="{FF2B5EF4-FFF2-40B4-BE49-F238E27FC236}">
                <a16:creationId xmlns:a16="http://schemas.microsoft.com/office/drawing/2014/main" id="{09512883-DC80-4973-906E-EB6B906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47800"/>
            <a:ext cx="407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当前关注点</a:t>
            </a:r>
          </a:p>
        </p:txBody>
      </p:sp>
      <p:sp>
        <p:nvSpPr>
          <p:cNvPr id="5" name="p9-header-blue">
            <a:extLst xmlns:a="http://schemas.openxmlformats.org/drawingml/2006/main">
              <a:ext uri="{FF2B5EF4-FFF2-40B4-BE49-F238E27FC236}">
                <a16:creationId xmlns:a16="http://schemas.microsoft.com/office/drawing/2014/main" id="{0D591F78-E5EC-4991-BD9F-745237F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192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p9-header-2">
            <a:extLst xmlns:a="http://schemas.openxmlformats.org/drawingml/2006/main">
              <a:ext uri="{FF2B5EF4-FFF2-40B4-BE49-F238E27FC236}">
                <a16:creationId xmlns:a16="http://schemas.microsoft.com/office/drawing/2014/main" id="{D7DA738E-0A89-4DB7-B8AD-74A9E5D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4780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重审所需证据</a:t>
            </a:r>
          </a:p>
        </p:txBody>
      </p:sp>
      <p:sp>
        <p:nvSpPr>
          <p:cNvPr id="7" name="p9-name-fill-0">
            <a:extLst xmlns:a="http://schemas.openxmlformats.org/drawingml/2006/main">
              <a:ext uri="{FF2B5EF4-FFF2-40B4-BE49-F238E27FC236}">
                <a16:creationId xmlns:a16="http://schemas.microsoft.com/office/drawing/2014/main" id="{335ED642-C94D-417C-8F58-ABD0D8C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400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8" name="p9-cell-0-0">
            <a:extLst xmlns:a="http://schemas.openxmlformats.org/drawingml/2006/main">
              <a:ext uri="{FF2B5EF4-FFF2-40B4-BE49-F238E27FC236}">
                <a16:creationId xmlns:a16="http://schemas.microsoft.com/office/drawing/2014/main" id="{807A8AF3-C924-406E-B3DF-1DE03FAF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2479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Genie 3 /
Project Genie</a:t>
            </a:r>
          </a:p>
        </p:txBody>
      </p:sp>
      <p:sp>
        <p:nvSpPr>
          <p:cNvPr id="9" name="p9-cell-0-1">
            <a:extLst xmlns:a="http://schemas.openxmlformats.org/drawingml/2006/main">
              <a:ext uri="{FF2B5EF4-FFF2-40B4-BE49-F238E27FC236}">
                <a16:creationId xmlns:a16="http://schemas.microsoft.com/office/drawing/2014/main" id="{EDA188E3-F5A1-4946-89BE-240A671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40767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封闭模型与消费者原型；
企业/开发者路径和外部采用未证</a:t>
            </a:r>
          </a:p>
        </p:txBody>
      </p:sp>
      <p:sp>
        <p:nvSpPr>
          <p:cNvPr id="10" name="p9-recheck-mark-0">
            <a:extLst xmlns:a="http://schemas.openxmlformats.org/drawingml/2006/main">
              <a:ext uri="{FF2B5EF4-FFF2-40B4-BE49-F238E27FC236}">
                <a16:creationId xmlns:a16="http://schemas.microsoft.com/office/drawing/2014/main" id="{30D077CB-182B-4998-8E40-AF655C8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859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1" name="p9-cell-0-2">
            <a:extLst xmlns:a="http://schemas.openxmlformats.org/drawingml/2006/main">
              <a:ext uri="{FF2B5EF4-FFF2-40B4-BE49-F238E27FC236}">
                <a16:creationId xmlns:a16="http://schemas.microsoft.com/office/drawing/2014/main" id="{57DC9243-AA10-4805-8844-F260314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66900"/>
            <a:ext cx="39433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企业/开发者接口、SDK 或权重；
具名外部集成</a:t>
            </a:r>
          </a:p>
        </p:txBody>
      </p:sp>
      <p:sp>
        <p:nvSpPr>
          <p:cNvPr id="12" name="p9-name-fill-1">
            <a:extLst xmlns:a="http://schemas.openxmlformats.org/drawingml/2006/main">
              <a:ext uri="{FF2B5EF4-FFF2-40B4-BE49-F238E27FC236}">
                <a16:creationId xmlns:a16="http://schemas.microsoft.com/office/drawing/2014/main" id="{38BFAD22-A601-47E1-903B-E1A7AFD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2400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13" name="p9-cell-1-0">
            <a:extLst xmlns:a="http://schemas.openxmlformats.org/drawingml/2006/main">
              <a:ext uri="{FF2B5EF4-FFF2-40B4-BE49-F238E27FC236}">
                <a16:creationId xmlns:a16="http://schemas.microsoft.com/office/drawing/2014/main" id="{7C2F92EA-F57A-445C-916F-1034AC38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22479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General Intuition /
MIRA</a:t>
            </a:r>
          </a:p>
        </p:txBody>
      </p:sp>
      <p:sp>
        <p:nvSpPr>
          <p:cNvPr id="14" name="p9-cell-1-1">
            <a:extLst xmlns:a="http://schemas.openxmlformats.org/drawingml/2006/main">
              <a:ext uri="{FF2B5EF4-FFF2-40B4-BE49-F238E27FC236}">
                <a16:creationId xmlns:a16="http://schemas.microsoft.com/office/drawing/2014/main" id="{48B920EF-3659-47F4-A607-A77F3F5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76525"/>
            <a:ext cx="40767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证据集中在 Rocket League 虚拟物理域；
商业接口归属和采用未证</a:t>
            </a:r>
          </a:p>
        </p:txBody>
      </p:sp>
      <p:sp>
        <p:nvSpPr>
          <p:cNvPr id="15" name="p9-recheck-mark-1">
            <a:extLst xmlns:a="http://schemas.openxmlformats.org/drawingml/2006/main">
              <a:ext uri="{FF2B5EF4-FFF2-40B4-BE49-F238E27FC236}">
                <a16:creationId xmlns:a16="http://schemas.microsoft.com/office/drawing/2014/main" id="{6A8709D8-1CAC-4191-A18E-6F161164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p9-cell-1-2">
            <a:extLst xmlns:a="http://schemas.openxmlformats.org/drawingml/2006/main">
              <a:ext uri="{FF2B5EF4-FFF2-40B4-BE49-F238E27FC236}">
                <a16:creationId xmlns:a16="http://schemas.microsoft.com/office/drawing/2014/main" id="{6A64D0CB-C8CC-470E-BCA6-5D3BDB6D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76525"/>
            <a:ext cx="39433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第一方证据确认实际交付组件；
跨域独立验证、具名客户</a:t>
            </a:r>
          </a:p>
        </p:txBody>
      </p:sp>
      <p:sp>
        <p:nvSpPr>
          <p:cNvPr id="17" name="p9-name-fill-2">
            <a:extLst xmlns:a="http://schemas.openxmlformats.org/drawingml/2006/main">
              <a:ext uri="{FF2B5EF4-FFF2-40B4-BE49-F238E27FC236}">
                <a16:creationId xmlns:a16="http://schemas.microsoft.com/office/drawing/2014/main" id="{BF0D5785-C056-417E-955B-33EA9A2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400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18" name="p9-cell-2-0">
            <a:extLst xmlns:a="http://schemas.openxmlformats.org/drawingml/2006/main">
              <a:ext uri="{FF2B5EF4-FFF2-40B4-BE49-F238E27FC236}">
                <a16:creationId xmlns:a16="http://schemas.microsoft.com/office/drawing/2014/main" id="{28A4F052-7F45-48B8-BB95-65038100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479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Meta V-JEPA</a:t>
            </a:r>
          </a:p>
        </p:txBody>
      </p:sp>
      <p:sp>
        <p:nvSpPr>
          <p:cNvPr id="19" name="p9-cell-2-1">
            <a:extLst xmlns:a="http://schemas.openxmlformats.org/drawingml/2006/main">
              <a:ext uri="{FF2B5EF4-FFF2-40B4-BE49-F238E27FC236}">
                <a16:creationId xmlns:a16="http://schemas.microsoft.com/office/drawing/2014/main" id="{68777363-01DD-43AB-9706-6EFD17E1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86150"/>
            <a:ext cx="40767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仅 2-AC 提供动作条件路径；
窄域、许可与修正复现未闭合</a:t>
            </a:r>
          </a:p>
        </p:txBody>
      </p:sp>
      <p:sp>
        <p:nvSpPr>
          <p:cNvPr id="20" name="p9-recheck-mark-2">
            <a:extLst xmlns:a="http://schemas.openxmlformats.org/drawingml/2006/main">
              <a:ext uri="{FF2B5EF4-FFF2-40B4-BE49-F238E27FC236}">
                <a16:creationId xmlns:a16="http://schemas.microsoft.com/office/drawing/2014/main" id="{3B132489-5DF8-403F-A440-E0C824F6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052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1" name="p9-cell-2-2">
            <a:extLst xmlns:a="http://schemas.openxmlformats.org/drawingml/2006/main">
              <a:ext uri="{FF2B5EF4-FFF2-40B4-BE49-F238E27FC236}">
                <a16:creationId xmlns:a16="http://schemas.microsoft.com/office/drawing/2014/main" id="{16182C48-480A-42D5-AF27-D5B2AB4D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86150"/>
            <a:ext cx="39433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跨动作域复现、许可闭合、
产品或客户入口</a:t>
            </a:r>
          </a:p>
        </p:txBody>
      </p:sp>
      <p:sp>
        <p:nvSpPr>
          <p:cNvPr id="22" name="p9-name-fill-3">
            <a:extLst xmlns:a="http://schemas.openxmlformats.org/drawingml/2006/main">
              <a:ext uri="{FF2B5EF4-FFF2-40B4-BE49-F238E27FC236}">
                <a16:creationId xmlns:a16="http://schemas.microsoft.com/office/drawing/2014/main" id="{E689F325-B06B-4BDD-A5DB-52D86CD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400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3" name="p9-cell-3-0">
            <a:extLst xmlns:a="http://schemas.openxmlformats.org/drawingml/2006/main">
              <a:ext uri="{FF2B5EF4-FFF2-40B4-BE49-F238E27FC236}">
                <a16:creationId xmlns:a16="http://schemas.microsoft.com/office/drawing/2014/main" id="{E8FFC834-DC5F-45F4-9F47-24D1F0F2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2479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Overworld
（地域条件）</a:t>
            </a:r>
          </a:p>
        </p:txBody>
      </p:sp>
      <p:sp>
        <p:nvSpPr>
          <p:cNvPr id="24" name="p9-cell-3-1">
            <a:extLst xmlns:a="http://schemas.openxmlformats.org/drawingml/2006/main">
              <a:ext uri="{FF2B5EF4-FFF2-40B4-BE49-F238E27FC236}">
                <a16:creationId xmlns:a16="http://schemas.microsoft.com/office/drawing/2014/main" id="{F18E0E99-42FD-4F7A-9F83-C768013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95775"/>
            <a:ext cx="40767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开放权重和本地运行有平台价值；
法律主体、长时一致性和采用未证</a:t>
            </a:r>
          </a:p>
        </p:txBody>
      </p:sp>
      <p:sp>
        <p:nvSpPr>
          <p:cNvPr id="25" name="p9-recheck-mark-3">
            <a:extLst xmlns:a="http://schemas.openxmlformats.org/drawingml/2006/main">
              <a:ext uri="{FF2B5EF4-FFF2-40B4-BE49-F238E27FC236}">
                <a16:creationId xmlns:a16="http://schemas.microsoft.com/office/drawing/2014/main" id="{FBCDD2B8-5546-4119-867B-883356A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148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6" name="p9-cell-3-2">
            <a:extLst xmlns:a="http://schemas.openxmlformats.org/drawingml/2006/main">
              <a:ext uri="{FF2B5EF4-FFF2-40B4-BE49-F238E27FC236}">
                <a16:creationId xmlns:a16="http://schemas.microsoft.com/office/drawing/2014/main" id="{2C558FC9-7B82-47C0-B102-D553F5D9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39433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法律实体闭合、长时交互独立验证、
具名采用</a:t>
            </a:r>
          </a:p>
        </p:txBody>
      </p:sp>
      <p:sp>
        <p:nvSpPr>
          <p:cNvPr id="27" name="p9-name-fill-4">
            <a:extLst xmlns:a="http://schemas.openxmlformats.org/drawingml/2006/main">
              <a:ext uri="{FF2B5EF4-FFF2-40B4-BE49-F238E27FC236}">
                <a16:creationId xmlns:a16="http://schemas.microsoft.com/office/drawing/2014/main" id="{7C5D71F9-40FF-4716-B3B8-4BDCE19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400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</p:spPr>
      </p:sp>
      <p:sp>
        <p:nvSpPr>
          <p:cNvPr id="28" name="p9-cell-4-0">
            <a:extLst xmlns:a="http://schemas.openxmlformats.org/drawingml/2006/main">
              <a:ext uri="{FF2B5EF4-FFF2-40B4-BE49-F238E27FC236}">
                <a16:creationId xmlns:a16="http://schemas.microsoft.com/office/drawing/2014/main" id="{28BBF02F-32BC-44E8-BE1E-709E2D05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2479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AMI Labs
（早期信号）</a:t>
            </a:r>
          </a:p>
        </p:txBody>
      </p:sp>
      <p:sp>
        <p:nvSpPr>
          <p:cNvPr id="29" name="p9-cell-4-1">
            <a:extLst xmlns:a="http://schemas.openxmlformats.org/drawingml/2006/main">
              <a:ext uri="{FF2B5EF4-FFF2-40B4-BE49-F238E27FC236}">
                <a16:creationId xmlns:a16="http://schemas.microsoft.com/office/drawing/2014/main" id="{C2DCE2B3-43B8-4ADC-8D4C-CE0ED78E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05400"/>
            <a:ext cx="40767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非中国地域已闭合，但无可验证的自有模型、
论文、演示、权重、接口或评测</a:t>
            </a:r>
          </a:p>
        </p:txBody>
      </p:sp>
      <p:sp>
        <p:nvSpPr>
          <p:cNvPr id="30" name="p9-recheck-mark-4">
            <a:extLst xmlns:a="http://schemas.openxmlformats.org/drawingml/2006/main">
              <a:ext uri="{FF2B5EF4-FFF2-40B4-BE49-F238E27FC236}">
                <a16:creationId xmlns:a16="http://schemas.microsoft.com/office/drawing/2014/main" id="{A14E410D-EFB2-422E-A665-0DA92E65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244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1" name="p9-cell-4-2">
            <a:extLst xmlns:a="http://schemas.openxmlformats.org/drawingml/2006/main">
              <a:ext uri="{FF2B5EF4-FFF2-40B4-BE49-F238E27FC236}">
                <a16:creationId xmlns:a16="http://schemas.microsoft.com/office/drawing/2014/main" id="{2E21A713-06C4-457F-AD41-5AFF2CD3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05400"/>
            <a:ext cx="39433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可审计的自有技术资产
与外部入口</a:t>
            </a:r>
          </a:p>
        </p:txBody>
      </p:sp>
      <p:sp>
        <p:nvSpPr>
          <p:cNvPr id="32" name="p9-v-0">
            <a:extLst xmlns:a="http://schemas.openxmlformats.org/drawingml/2006/main">
              <a:ext uri="{FF2B5EF4-FFF2-40B4-BE49-F238E27FC236}">
                <a16:creationId xmlns:a16="http://schemas.microsoft.com/office/drawing/2014/main" id="{8F2FF0CA-9244-40AD-8A48-5D9F786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144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3" name="p9-v-1">
            <a:extLst xmlns:a="http://schemas.openxmlformats.org/drawingml/2006/main">
              <a:ext uri="{FF2B5EF4-FFF2-40B4-BE49-F238E27FC236}">
                <a16:creationId xmlns:a16="http://schemas.microsoft.com/office/drawing/2014/main" id="{07F95950-A2DB-4E1C-9940-DE6DEB5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352550"/>
            <a:ext cx="7144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4" name="p9-v-2">
            <a:extLst xmlns:a="http://schemas.openxmlformats.org/drawingml/2006/main">
              <a:ext uri="{FF2B5EF4-FFF2-40B4-BE49-F238E27FC236}">
                <a16:creationId xmlns:a16="http://schemas.microsoft.com/office/drawing/2014/main" id="{4029BAEE-1E53-43DC-9F22-E075282C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52550"/>
            <a:ext cx="7144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5" name="p9-v-3">
            <a:extLst xmlns:a="http://schemas.openxmlformats.org/drawingml/2006/main">
              <a:ext uri="{FF2B5EF4-FFF2-40B4-BE49-F238E27FC236}">
                <a16:creationId xmlns:a16="http://schemas.microsoft.com/office/drawing/2014/main" id="{B6580D6E-0727-435E-84E3-2E988EC6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1352550"/>
            <a:ext cx="7144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6" name="p9-h-0">
            <a:extLst xmlns:a="http://schemas.openxmlformats.org/drawingml/2006/main">
              <a:ext uri="{FF2B5EF4-FFF2-40B4-BE49-F238E27FC236}">
                <a16:creationId xmlns:a16="http://schemas.microsoft.com/office/drawing/2014/main" id="{D091F5F0-A2F9-48D3-8816-FC4B930D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7" name="p9-h-1">
            <a:extLst xmlns:a="http://schemas.openxmlformats.org/drawingml/2006/main">
              <a:ext uri="{FF2B5EF4-FFF2-40B4-BE49-F238E27FC236}">
                <a16:creationId xmlns:a16="http://schemas.microsoft.com/office/drawing/2014/main" id="{BC8CE660-9087-4F2B-9013-EDA2CD0F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8" name="p9-h-2">
            <a:extLst xmlns:a="http://schemas.openxmlformats.org/drawingml/2006/main">
              <a:ext uri="{FF2B5EF4-FFF2-40B4-BE49-F238E27FC236}">
                <a16:creationId xmlns:a16="http://schemas.microsoft.com/office/drawing/2014/main" id="{D4F568D6-BA75-49CA-80FC-3E6B5C6E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9" name="p9-h-3">
            <a:extLst xmlns:a="http://schemas.openxmlformats.org/drawingml/2006/main">
              <a:ext uri="{FF2B5EF4-FFF2-40B4-BE49-F238E27FC236}">
                <a16:creationId xmlns:a16="http://schemas.microsoft.com/office/drawing/2014/main" id="{D710751D-50B9-4D11-B368-9A8F3B5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0" name="p9-h-4">
            <a:extLst xmlns:a="http://schemas.openxmlformats.org/drawingml/2006/main">
              <a:ext uri="{FF2B5EF4-FFF2-40B4-BE49-F238E27FC236}">
                <a16:creationId xmlns:a16="http://schemas.microsoft.com/office/drawing/2014/main" id="{1DB29820-E216-4C17-B7A6-73C3819E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1" name="p9-h-5">
            <a:extLst xmlns:a="http://schemas.openxmlformats.org/drawingml/2006/main">
              <a:ext uri="{FF2B5EF4-FFF2-40B4-BE49-F238E27FC236}">
                <a16:creationId xmlns:a16="http://schemas.microsoft.com/office/drawing/2014/main" id="{31B23B66-7CD6-49F6-B4FB-4B2192F6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2" name="p9-h-6">
            <a:extLst xmlns:a="http://schemas.openxmlformats.org/drawingml/2006/main">
              <a:ext uri="{FF2B5EF4-FFF2-40B4-BE49-F238E27FC236}">
                <a16:creationId xmlns:a16="http://schemas.microsoft.com/office/drawing/2014/main" id="{C3F99E8D-E785-4C4F-923B-31FA8A1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3" name="p9-note">
            <a:extLst xmlns:a="http://schemas.openxmlformats.org/drawingml/2006/main">
              <a:ext uri="{FF2B5EF4-FFF2-40B4-BE49-F238E27FC236}">
                <a16:creationId xmlns:a16="http://schemas.microsoft.com/office/drawing/2014/main" id="{4C9B2204-63F2-4879-BF00-3E65E20F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任何触发只启动事实重审，不自动改变固定五席或 4+1 结构。</a:t>
            </a:r>
          </a:p>
        </p:txBody>
      </p:sp>
      <p:sp>
        <p:nvSpPr>
          <p:cNvPr id="44" name="p9-footer-source">
            <a:extLst xmlns:a="http://schemas.openxmlformats.org/drawingml/2006/main">
              <a:ext uri="{FF2B5EF4-FFF2-40B4-BE49-F238E27FC236}">
                <a16:creationId xmlns:a16="http://schemas.microsoft.com/office/drawing/2014/main" id="{FA04AAF6-BBD1-4AE4-B997-A2CB64A0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933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来源：官方研究、产品、代码仓库、公司及地域资料｜相对 Manifold 公开锚点的条件性分析</a:t>
            </a:r>
          </a:p>
        </p:txBody>
      </p:sp>
      <p:sp>
        <p:nvSpPr>
          <p:cNvPr id="45" name="p9-footer-page">
            <a:extLst xmlns:a="http://schemas.openxmlformats.org/drawingml/2006/main">
              <a:ext uri="{FF2B5EF4-FFF2-40B4-BE49-F238E27FC236}">
                <a16:creationId xmlns:a16="http://schemas.microsoft.com/office/drawing/2014/main" id="{E34AE951-1D33-44C9-9E58-187EA41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86525"/>
            <a:ext cx="150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2026-07-14｜9</a:t>
            </a:r>
          </a:p>
        </p:txBody>
      </p:sp>
    </p:spTree>
    <p:extLst>
      <p:ext uri="{BB962C8B-B14F-4D97-AF65-F5344CB8AC3E}">
        <p14:creationId xmlns:p14="http://schemas.microsoft.com/office/powerpoint/2010/main" val="664611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10-title">
            <a:extLst xmlns:a="http://schemas.openxmlformats.org/drawingml/2006/main">
              <a:ext uri="{FF2B5EF4-FFF2-40B4-BE49-F238E27FC236}">
                <a16:creationId xmlns:a16="http://schemas.microsoft.com/office/drawing/2014/main" id="{138039D6-9F0A-44C7-A47C-EBEFE0C9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Manifold 应锁定交付标准、验证资产
与权利边界</a:t>
            </a:r>
          </a:p>
        </p:txBody>
      </p:sp>
      <p:sp>
        <p:nvSpPr>
          <p:cNvPr id="2" name="p10-action-mark-0">
            <a:extLst xmlns:a="http://schemas.openxmlformats.org/drawingml/2006/main">
              <a:ext uri="{FF2B5EF4-FFF2-40B4-BE49-F238E27FC236}">
                <a16:creationId xmlns:a16="http://schemas.microsoft.com/office/drawing/2014/main" id="{A2D23523-F418-4C44-9461-9E94BF99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p10-action-title-0">
            <a:extLst xmlns:a="http://schemas.openxmlformats.org/drawingml/2006/main">
              <a:ext uri="{FF2B5EF4-FFF2-40B4-BE49-F238E27FC236}">
                <a16:creationId xmlns:a16="http://schemas.microsoft.com/office/drawing/2014/main" id="{DFAC99D0-D3A8-4838-B5C5-27C88E61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05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定义标准
交付单元</a:t>
            </a:r>
          </a:p>
        </p:txBody>
      </p:sp>
      <p:sp>
        <p:nvSpPr>
          <p:cNvPr id="4" name="p10-action-body-0">
            <a:extLst xmlns:a="http://schemas.openxmlformats.org/drawingml/2006/main">
              <a:ext uri="{FF2B5EF4-FFF2-40B4-BE49-F238E27FC236}">
                <a16:creationId xmlns:a16="http://schemas.microsoft.com/office/drawing/2014/main" id="{B313BFA2-1C1C-498F-9998-AE6E025A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5052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明确模型、接口、部署服务和联合项目
分别交付什么；哪些层由 Manifold
拥有、集成或采购。</a:t>
            </a:r>
          </a:p>
        </p:txBody>
      </p:sp>
      <p:sp>
        <p:nvSpPr>
          <p:cNvPr id="5" name="p10-action-mark-1">
            <a:extLst xmlns:a="http://schemas.openxmlformats.org/drawingml/2006/main">
              <a:ext uri="{FF2B5EF4-FFF2-40B4-BE49-F238E27FC236}">
                <a16:creationId xmlns:a16="http://schemas.microsoft.com/office/drawing/2014/main" id="{3A331156-C643-43C4-BA1B-924D4F2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811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p10-action-title-1">
            <a:extLst xmlns:a="http://schemas.openxmlformats.org/drawingml/2006/main">
              <a:ext uri="{FF2B5EF4-FFF2-40B4-BE49-F238E27FC236}">
                <a16:creationId xmlns:a16="http://schemas.microsoft.com/office/drawing/2014/main" id="{90495BA7-6520-4C16-B028-2E1527A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3505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建立共同
验证资产</a:t>
            </a:r>
          </a:p>
        </p:txBody>
      </p:sp>
      <p:sp>
        <p:nvSpPr>
          <p:cNvPr id="7" name="p10-action-body-1">
            <a:extLst xmlns:a="http://schemas.openxmlformats.org/drawingml/2006/main">
              <a:ext uri="{FF2B5EF4-FFF2-40B4-BE49-F238E27FC236}">
                <a16:creationId xmlns:a16="http://schemas.microsoft.com/office/drawing/2014/main" id="{03730090-1026-4829-ACE5-039435E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5052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固化动作忠实度、持久状态、几何/碰撞、
失败率、延迟和总体拥有成本的验证协议；
并保留负面结果。</a:t>
            </a:r>
          </a:p>
        </p:txBody>
      </p:sp>
      <p:sp>
        <p:nvSpPr>
          <p:cNvPr id="8" name="p10-action-mark-2">
            <a:extLst xmlns:a="http://schemas.openxmlformats.org/drawingml/2006/main">
              <a:ext uri="{FF2B5EF4-FFF2-40B4-BE49-F238E27FC236}">
                <a16:creationId xmlns:a16="http://schemas.microsoft.com/office/drawing/2014/main" id="{C31A7B34-634C-4BDF-B753-B02406E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p10-action-title-2">
            <a:extLst xmlns:a="http://schemas.openxmlformats.org/drawingml/2006/main">
              <a:ext uri="{FF2B5EF4-FFF2-40B4-BE49-F238E27FC236}">
                <a16:creationId xmlns:a16="http://schemas.microsoft.com/office/drawing/2014/main" id="{C9B73D18-FD55-4812-AE92-5AFF2C43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95450"/>
            <a:ext cx="3505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锁定关键
权利边界</a:t>
            </a:r>
          </a:p>
        </p:txBody>
      </p:sp>
      <p:sp>
        <p:nvSpPr>
          <p:cNvPr id="10" name="p10-action-body-2">
            <a:extLst xmlns:a="http://schemas.openxmlformats.org/drawingml/2006/main">
              <a:ext uri="{FF2B5EF4-FFF2-40B4-BE49-F238E27FC236}">
                <a16:creationId xmlns:a16="http://schemas.microsoft.com/office/drawing/2014/main" id="{E1C46DF9-BE91-4288-856F-0E8B91C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24100"/>
            <a:ext cx="35052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在合同中明确输入/输出数据权、
模型改进权、部署范围
和再分发规则。</a:t>
            </a:r>
          </a:p>
        </p:txBody>
      </p:sp>
      <p:sp>
        <p:nvSpPr>
          <p:cNvPr id="11" name="p10-action-v1">
            <a:extLst xmlns:a="http://schemas.openxmlformats.org/drawingml/2006/main">
              <a:ext uri="{FF2B5EF4-FFF2-40B4-BE49-F238E27FC236}">
                <a16:creationId xmlns:a16="http://schemas.microsoft.com/office/drawing/2014/main" id="{B694D558-14A1-4851-9ABE-AB89E2AA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7144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2" name="p10-action-v2">
            <a:extLst xmlns:a="http://schemas.openxmlformats.org/drawingml/2006/main">
              <a:ext uri="{FF2B5EF4-FFF2-40B4-BE49-F238E27FC236}">
                <a16:creationId xmlns:a16="http://schemas.microsoft.com/office/drawing/2014/main" id="{93B2EE0A-2185-4461-BAF6-6BA189D9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7144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p10-section-rule">
            <a:extLst xmlns:a="http://schemas.openxmlformats.org/drawingml/2006/main">
              <a:ext uri="{FF2B5EF4-FFF2-40B4-BE49-F238E27FC236}">
                <a16:creationId xmlns:a16="http://schemas.microsoft.com/office/drawing/2014/main" id="{36B57B8B-FFD4-44C3-9EAF-D5FEC52D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972800" cy="7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4" name="p10-trigger-mark-0">
            <a:extLst xmlns:a="http://schemas.openxmlformats.org/drawingml/2006/main">
              <a:ext uri="{FF2B5EF4-FFF2-40B4-BE49-F238E27FC236}">
                <a16:creationId xmlns:a16="http://schemas.microsoft.com/office/drawing/2014/main" id="{F66E5695-71FB-4AC1-8116-26E717D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5" name="p10-trigger-title-0">
            <a:extLst xmlns:a="http://schemas.openxmlformats.org/drawingml/2006/main">
              <a:ext uri="{FF2B5EF4-FFF2-40B4-BE49-F238E27FC236}">
                <a16:creationId xmlns:a16="http://schemas.microsoft.com/office/drawing/2014/main" id="{EAD9EEA9-9D03-4838-88F6-8A42FD5E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07264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稳定接口</a:t>
            </a:r>
          </a:p>
        </p:txBody>
      </p:sp>
      <p:sp>
        <p:nvSpPr>
          <p:cNvPr id="16" name="p10-trigger-event-0">
            <a:extLst xmlns:a="http://schemas.openxmlformats.org/drawingml/2006/main">
              <a:ext uri="{FF2B5EF4-FFF2-40B4-BE49-F238E27FC236}">
                <a16:creationId xmlns:a16="http://schemas.microsoft.com/office/drawing/2014/main" id="{6D7E37B4-A21B-44B5-ACDC-F604BD2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可持续调用，并公开价格与服务等级</a:t>
            </a:r>
          </a:p>
        </p:txBody>
      </p:sp>
      <p:sp>
        <p:nvSpPr>
          <p:cNvPr id="17" name="p10-trigger-use-0">
            <a:extLst xmlns:a="http://schemas.openxmlformats.org/drawingml/2006/main">
              <a:ext uri="{FF2B5EF4-FFF2-40B4-BE49-F238E27FC236}">
                <a16:creationId xmlns:a16="http://schemas.microsoft.com/office/drawing/2014/main" id="{57716055-0A9D-4ED9-BCD9-DB57E00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重审产品与平台替代路径</a:t>
            </a:r>
          </a:p>
        </p:txBody>
      </p:sp>
      <p:sp>
        <p:nvSpPr>
          <p:cNvPr id="18" name="p10-trigger-v-0">
            <a:extLst xmlns:a="http://schemas.openxmlformats.org/drawingml/2006/main">
              <a:ext uri="{FF2B5EF4-FFF2-40B4-BE49-F238E27FC236}">
                <a16:creationId xmlns:a16="http://schemas.microsoft.com/office/drawing/2014/main" id="{EBAF38F1-63E2-4183-BB73-37A7A6E3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714750"/>
            <a:ext cx="7144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9" name="p10-trigger-mark-1">
            <a:extLst xmlns:a="http://schemas.openxmlformats.org/drawingml/2006/main">
              <a:ext uri="{FF2B5EF4-FFF2-40B4-BE49-F238E27FC236}">
                <a16:creationId xmlns:a16="http://schemas.microsoft.com/office/drawing/2014/main" id="{2F7107BC-43EF-4172-B351-03850EF1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714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p10-trigger-title-1">
            <a:extLst xmlns:a="http://schemas.openxmlformats.org/drawingml/2006/main">
              <a:ext uri="{FF2B5EF4-FFF2-40B4-BE49-F238E27FC236}">
                <a16:creationId xmlns:a16="http://schemas.microsoft.com/office/drawing/2014/main" id="{96B62E43-2115-477A-A556-63DE942A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848100"/>
            <a:ext cx="207264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独立复现</a:t>
            </a:r>
          </a:p>
        </p:txBody>
      </p:sp>
      <p:sp>
        <p:nvSpPr>
          <p:cNvPr id="21" name="p10-trigger-event-1">
            <a:extLst xmlns:a="http://schemas.openxmlformats.org/drawingml/2006/main">
              <a:ext uri="{FF2B5EF4-FFF2-40B4-BE49-F238E27FC236}">
                <a16:creationId xmlns:a16="http://schemas.microsoft.com/office/drawing/2014/main" id="{C4B347E1-9D20-43E5-8004-2BD202B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28625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在同一或可比协议下复现关键结果</a:t>
            </a:r>
          </a:p>
        </p:txBody>
      </p:sp>
      <p:sp>
        <p:nvSpPr>
          <p:cNvPr id="22" name="p10-trigger-use-1">
            <a:extLst xmlns:a="http://schemas.openxmlformats.org/drawingml/2006/main">
              <a:ext uri="{FF2B5EF4-FFF2-40B4-BE49-F238E27FC236}">
                <a16:creationId xmlns:a16="http://schemas.microsoft.com/office/drawing/2014/main" id="{B11A24F5-8983-4E6E-B9FD-95E6E664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25780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重审技术证据成熟度</a:t>
            </a:r>
          </a:p>
        </p:txBody>
      </p:sp>
      <p:sp>
        <p:nvSpPr>
          <p:cNvPr id="23" name="p10-trigger-v-1">
            <a:extLst xmlns:a="http://schemas.openxmlformats.org/drawingml/2006/main">
              <a:ext uri="{FF2B5EF4-FFF2-40B4-BE49-F238E27FC236}">
                <a16:creationId xmlns:a16="http://schemas.microsoft.com/office/drawing/2014/main" id="{FB9B2180-6616-4A83-BF4B-9384C29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714750"/>
            <a:ext cx="7144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4" name="p10-trigger-mark-2">
            <a:extLst xmlns:a="http://schemas.openxmlformats.org/drawingml/2006/main">
              <a:ext uri="{FF2B5EF4-FFF2-40B4-BE49-F238E27FC236}">
                <a16:creationId xmlns:a16="http://schemas.microsoft.com/office/drawing/2014/main" id="{2629472F-AB89-4DA9-A381-B8E1F956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714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5" name="p10-trigger-title-2">
            <a:extLst xmlns:a="http://schemas.openxmlformats.org/drawingml/2006/main">
              <a:ext uri="{FF2B5EF4-FFF2-40B4-BE49-F238E27FC236}">
                <a16:creationId xmlns:a16="http://schemas.microsoft.com/office/drawing/2014/main" id="{0686C816-A1E8-4236-8EAF-F5EB946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848100"/>
            <a:ext cx="207264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正式商用闭合</a:t>
            </a:r>
          </a:p>
        </p:txBody>
      </p:sp>
      <p:sp>
        <p:nvSpPr>
          <p:cNvPr id="26" name="p10-trigger-event-2">
            <a:extLst xmlns:a="http://schemas.openxmlformats.org/drawingml/2006/main">
              <a:ext uri="{FF2B5EF4-FFF2-40B4-BE49-F238E27FC236}">
                <a16:creationId xmlns:a16="http://schemas.microsoft.com/office/drawing/2014/main" id="{F0754EC3-A9E0-4661-B5C8-859777CF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28625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许可链、服务等级和责任边界完整</a:t>
            </a:r>
          </a:p>
        </p:txBody>
      </p:sp>
      <p:sp>
        <p:nvSpPr>
          <p:cNvPr id="27" name="p10-trigger-use-2">
            <a:extLst xmlns:a="http://schemas.openxmlformats.org/drawingml/2006/main">
              <a:ext uri="{FF2B5EF4-FFF2-40B4-BE49-F238E27FC236}">
                <a16:creationId xmlns:a16="http://schemas.microsoft.com/office/drawing/2014/main" id="{5A0D208C-2081-4BCB-A305-A20F42B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525780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重审采购与部署可行性</a:t>
            </a:r>
          </a:p>
        </p:txBody>
      </p:sp>
      <p:sp>
        <p:nvSpPr>
          <p:cNvPr id="28" name="p10-trigger-v-2">
            <a:extLst xmlns:a="http://schemas.openxmlformats.org/drawingml/2006/main">
              <a:ext uri="{FF2B5EF4-FFF2-40B4-BE49-F238E27FC236}">
                <a16:creationId xmlns:a16="http://schemas.microsoft.com/office/drawing/2014/main" id="{50446C30-614E-4841-BDDB-A4EE2189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3714750"/>
            <a:ext cx="7144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9" name="p10-trigger-mark-3">
            <a:extLst xmlns:a="http://schemas.openxmlformats.org/drawingml/2006/main">
              <a:ext uri="{FF2B5EF4-FFF2-40B4-BE49-F238E27FC236}">
                <a16:creationId xmlns:a16="http://schemas.microsoft.com/office/drawing/2014/main" id="{1D9368C7-1582-4E9C-A283-CE0980F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3714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0" name="p10-trigger-title-3">
            <a:extLst xmlns:a="http://schemas.openxmlformats.org/drawingml/2006/main">
              <a:ext uri="{FF2B5EF4-FFF2-40B4-BE49-F238E27FC236}">
                <a16:creationId xmlns:a16="http://schemas.microsoft.com/office/drawing/2014/main" id="{FD5DA5C3-E08C-4AF0-9420-7AE4CCDA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3848100"/>
            <a:ext cx="207264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客户第一方采用</a:t>
            </a:r>
          </a:p>
        </p:txBody>
      </p:sp>
      <p:sp>
        <p:nvSpPr>
          <p:cNvPr id="31" name="p10-trigger-event-3">
            <a:extLst xmlns:a="http://schemas.openxmlformats.org/drawingml/2006/main">
              <a:ext uri="{FF2B5EF4-FFF2-40B4-BE49-F238E27FC236}">
                <a16:creationId xmlns:a16="http://schemas.microsoft.com/office/drawing/2014/main" id="{66125138-4862-40BB-9079-5262973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428625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具名客户确认付费生产部署或续约</a:t>
            </a:r>
          </a:p>
        </p:txBody>
      </p:sp>
      <p:sp>
        <p:nvSpPr>
          <p:cNvPr id="32" name="p10-trigger-use-3">
            <a:extLst xmlns:a="http://schemas.openxmlformats.org/drawingml/2006/main">
              <a:ext uri="{FF2B5EF4-FFF2-40B4-BE49-F238E27FC236}">
                <a16:creationId xmlns:a16="http://schemas.microsoft.com/office/drawing/2014/main" id="{139C4DC6-CF0C-4338-AEDC-E504055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525780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触发商业采用及竞争关系重审</a:t>
            </a:r>
          </a:p>
        </p:txBody>
      </p:sp>
      <p:sp>
        <p:nvSpPr>
          <p:cNvPr id="33" name="p10-trigger-v-3">
            <a:extLst xmlns:a="http://schemas.openxmlformats.org/drawingml/2006/main">
              <a:ext uri="{FF2B5EF4-FFF2-40B4-BE49-F238E27FC236}">
                <a16:creationId xmlns:a16="http://schemas.microsoft.com/office/drawing/2014/main" id="{7240E1D6-C852-4817-A3B2-0A3F571B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3714750"/>
            <a:ext cx="7144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4" name="p10-trigger-mark-4">
            <a:extLst xmlns:a="http://schemas.openxmlformats.org/drawingml/2006/main">
              <a:ext uri="{FF2B5EF4-FFF2-40B4-BE49-F238E27FC236}">
                <a16:creationId xmlns:a16="http://schemas.microsoft.com/office/drawing/2014/main" id="{510C92A7-C7CF-4BBF-A5B7-8D5C2DAD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714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5" name="p10-trigger-title-4">
            <a:extLst xmlns:a="http://schemas.openxmlformats.org/drawingml/2006/main">
              <a:ext uri="{FF2B5EF4-FFF2-40B4-BE49-F238E27FC236}">
                <a16:creationId xmlns:a16="http://schemas.microsoft.com/office/drawing/2014/main" id="{596E5296-A741-435D-AC19-EEF5AAB4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3848100"/>
            <a:ext cx="207264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稳定动作产品</a:t>
            </a:r>
          </a:p>
        </p:txBody>
      </p:sp>
      <p:sp>
        <p:nvSpPr>
          <p:cNvPr id="36" name="p10-trigger-event-4">
            <a:extLst xmlns:a="http://schemas.openxmlformats.org/drawingml/2006/main">
              <a:ext uri="{FF2B5EF4-FFF2-40B4-BE49-F238E27FC236}">
                <a16:creationId xmlns:a16="http://schemas.microsoft.com/office/drawing/2014/main" id="{38876F02-D67A-4082-92B8-186FDE11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28625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t>动作运行时或动作 NIM 正式发布并获验证</a:t>
            </a:r>
          </a:p>
        </p:txBody>
      </p:sp>
      <p:sp>
        <p:nvSpPr>
          <p:cNvPr id="37" name="p10-trigger-use-4">
            <a:extLst xmlns:a="http://schemas.openxmlformats.org/drawingml/2006/main">
              <a:ext uri="{FF2B5EF4-FFF2-40B4-BE49-F238E27FC236}">
                <a16:creationId xmlns:a16="http://schemas.microsoft.com/office/drawing/2014/main" id="{5C6A0BEA-C587-4E6E-AFD2-0F8F5C11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5257800"/>
            <a:ext cx="207264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重审自托管平台绕行风险</a:t>
            </a:r>
          </a:p>
        </p:txBody>
      </p:sp>
      <p:sp>
        <p:nvSpPr>
          <p:cNvPr id="38" name="p10-note">
            <a:extLst xmlns:a="http://schemas.openxmlformats.org/drawingml/2006/main">
              <a:ext uri="{FF2B5EF4-FFF2-40B4-BE49-F238E27FC236}">
                <a16:creationId xmlns:a16="http://schemas.microsoft.com/office/drawing/2014/main" id="{68EE11B6-CF6C-44E1-B6F2-3337AF11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完整 17 条固定五席信号与 5 条观察信号保留在监测附件；主页面不展开。</a:t>
            </a:r>
          </a:p>
        </p:txBody>
      </p:sp>
      <p:sp>
        <p:nvSpPr>
          <p:cNvPr id="39" name="p10-page">
            <a:extLst xmlns:a="http://schemas.openxmlformats.org/drawingml/2006/main">
              <a:ext uri="{FF2B5EF4-FFF2-40B4-BE49-F238E27FC236}">
                <a16:creationId xmlns:a16="http://schemas.microsoft.com/office/drawing/2014/main" id="{DB2083F1-85D0-4FEF-89A6-623FCDD8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19850"/>
            <a:ext cx="1504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5F6368"/>
                </a:solidFill>
                <a:latin typeface="Noto Sans SC"/>
                <a:ea typeface="Noto Sans SC"/>
                <a:cs typeface="Noto Sans SC"/>
              </a:defRPr>
            </a:pPr>
            <a:r>
              <a:t>截至 2026-07-14｜10</a:t>
            </a:r>
          </a:p>
        </p:txBody>
      </p:sp>
    </p:spTree>
    <p:extLst>
      <p:ext uri="{BB962C8B-B14F-4D97-AF65-F5344CB8AC3E}">
        <p14:creationId xmlns:p14="http://schemas.microsoft.com/office/powerpoint/2010/main" val="1106621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2026-07-15T10:30:35.1590000Z</dcterms:created>
  <dcterms:modified xsi:type="dcterms:W3CDTF">2026-07-15T10:30:35.1590000Z</dcterms:modified>
</coreProperties>
</file>