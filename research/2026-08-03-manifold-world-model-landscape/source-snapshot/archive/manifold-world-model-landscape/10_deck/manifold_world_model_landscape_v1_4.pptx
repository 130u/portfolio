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5c6a12bc8d46a3" /><Relationship Type="http://schemas.openxmlformats.org/officeDocument/2006/relationships/extended-properties" Target="/docProps/app.xml" Id="Ra858288143f44325" /><Relationship Type="http://schemas.openxmlformats.org/officeDocument/2006/relationships/officeDocument" Target="/ppt/presentation.xml" Id="Rc8f5ecca3b834d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0d8ffb0734ce1"/>
  </p:sldMasterIdLst>
  <p:notesMasterIdLst>
    <p:notesMasterId xmlns:r="http://schemas.openxmlformats.org/officeDocument/2006/relationships" r:id="R8329d85f929f4371"/>
  </p:notesMasterIdLst>
  <p:sldIdLst>
    <p:sldId xmlns:r="http://schemas.openxmlformats.org/officeDocument/2006/relationships" id="256" r:id="Re865676fc32749cc"/>
    <p:sldId xmlns:r="http://schemas.openxmlformats.org/officeDocument/2006/relationships" id="257" r:id="Rac5d244d43a54eb5"/>
    <p:sldId xmlns:r="http://schemas.openxmlformats.org/officeDocument/2006/relationships" id="258" r:id="R19353a4e3b394fb1"/>
    <p:sldId xmlns:r="http://schemas.openxmlformats.org/officeDocument/2006/relationships" id="259" r:id="Rd3ee06722658400e"/>
    <p:sldId xmlns:r="http://schemas.openxmlformats.org/officeDocument/2006/relationships" id="260" r:id="R81802cb6436240b0"/>
    <p:sldId xmlns:r="http://schemas.openxmlformats.org/officeDocument/2006/relationships" id="261" r:id="R1ec98da94f354f9d"/>
    <p:sldId xmlns:r="http://schemas.openxmlformats.org/officeDocument/2006/relationships" id="262" r:id="R414c5daac9404839"/>
    <p:sldId xmlns:r="http://schemas.openxmlformats.org/officeDocument/2006/relationships" id="263" r:id="Rde23812812874576"/>
    <p:sldId xmlns:r="http://schemas.openxmlformats.org/officeDocument/2006/relationships" id="264" r:id="R3b1adb864fd44c3e"/>
    <p:sldId xmlns:r="http://schemas.openxmlformats.org/officeDocument/2006/relationships" id="265" r:id="R010f7510ecdc40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523fde1aa4498e" /><Relationship Type="http://schemas.openxmlformats.org/officeDocument/2006/relationships/slideMaster" Target="/ppt/slideMasters/slideMaster1.xml" Id="R64f0d8ffb0734ce1" /><Relationship Type="http://schemas.openxmlformats.org/officeDocument/2006/relationships/notesMaster" Target="/ppt/notesMasters/notesMaster1.xml" Id="R8329d85f929f4371" /><Relationship Type="http://schemas.openxmlformats.org/officeDocument/2006/relationships/presProps" Target="/ppt/presProps.xml" Id="Ra6085cbdcc9c462f" /><Relationship Type="http://schemas.openxmlformats.org/officeDocument/2006/relationships/tableStyles" Target="/ppt/tableStyles.xml" Id="Rc4c40cb5719041b1" /><Relationship Type="http://schemas.openxmlformats.org/officeDocument/2006/relationships/slide" Target="/ppt/slides/slide1.xml" Id="Re865676fc32749cc" /><Relationship Type="http://schemas.openxmlformats.org/officeDocument/2006/relationships/slide" Target="/ppt/slides/slide2.xml" Id="Rac5d244d43a54eb5" /><Relationship Type="http://schemas.openxmlformats.org/officeDocument/2006/relationships/slide" Target="/ppt/slides/slide3.xml" Id="R19353a4e3b394fb1" /><Relationship Type="http://schemas.openxmlformats.org/officeDocument/2006/relationships/slide" Target="/ppt/slides/slide4.xml" Id="Rd3ee06722658400e" /><Relationship Type="http://schemas.openxmlformats.org/officeDocument/2006/relationships/slide" Target="/ppt/slides/slide5.xml" Id="R81802cb6436240b0" /><Relationship Type="http://schemas.openxmlformats.org/officeDocument/2006/relationships/slide" Target="/ppt/slides/slide6.xml" Id="R1ec98da94f354f9d" /><Relationship Type="http://schemas.openxmlformats.org/officeDocument/2006/relationships/slide" Target="/ppt/slides/slide7.xml" Id="R414c5daac9404839" /><Relationship Type="http://schemas.openxmlformats.org/officeDocument/2006/relationships/slide" Target="/ppt/slides/slide8.xml" Id="Rde23812812874576" /><Relationship Type="http://schemas.openxmlformats.org/officeDocument/2006/relationships/slide" Target="/ppt/slides/slide9.xml" Id="R3b1adb864fd44c3e" /><Relationship Type="http://schemas.openxmlformats.org/officeDocument/2006/relationships/slide" Target="/ppt/slides/slide10.xml" Id="R010f7510ecdc40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d246d1c1f2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aef29b6e5846db" /><Relationship Type="http://schemas.openxmlformats.org/officeDocument/2006/relationships/notesMaster" Target="/ppt/notesMasters/notesMaster1.xml" Id="Rea87d0d1d4ab4a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b658ea966a4d83" /><Relationship Type="http://schemas.openxmlformats.org/officeDocument/2006/relationships/notesMaster" Target="/ppt/notesMasters/notesMaster1.xml" Id="Rb865b6b8e07d49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c16d8483c14dc6" /><Relationship Type="http://schemas.openxmlformats.org/officeDocument/2006/relationships/notesMaster" Target="/ppt/notesMasters/notesMaster1.xml" Id="R154ea558daff44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5d0f62c4ce449e" /><Relationship Type="http://schemas.openxmlformats.org/officeDocument/2006/relationships/notesMaster" Target="/ppt/notesMasters/notesMaster1.xml" Id="R3b73e44d428848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86c7b75989496c" /><Relationship Type="http://schemas.openxmlformats.org/officeDocument/2006/relationships/notesMaster" Target="/ppt/notesMasters/notesMaster1.xml" Id="Rf9c01c29221c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7f40e8296d46ab" /><Relationship Type="http://schemas.openxmlformats.org/officeDocument/2006/relationships/notesMaster" Target="/ppt/notesMasters/notesMaster1.xml" Id="R1d6b25bcb03b43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55759bf39046bf" /><Relationship Type="http://schemas.openxmlformats.org/officeDocument/2006/relationships/notesMaster" Target="/ppt/notesMasters/notesMaster1.xml" Id="R5ae83786053b4b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163360c8504f17" /><Relationship Type="http://schemas.openxmlformats.org/officeDocument/2006/relationships/notesMaster" Target="/ppt/notesMasters/notesMaster1.xml" Id="R656ad37d0cc94b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cfe8b0916948eb" /><Relationship Type="http://schemas.openxmlformats.org/officeDocument/2006/relationships/notesMaster" Target="/ppt/notesMasters/notesMaster1.xml" Id="R29480e2254fd4b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eb79973a524d06" /><Relationship Type="http://schemas.openxmlformats.org/officeDocument/2006/relationships/notesMaster" Target="/ppt/notesMasters/notesMaster1.xml" Id="R43893fbd31e744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35e63e0a1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a7e65657454680" /><Relationship Type="http://schemas.openxmlformats.org/officeDocument/2006/relationships/slideLayout" Target="/ppt/slideLayouts/slideLayout1.xml" Id="R9fa6054abfa3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6054abfa3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be11ad6de4736" /><Relationship Type="http://schemas.openxmlformats.org/officeDocument/2006/relationships/notesSlide" Target="/ppt/notesSlides/notesSlide1.xml" Id="R30441e80213a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d9be7bbea4252" /><Relationship Type="http://schemas.openxmlformats.org/officeDocument/2006/relationships/notesSlide" Target="/ppt/notesSlides/notesSlide2.xml" Id="Re0429003af7347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802ba2aa1492f" /><Relationship Type="http://schemas.openxmlformats.org/officeDocument/2006/relationships/notesSlide" Target="/ppt/notesSlides/notesSlide3.xml" Id="Rf463162a5bf541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3bbf85d9b413f" /><Relationship Type="http://schemas.openxmlformats.org/officeDocument/2006/relationships/notesSlide" Target="/ppt/notesSlides/notesSlide4.xml" Id="R2685d5d5518248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b5986c1cc4e68" /><Relationship Type="http://schemas.openxmlformats.org/officeDocument/2006/relationships/notesSlide" Target="/ppt/notesSlides/notesSlide5.xml" Id="R1615ab8fe8ad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9391820044e15" /><Relationship Type="http://schemas.openxmlformats.org/officeDocument/2006/relationships/notesSlide" Target="/ppt/notesSlides/notesSlide6.xml" Id="Rcc85db15cc814a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693b4ba1d4012" /><Relationship Type="http://schemas.openxmlformats.org/officeDocument/2006/relationships/notesSlide" Target="/ppt/notesSlides/notesSlide7.xml" Id="R4fd05e163ba447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633f681894794" /><Relationship Type="http://schemas.openxmlformats.org/officeDocument/2006/relationships/notesSlide" Target="/ppt/notesSlides/notesSlide8.xml" Id="Rece98b63d22c4b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299f95bfc4393" /><Relationship Type="http://schemas.openxmlformats.org/officeDocument/2006/relationships/notesSlide" Target="/ppt/notesSlides/notesSlide9.xml" Id="R3ab41441ed36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38104801c4be1" /><Relationship Type="http://schemas.openxmlformats.org/officeDocument/2006/relationships/notesSlide" Target="/ppt/notesSlides/notesSlide10.xml" Id="Reee67dfffd9b4e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-report">
            <a:extLst xmlns:a="http://schemas.openxmlformats.org/drawingml/2006/main">
              <a:ext uri="{FF2B5EF4-FFF2-40B4-BE49-F238E27FC236}">
                <a16:creationId xmlns:a16="http://schemas.microsoft.com/office/drawing/2014/main" id="{7E6EB022-C425-446C-BF52-4389AF29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1582400" cy="657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MANIFOLD · 非中国世界模型竞争格局</a:t>
            </a:r>
          </a:p>
        </p:txBody>
      </p:sp>
      <p:sp>
        <p:nvSpPr>
          <p:cNvPr id="2" name="p1-date">
            <a:extLst xmlns:a="http://schemas.openxmlformats.org/drawingml/2006/main">
              <a:ext uri="{FF2B5EF4-FFF2-40B4-BE49-F238E27FC236}">
                <a16:creationId xmlns:a16="http://schemas.microsoft.com/office/drawing/2014/main" id="{DAE2ACA5-FD98-41D3-9342-60320819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"/>
            <a:ext cx="3429000" cy="657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五类重点路径 · 12–24 个月</a:t>
            </a:r>
          </a:p>
        </p:txBody>
      </p:sp>
      <p:sp>
        <p:nvSpPr>
          <p:cNvPr id="3" name="p1-top-rule">
            <a:extLst xmlns:a="http://schemas.openxmlformats.org/drawingml/2006/main">
              <a:ext uri="{FF2B5EF4-FFF2-40B4-BE49-F238E27FC236}">
                <a16:creationId xmlns:a16="http://schemas.microsoft.com/office/drawing/2014/main" id="{1505B54A-1F1B-49FA-A028-D331AEB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" name="p1-answer-tag">
            <a:extLst xmlns:a="http://schemas.openxmlformats.org/drawingml/2006/main">
              <a:ext uri="{FF2B5EF4-FFF2-40B4-BE49-F238E27FC236}">
                <a16:creationId xmlns:a16="http://schemas.microsoft.com/office/drawing/2014/main" id="{BB69E786-FF81-4412-AF1F-6869C305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1582400" cy="592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EXECUTIVE ANSWER</a:t>
            </a:r>
          </a:p>
        </p:txBody>
      </p:sp>
      <p:sp>
        <p:nvSpPr>
          <p:cNvPr id="5" name="p1-title">
            <a:extLst xmlns:a="http://schemas.openxmlformats.org/drawingml/2006/main">
              <a:ext uri="{FF2B5EF4-FFF2-40B4-BE49-F238E27FC236}">
                <a16:creationId xmlns:a16="http://schemas.microsoft.com/office/drawing/2014/main" id="{9B9B2B7C-6D36-4484-8FFD-7C7E183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582400" cy="560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海外世界模型已经从模型演示
走向三种交付方式</a:t>
            </a:r>
          </a:p>
        </p:txBody>
      </p:sp>
      <p:sp>
        <p:nvSpPr>
          <p:cNvPr id="6" name="p1-answer">
            <a:extLst xmlns:a="http://schemas.openxmlformats.org/drawingml/2006/main">
              <a:ext uri="{FF2B5EF4-FFF2-40B4-BE49-F238E27FC236}">
                <a16:creationId xmlns:a16="http://schemas.microsoft.com/office/drawing/2014/main" id="{B6A14613-99A7-4A88-8A1D-B991A1A9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1582400" cy="38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公开计价接口、申请制入口和可下载 / 自托管组件已经出现；
但还没有公开证据证明任何一家进入客户确认的付费生产阶段。</a:t>
            </a:r>
          </a:p>
        </p:txBody>
      </p:sp>
      <p:sp>
        <p:nvSpPr>
          <p:cNvPr id="7" name="p1-band-0">
            <a:extLst xmlns:a="http://schemas.openxmlformats.org/drawingml/2006/main">
              <a:ext uri="{FF2B5EF4-FFF2-40B4-BE49-F238E27FC236}">
                <a16:creationId xmlns:a16="http://schemas.microsoft.com/office/drawing/2014/main" id="{D8796717-80B0-4D2A-8AF3-0F112054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8" name="p1-band-mark-0">
            <a:extLst xmlns:a="http://schemas.openxmlformats.org/drawingml/2006/main">
              <a:ext uri="{FF2B5EF4-FFF2-40B4-BE49-F238E27FC236}">
                <a16:creationId xmlns:a16="http://schemas.microsoft.com/office/drawing/2014/main" id="{1FACC964-6E52-4134-BF4E-262494FF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9" name="p1-band-head-0">
            <a:extLst xmlns:a="http://schemas.openxmlformats.org/drawingml/2006/main">
              <a:ext uri="{FF2B5EF4-FFF2-40B4-BE49-F238E27FC236}">
                <a16:creationId xmlns:a16="http://schemas.microsoft.com/office/drawing/2014/main" id="{C27E73EC-84F3-4FB2-9626-6B184F83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13157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三种路径
已经可见</a:t>
            </a:r>
          </a:p>
        </p:txBody>
      </p:sp>
      <p:sp>
        <p:nvSpPr>
          <p:cNvPr id="10" name="p1-band-body-0">
            <a:extLst xmlns:a="http://schemas.openxmlformats.org/drawingml/2006/main">
              <a:ext uri="{FF2B5EF4-FFF2-40B4-BE49-F238E27FC236}">
                <a16:creationId xmlns:a16="http://schemas.microsoft.com/office/drawing/2014/main" id="{535DFDE8-563B-46E8-9E8A-69438E9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13157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按秒调用、申请访问、
自托管已经出现；
交付物不再只是模型演示。</a:t>
            </a:r>
          </a:p>
        </p:txBody>
      </p:sp>
      <p:sp>
        <p:nvSpPr>
          <p:cNvPr id="11" name="p1-band-1">
            <a:extLst xmlns:a="http://schemas.openxmlformats.org/drawingml/2006/main">
              <a:ext uri="{FF2B5EF4-FFF2-40B4-BE49-F238E27FC236}">
                <a16:creationId xmlns:a16="http://schemas.microsoft.com/office/drawing/2014/main" id="{2ADC0A35-64F3-4CEA-9CC2-2854ECF3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624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2" name="p1-band-mark-1">
            <a:extLst xmlns:a="http://schemas.openxmlformats.org/drawingml/2006/main">
              <a:ext uri="{FF2B5EF4-FFF2-40B4-BE49-F238E27FC236}">
                <a16:creationId xmlns:a16="http://schemas.microsoft.com/office/drawing/2014/main" id="{A7C0C1A5-7265-4BFD-A3E0-B8C9D5A5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62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3" name="p1-band-head-1">
            <a:extLst xmlns:a="http://schemas.openxmlformats.org/drawingml/2006/main">
              <a:ext uri="{FF2B5EF4-FFF2-40B4-BE49-F238E27FC236}">
                <a16:creationId xmlns:a16="http://schemas.microsoft.com/office/drawing/2014/main" id="{D0413178-C085-4833-A11A-99E60B08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91050"/>
            <a:ext cx="76962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真正要比较的
是交付链</a:t>
            </a:r>
          </a:p>
        </p:txBody>
      </p:sp>
      <p:sp>
        <p:nvSpPr>
          <p:cNvPr id="14" name="p1-band-body-1">
            <a:extLst xmlns:a="http://schemas.openxmlformats.org/drawingml/2006/main">
              <a:ext uri="{FF2B5EF4-FFF2-40B4-BE49-F238E27FC236}">
                <a16:creationId xmlns:a16="http://schemas.microsoft.com/office/drawing/2014/main" id="{DBDECC7F-706C-4DB0-9514-F8EEF08B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19700"/>
            <a:ext cx="76962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接口、运行时、部署方式
与权利边界共同决定：
能力能否真正落地。</a:t>
            </a:r>
          </a:p>
        </p:txBody>
      </p:sp>
      <p:sp>
        <p:nvSpPr>
          <p:cNvPr id="15" name="p1-band-2">
            <a:extLst xmlns:a="http://schemas.openxmlformats.org/drawingml/2006/main">
              <a:ext uri="{FF2B5EF4-FFF2-40B4-BE49-F238E27FC236}">
                <a16:creationId xmlns:a16="http://schemas.microsoft.com/office/drawing/2014/main" id="{C3F1E760-F49B-4124-847E-989A715A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16" name="p1-band-mark-2">
            <a:extLst xmlns:a="http://schemas.openxmlformats.org/drawingml/2006/main">
              <a:ext uri="{FF2B5EF4-FFF2-40B4-BE49-F238E27FC236}">
                <a16:creationId xmlns:a16="http://schemas.microsoft.com/office/drawing/2014/main" id="{A2A4EC3E-7CA2-49B6-8226-B6ABE18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7" name="p1-band-head-2">
            <a:extLst xmlns:a="http://schemas.openxmlformats.org/drawingml/2006/main">
              <a:ext uri="{FF2B5EF4-FFF2-40B4-BE49-F238E27FC236}">
                <a16:creationId xmlns:a16="http://schemas.microsoft.com/office/drawing/2014/main" id="{B074D331-A59E-46A8-AFDD-5356FE13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40767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公开证据仍
停在早期</a:t>
            </a:r>
          </a:p>
        </p:txBody>
      </p:sp>
      <p:sp>
        <p:nvSpPr>
          <p:cNvPr id="18" name="p1-band-body-2">
            <a:extLst xmlns:a="http://schemas.openxmlformats.org/drawingml/2006/main">
              <a:ext uri="{FF2B5EF4-FFF2-40B4-BE49-F238E27FC236}">
                <a16:creationId xmlns:a16="http://schemas.microsoft.com/office/drawing/2014/main" id="{61BB1B8E-444B-4AC0-814C-9BC3454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40767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现有案例多为供应商
或伙伴自报；客户第一方
生产采用仍未出现。</a:t>
            </a:r>
          </a:p>
        </p:txBody>
      </p:sp>
      <p:sp>
        <p:nvSpPr>
          <p:cNvPr id="19" name="p1-footer-rule">
            <a:extLst xmlns:a="http://schemas.openxmlformats.org/drawingml/2006/main">
              <a:ext uri="{FF2B5EF4-FFF2-40B4-BE49-F238E27FC236}">
                <a16:creationId xmlns:a16="http://schemas.microsoft.com/office/drawing/2014/main" id="{AC4A7FFE-E907-4B2D-9AD9-0AF2F689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0" name="p1-footer-source">
            <a:extLst xmlns:a="http://schemas.openxmlformats.org/drawingml/2006/main">
              <a:ext uri="{FF2B5EF4-FFF2-40B4-BE49-F238E27FC236}">
                <a16:creationId xmlns:a16="http://schemas.microsoft.com/office/drawing/2014/main" id="{C66DED10-B175-441E-B9C7-ECD54645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公开来源：官方产品、API、价格、条款、公司/伙伴自报及独立体验</a:t>
            </a:r>
          </a:p>
        </p:txBody>
      </p:sp>
      <p:sp>
        <p:nvSpPr>
          <p:cNvPr id="21" name="p1-footer-page">
            <a:extLst xmlns:a="http://schemas.openxmlformats.org/drawingml/2006/main">
              <a:ext uri="{FF2B5EF4-FFF2-40B4-BE49-F238E27FC236}">
                <a16:creationId xmlns:a16="http://schemas.microsoft.com/office/drawing/2014/main" id="{60147F06-8B40-47BE-A8E2-842D850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01</a:t>
            </a:r>
          </a:p>
        </p:txBody>
      </p:sp>
    </p:spTree>
    <p:extLst>
      <p:ext uri="{BB962C8B-B14F-4D97-AF65-F5344CB8AC3E}">
        <p14:creationId xmlns:p14="http://schemas.microsoft.com/office/powerpoint/2010/main" val="1657417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2-eyebrow">
            <a:extLst xmlns:a="http://schemas.openxmlformats.org/drawingml/2006/main">
              <a:ext uri="{FF2B5EF4-FFF2-40B4-BE49-F238E27FC236}">
                <a16:creationId xmlns:a16="http://schemas.microsoft.com/office/drawing/2014/main" id="{CE582813-3093-4A1B-8A43-F81873F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STRATEGIC LANDSCAPE</a:t>
            </a:r>
          </a:p>
        </p:txBody>
      </p:sp>
      <p:sp>
        <p:nvSpPr>
          <p:cNvPr id="2" name="p2-title">
            <a:extLst xmlns:a="http://schemas.openxmlformats.org/drawingml/2006/main">
              <a:ext uri="{FF2B5EF4-FFF2-40B4-BE49-F238E27FC236}">
                <a16:creationId xmlns:a16="http://schemas.microsoft.com/office/drawing/2014/main" id="{5918C5EB-51D4-4C6B-BC9E-9060C0D5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海外玩家分成三类世界形态，落点取决于任务与获得方式</a:t>
            </a:r>
          </a:p>
        </p:txBody>
      </p:sp>
      <p:sp>
        <p:nvSpPr>
          <p:cNvPr id="3" name="p2-subtitle">
            <a:extLst xmlns:a="http://schemas.openxmlformats.org/drawingml/2006/main">
              <a:ext uri="{FF2B5EF4-FFF2-40B4-BE49-F238E27FC236}">
                <a16:creationId xmlns:a16="http://schemas.microsoft.com/office/drawing/2014/main" id="{59DA05AC-30CF-4F97-A16A-FDE8173C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1582400" cy="58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公司名单在第一行，获得方式或关键限制在第二行；粗体色线为固定五席，○为观察对象。</a:t>
            </a:r>
          </a:p>
        </p:txBody>
      </p:sp>
      <p:sp>
        <p:nvSpPr>
          <p:cNvPr id="4" name="p2-col-bg-0">
            <a:extLst xmlns:a="http://schemas.openxmlformats.org/drawingml/2006/main">
              <a:ext uri="{FF2B5EF4-FFF2-40B4-BE49-F238E27FC236}">
                <a16:creationId xmlns:a16="http://schemas.microsoft.com/office/drawing/2014/main" id="{E04EF7EE-259F-46BC-A44A-480B106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1907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5" name="p2-col-accent-0">
            <a:extLst xmlns:a="http://schemas.openxmlformats.org/drawingml/2006/main">
              <a:ext uri="{FF2B5EF4-FFF2-40B4-BE49-F238E27FC236}">
                <a16:creationId xmlns:a16="http://schemas.microsoft.com/office/drawing/2014/main" id="{5DD314FE-5EB3-41B3-B7F0-E66BAF7E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6" name="p2-col-head-0">
            <a:extLst xmlns:a="http://schemas.openxmlformats.org/drawingml/2006/main">
              <a:ext uri="{FF2B5EF4-FFF2-40B4-BE49-F238E27FC236}">
                <a16:creationId xmlns:a16="http://schemas.microsoft.com/office/drawing/2014/main" id="{8809EF0E-965C-493E-BA5E-8956C2D7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141095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主要任务 /
交付位置</a:t>
            </a:r>
          </a:p>
        </p:txBody>
      </p:sp>
      <p:sp>
        <p:nvSpPr>
          <p:cNvPr id="7" name="p2-col-bg-1">
            <a:extLst xmlns:a="http://schemas.openxmlformats.org/drawingml/2006/main">
              <a:ext uri="{FF2B5EF4-FFF2-40B4-BE49-F238E27FC236}">
                <a16:creationId xmlns:a16="http://schemas.microsoft.com/office/drawing/2014/main" id="{8173DA43-CCE6-4340-91E0-E84357E7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27432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8" name="p2-col-accent-1">
            <a:extLst xmlns:a="http://schemas.openxmlformats.org/drawingml/2006/main">
              <a:ext uri="{FF2B5EF4-FFF2-40B4-BE49-F238E27FC236}">
                <a16:creationId xmlns:a16="http://schemas.microsoft.com/office/drawing/2014/main" id="{F6A28809-9520-4AE6-AAA7-37C9D63D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2743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9" name="p2-col-head-1">
            <a:extLst xmlns:a="http://schemas.openxmlformats.org/drawingml/2006/main">
              <a:ext uri="{FF2B5EF4-FFF2-40B4-BE49-F238E27FC236}">
                <a16:creationId xmlns:a16="http://schemas.microsoft.com/office/drawing/2014/main" id="{E7154B1A-7636-4DD3-ABE7-6B36786A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38300"/>
            <a:ext cx="922020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持久空间世界</a:t>
            </a:r>
          </a:p>
        </p:txBody>
      </p:sp>
      <p:sp>
        <p:nvSpPr>
          <p:cNvPr id="10" name="p2-col-bg-2">
            <a:extLst xmlns:a="http://schemas.openxmlformats.org/drawingml/2006/main">
              <a:ext uri="{FF2B5EF4-FFF2-40B4-BE49-F238E27FC236}">
                <a16:creationId xmlns:a16="http://schemas.microsoft.com/office/drawing/2014/main" id="{11566EB5-73C5-47FF-913F-090704C4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31051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1" name="p2-col-accent-2">
            <a:extLst xmlns:a="http://schemas.openxmlformats.org/drawingml/2006/main">
              <a:ext uri="{FF2B5EF4-FFF2-40B4-BE49-F238E27FC236}">
                <a16:creationId xmlns:a16="http://schemas.microsoft.com/office/drawing/2014/main" id="{E0896437-2717-4D39-AB98-353743C4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2" name="p2-col-head-2">
            <a:extLst xmlns:a="http://schemas.openxmlformats.org/drawingml/2006/main">
              <a:ext uri="{FF2B5EF4-FFF2-40B4-BE49-F238E27FC236}">
                <a16:creationId xmlns:a16="http://schemas.microsoft.com/office/drawing/2014/main" id="{C59D4903-A7E4-4D4D-BF25-BB4F809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38300"/>
            <a:ext cx="647700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实时交互世界流</a:t>
            </a:r>
          </a:p>
        </p:txBody>
      </p:sp>
      <p:sp>
        <p:nvSpPr>
          <p:cNvPr id="13" name="p2-col-bg-3">
            <a:extLst xmlns:a="http://schemas.openxmlformats.org/drawingml/2006/main">
              <a:ext uri="{FF2B5EF4-FFF2-40B4-BE49-F238E27FC236}">
                <a16:creationId xmlns:a16="http://schemas.microsoft.com/office/drawing/2014/main" id="{3FBC4FA0-7AED-4667-B95C-B29A1BEB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04950"/>
            <a:ext cx="29337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14" name="p2-col-accent-3">
            <a:extLst xmlns:a="http://schemas.openxmlformats.org/drawingml/2006/main">
              <a:ext uri="{FF2B5EF4-FFF2-40B4-BE49-F238E27FC236}">
                <a16:creationId xmlns:a16="http://schemas.microsoft.com/office/drawing/2014/main" id="{E8F3C62D-1437-4201-BA72-7695C71C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04950"/>
            <a:ext cx="2933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5" name="p2-col-head-3">
            <a:extLst xmlns:a="http://schemas.openxmlformats.org/drawingml/2006/main">
              <a:ext uri="{FF2B5EF4-FFF2-40B4-BE49-F238E27FC236}">
                <a16:creationId xmlns:a16="http://schemas.microsoft.com/office/drawing/2014/main" id="{C95AF46E-1B62-40A2-AA67-01D9F19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38300"/>
            <a:ext cx="337185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动作条件物理智能组件</a:t>
            </a:r>
          </a:p>
        </p:txBody>
      </p:sp>
      <p:sp>
        <p:nvSpPr>
          <p:cNvPr id="16" name="p2-row-num-0">
            <a:extLst xmlns:a="http://schemas.openxmlformats.org/drawingml/2006/main">
              <a:ext uri="{FF2B5EF4-FFF2-40B4-BE49-F238E27FC236}">
                <a16:creationId xmlns:a16="http://schemas.microsoft.com/office/drawing/2014/main" id="{8FE38559-C42C-41E2-AEA9-F7B8E0CB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1410950" cy="459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17" name="p2-row-label-0">
            <a:extLst xmlns:a="http://schemas.openxmlformats.org/drawingml/2006/main">
              <a:ext uri="{FF2B5EF4-FFF2-40B4-BE49-F238E27FC236}">
                <a16:creationId xmlns:a16="http://schemas.microsoft.com/office/drawing/2014/main" id="{356141D2-79FD-41B7-B92C-9DF30578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10991850" cy="46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内容与探索</a:t>
            </a:r>
          </a:p>
        </p:txBody>
      </p:sp>
      <p:sp>
        <p:nvSpPr>
          <p:cNvPr id="18" name="p2-row-num-1">
            <a:extLst xmlns:a="http://schemas.openxmlformats.org/drawingml/2006/main">
              <a:ext uri="{FF2B5EF4-FFF2-40B4-BE49-F238E27FC236}">
                <a16:creationId xmlns:a16="http://schemas.microsoft.com/office/drawing/2014/main" id="{582C72EC-FEF8-49DE-B67E-1DD9C0D5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141095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19" name="p2-row-label-1">
            <a:extLst xmlns:a="http://schemas.openxmlformats.org/drawingml/2006/main">
              <a:ext uri="{FF2B5EF4-FFF2-40B4-BE49-F238E27FC236}">
                <a16:creationId xmlns:a16="http://schemas.microsoft.com/office/drawing/2014/main" id="{78B79584-002F-4DC9-A2DB-7534BB49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1099185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开发者世界 /
仿真基础设施</a:t>
            </a:r>
          </a:p>
        </p:txBody>
      </p:sp>
      <p:sp>
        <p:nvSpPr>
          <p:cNvPr id="20" name="p2-row-num-2">
            <a:extLst xmlns:a="http://schemas.openxmlformats.org/drawingml/2006/main">
              <a:ext uri="{FF2B5EF4-FFF2-40B4-BE49-F238E27FC236}">
                <a16:creationId xmlns:a16="http://schemas.microsoft.com/office/drawing/2014/main" id="{186A2944-1C1D-43A5-80A1-6C4D053D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14109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21" name="p2-row-label-2">
            <a:extLst xmlns:a="http://schemas.openxmlformats.org/drawingml/2006/main">
              <a:ext uri="{FF2B5EF4-FFF2-40B4-BE49-F238E27FC236}">
                <a16:creationId xmlns:a16="http://schemas.microsoft.com/office/drawing/2014/main" id="{D62276DF-211D-4F72-B227-352FDCAC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109918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机器人规划
与控制</a:t>
            </a:r>
          </a:p>
        </p:txBody>
      </p:sp>
      <p:sp>
        <p:nvSpPr>
          <p:cNvPr id="22" name="p2-world-labs-mark">
            <a:extLst xmlns:a="http://schemas.openxmlformats.org/drawingml/2006/main">
              <a:ext uri="{FF2B5EF4-FFF2-40B4-BE49-F238E27FC236}">
                <a16:creationId xmlns:a16="http://schemas.microsoft.com/office/drawing/2014/main" id="{09B54AAB-BF90-45D2-80D2-20BF7F5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3" name="p2-world-labs-name">
            <a:extLst xmlns:a="http://schemas.openxmlformats.org/drawingml/2006/main">
              <a:ext uri="{FF2B5EF4-FFF2-40B4-BE49-F238E27FC236}">
                <a16:creationId xmlns:a16="http://schemas.microsoft.com/office/drawing/2014/main" id="{7282C633-9129-465F-8553-1E7052D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8953500" cy="424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24" name="p2-world-labs-detail">
            <a:extLst xmlns:a="http://schemas.openxmlformats.org/drawingml/2006/main">
              <a:ext uri="{FF2B5EF4-FFF2-40B4-BE49-F238E27FC236}">
                <a16:creationId xmlns:a16="http://schemas.microsoft.com/office/drawing/2014/main" id="{BA284217-64D7-43EB-975D-466AC5E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89535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</a:t>
            </a:r>
          </a:p>
        </p:txBody>
      </p:sp>
      <p:sp>
        <p:nvSpPr>
          <p:cNvPr id="25" name="p2-runway-mark">
            <a:extLst xmlns:a="http://schemas.openxmlformats.org/drawingml/2006/main">
              <a:ext uri="{FF2B5EF4-FFF2-40B4-BE49-F238E27FC236}">
                <a16:creationId xmlns:a16="http://schemas.microsoft.com/office/drawing/2014/main" id="{BD8E86B4-DF70-4911-A1A4-3797E2A5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6" name="p2-runway-name">
            <a:extLst xmlns:a="http://schemas.openxmlformats.org/drawingml/2006/main">
              <a:ext uri="{FF2B5EF4-FFF2-40B4-BE49-F238E27FC236}">
                <a16:creationId xmlns:a16="http://schemas.microsoft.com/office/drawing/2014/main" id="{7918EC3E-A0C1-4313-B3A4-1E849F65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6210300" cy="470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27" name="p2-runway-detail">
            <a:extLst xmlns:a="http://schemas.openxmlformats.org/drawingml/2006/main">
              <a:ext uri="{FF2B5EF4-FFF2-40B4-BE49-F238E27FC236}">
                <a16:creationId xmlns:a16="http://schemas.microsoft.com/office/drawing/2014/main" id="{9F92A8F3-0EC0-4DDD-847E-AEEEBE63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62103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申请制入口；Robotics 单列</a:t>
            </a:r>
          </a:p>
        </p:txBody>
      </p:sp>
      <p:sp>
        <p:nvSpPr>
          <p:cNvPr id="28" name="p2-genie-circle">
            <a:extLst xmlns:a="http://schemas.openxmlformats.org/drawingml/2006/main">
              <a:ext uri="{FF2B5EF4-FFF2-40B4-BE49-F238E27FC236}">
                <a16:creationId xmlns:a16="http://schemas.microsoft.com/office/drawing/2014/main" id="{6205584C-1089-45E5-B140-6F99E3E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6477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29" name="p2-genie-name">
            <a:extLst xmlns:a="http://schemas.openxmlformats.org/drawingml/2006/main">
              <a:ext uri="{FF2B5EF4-FFF2-40B4-BE49-F238E27FC236}">
                <a16:creationId xmlns:a16="http://schemas.microsoft.com/office/drawing/2014/main" id="{71C18CDD-0D4D-4F3B-B1B4-D71CCF56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62103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Genie 3</a:t>
            </a:r>
          </a:p>
        </p:txBody>
      </p:sp>
      <p:sp>
        <p:nvSpPr>
          <p:cNvPr id="30" name="p2-genie-detail">
            <a:extLst xmlns:a="http://schemas.openxmlformats.org/drawingml/2006/main">
              <a:ext uri="{FF2B5EF4-FFF2-40B4-BE49-F238E27FC236}">
                <a16:creationId xmlns:a16="http://schemas.microsoft.com/office/drawing/2014/main" id="{A06F5A14-2E59-4356-BF3E-0D47F8CD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6210300" cy="394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封闭原型</a:t>
            </a:r>
          </a:p>
        </p:txBody>
      </p:sp>
      <p:sp>
        <p:nvSpPr>
          <p:cNvPr id="31" name="p2-overworld-circle">
            <a:extLst xmlns:a="http://schemas.openxmlformats.org/drawingml/2006/main">
              <a:ext uri="{FF2B5EF4-FFF2-40B4-BE49-F238E27FC236}">
                <a16:creationId xmlns:a16="http://schemas.microsoft.com/office/drawing/2014/main" id="{90AEEDA3-4403-49D0-9EC9-2A3B23B5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6477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32" name="p2-overworld-name">
            <a:extLst xmlns:a="http://schemas.openxmlformats.org/drawingml/2006/main">
              <a:ext uri="{FF2B5EF4-FFF2-40B4-BE49-F238E27FC236}">
                <a16:creationId xmlns:a16="http://schemas.microsoft.com/office/drawing/2014/main" id="{6AE17442-BED8-4D47-8CDD-BD5E4C4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62103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Overworld（地域条件）</a:t>
            </a:r>
          </a:p>
        </p:txBody>
      </p:sp>
      <p:sp>
        <p:nvSpPr>
          <p:cNvPr id="33" name="p2-overworld-detail">
            <a:extLst xmlns:a="http://schemas.openxmlformats.org/drawingml/2006/main">
              <a:ext uri="{FF2B5EF4-FFF2-40B4-BE49-F238E27FC236}">
                <a16:creationId xmlns:a16="http://schemas.microsoft.com/office/drawing/2014/main" id="{18E684DC-CD49-4499-8D4E-DC24110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6210300" cy="3448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开放权重</a:t>
            </a:r>
          </a:p>
        </p:txBody>
      </p:sp>
      <p:sp>
        <p:nvSpPr>
          <p:cNvPr id="34" name="p2-empty-r1-c4">
            <a:extLst xmlns:a="http://schemas.openxmlformats.org/drawingml/2006/main">
              <a:ext uri="{FF2B5EF4-FFF2-40B4-BE49-F238E27FC236}">
                <a16:creationId xmlns:a16="http://schemas.microsoft.com/office/drawing/2014/main" id="{C93DC5FA-9F55-4B2F-B801-A902C832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33147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35" name="p2-empty-r2-c2">
            <a:extLst xmlns:a="http://schemas.openxmlformats.org/drawingml/2006/main">
              <a:ext uri="{FF2B5EF4-FFF2-40B4-BE49-F238E27FC236}">
                <a16:creationId xmlns:a16="http://schemas.microsoft.com/office/drawing/2014/main" id="{333324C8-4D28-4015-8508-F725FD30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916305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36" name="p2-odyssey-mark">
            <a:extLst xmlns:a="http://schemas.openxmlformats.org/drawingml/2006/main">
              <a:ext uri="{FF2B5EF4-FFF2-40B4-BE49-F238E27FC236}">
                <a16:creationId xmlns:a16="http://schemas.microsoft.com/office/drawing/2014/main" id="{1EB94406-6B7C-46C3-9DE8-AB4924F0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37" name="p2-odyssey-name">
            <a:extLst xmlns:a="http://schemas.openxmlformats.org/drawingml/2006/main">
              <a:ext uri="{FF2B5EF4-FFF2-40B4-BE49-F238E27FC236}">
                <a16:creationId xmlns:a16="http://schemas.microsoft.com/office/drawing/2014/main" id="{CC4B98B6-D4BC-4330-9C38-6C0D0E24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3800"/>
            <a:ext cx="6210300" cy="312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38" name="p2-odyssey-detail">
            <a:extLst xmlns:a="http://schemas.openxmlformats.org/drawingml/2006/main">
              <a:ext uri="{FF2B5EF4-FFF2-40B4-BE49-F238E27FC236}">
                <a16:creationId xmlns:a16="http://schemas.microsoft.com/office/drawing/2014/main" id="{0457E757-0AEB-4BC2-9976-E9265FB1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62103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文档入口；账户未独立确认</a:t>
            </a:r>
          </a:p>
        </p:txBody>
      </p:sp>
      <p:sp>
        <p:nvSpPr>
          <p:cNvPr id="39" name="p2-decart-mark">
            <a:extLst xmlns:a="http://schemas.openxmlformats.org/drawingml/2006/main">
              <a:ext uri="{FF2B5EF4-FFF2-40B4-BE49-F238E27FC236}">
                <a16:creationId xmlns:a16="http://schemas.microsoft.com/office/drawing/2014/main" id="{8D2B0EC2-8A5D-42C4-A0CD-29E38499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40" name="p2-decart-name">
            <a:extLst xmlns:a="http://schemas.openxmlformats.org/drawingml/2006/main">
              <a:ext uri="{FF2B5EF4-FFF2-40B4-BE49-F238E27FC236}">
                <a16:creationId xmlns:a16="http://schemas.microsoft.com/office/drawing/2014/main" id="{27B8F56F-258A-4C1E-892F-FB9A0464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43400"/>
            <a:ext cx="621030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41" name="p2-decart-detail">
            <a:extLst xmlns:a="http://schemas.openxmlformats.org/drawingml/2006/main">
              <a:ext uri="{FF2B5EF4-FFF2-40B4-BE49-F238E27FC236}">
                <a16:creationId xmlns:a16="http://schemas.microsoft.com/office/drawing/2014/main" id="{3A95F732-B4C2-458B-A673-F319330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29150"/>
            <a:ext cx="6210300" cy="2228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</a:t>
            </a:r>
          </a:p>
        </p:txBody>
      </p:sp>
      <p:sp>
        <p:nvSpPr>
          <p:cNvPr id="42" name="p2-cosmos-mark">
            <a:extLst xmlns:a="http://schemas.openxmlformats.org/drawingml/2006/main">
              <a:ext uri="{FF2B5EF4-FFF2-40B4-BE49-F238E27FC236}">
                <a16:creationId xmlns:a16="http://schemas.microsoft.com/office/drawing/2014/main" id="{6B5BECF9-4BCA-4E97-B7AE-670A07A4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3" name="p2-cosmos-name">
            <a:extLst xmlns:a="http://schemas.openxmlformats.org/drawingml/2006/main">
              <a:ext uri="{FF2B5EF4-FFF2-40B4-BE49-F238E27FC236}">
                <a16:creationId xmlns:a16="http://schemas.microsoft.com/office/drawing/2014/main" id="{0D535BFE-D4FF-45F9-B32B-1AE12A83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3105150" cy="312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44" name="p2-cosmos-detail">
            <a:extLst xmlns:a="http://schemas.openxmlformats.org/drawingml/2006/main">
              <a:ext uri="{FF2B5EF4-FFF2-40B4-BE49-F238E27FC236}">
                <a16:creationId xmlns:a16="http://schemas.microsoft.com/office/drawing/2014/main" id="{5AB10539-0595-4AE7-A5BB-EDFAFD8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9550"/>
            <a:ext cx="310515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可下载 / 自托管</a:t>
            </a:r>
          </a:p>
        </p:txBody>
      </p:sp>
      <p:sp>
        <p:nvSpPr>
          <p:cNvPr id="45" name="p2-mira-circle">
            <a:extLst xmlns:a="http://schemas.openxmlformats.org/drawingml/2006/main">
              <a:ext uri="{FF2B5EF4-FFF2-40B4-BE49-F238E27FC236}">
                <a16:creationId xmlns:a16="http://schemas.microsoft.com/office/drawing/2014/main" id="{80DA3890-2CA9-45F0-B3B4-C99FBF1B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43400"/>
            <a:ext cx="33718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46" name="p2-mira-name">
            <a:extLst xmlns:a="http://schemas.openxmlformats.org/drawingml/2006/main">
              <a:ext uri="{FF2B5EF4-FFF2-40B4-BE49-F238E27FC236}">
                <a16:creationId xmlns:a16="http://schemas.microsoft.com/office/drawing/2014/main" id="{4300B105-6665-44B1-8F5F-5542EACA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31051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MIRA</a:t>
            </a:r>
          </a:p>
        </p:txBody>
      </p:sp>
      <p:sp>
        <p:nvSpPr>
          <p:cNvPr id="47" name="p2-mira-detail">
            <a:extLst xmlns:a="http://schemas.openxmlformats.org/drawingml/2006/main">
              <a:ext uri="{FF2B5EF4-FFF2-40B4-BE49-F238E27FC236}">
                <a16:creationId xmlns:a16="http://schemas.microsoft.com/office/drawing/2014/main" id="{6A45A193-2ADD-4E7F-BE02-9F9AE3FA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10100"/>
            <a:ext cx="310515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外部入口未核</a:t>
            </a:r>
          </a:p>
        </p:txBody>
      </p:sp>
      <p:sp>
        <p:nvSpPr>
          <p:cNvPr id="48" name="p2-empty-r3-c2">
            <a:extLst xmlns:a="http://schemas.openxmlformats.org/drawingml/2006/main">
              <a:ext uri="{FF2B5EF4-FFF2-40B4-BE49-F238E27FC236}">
                <a16:creationId xmlns:a16="http://schemas.microsoft.com/office/drawing/2014/main" id="{A53F6A41-EE2C-4D32-81E3-7125FB5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19700"/>
            <a:ext cx="91630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49" name="p2-empty-r3-c3">
            <a:extLst xmlns:a="http://schemas.openxmlformats.org/drawingml/2006/main">
              <a:ext uri="{FF2B5EF4-FFF2-40B4-BE49-F238E27FC236}">
                <a16:creationId xmlns:a16="http://schemas.microsoft.com/office/drawing/2014/main" id="{DA52C1A5-0621-40D2-91AC-205130FC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64198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50" name="p2-meta-circle">
            <a:extLst xmlns:a="http://schemas.openxmlformats.org/drawingml/2006/main">
              <a:ext uri="{FF2B5EF4-FFF2-40B4-BE49-F238E27FC236}">
                <a16:creationId xmlns:a16="http://schemas.microsoft.com/office/drawing/2014/main" id="{995456FF-C341-41DF-814B-B0571E76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67300"/>
            <a:ext cx="33718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51" name="p2-meta-name">
            <a:extLst xmlns:a="http://schemas.openxmlformats.org/drawingml/2006/main">
              <a:ext uri="{FF2B5EF4-FFF2-40B4-BE49-F238E27FC236}">
                <a16:creationId xmlns:a16="http://schemas.microsoft.com/office/drawing/2014/main" id="{079065C3-5018-441B-8DFC-DE54F86D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67300"/>
            <a:ext cx="31051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52" name="p2-meta-detail">
            <a:extLst xmlns:a="http://schemas.openxmlformats.org/drawingml/2006/main">
              <a:ext uri="{FF2B5EF4-FFF2-40B4-BE49-F238E27FC236}">
                <a16:creationId xmlns:a16="http://schemas.microsoft.com/office/drawing/2014/main" id="{C8AA3FB3-3B25-48AF-8A93-69EC1E8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34000"/>
            <a:ext cx="31051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checkpoint 可下载；许可待核</a:t>
            </a:r>
          </a:p>
        </p:txBody>
      </p:sp>
      <p:sp>
        <p:nvSpPr>
          <p:cNvPr id="53" name="p2-v-0">
            <a:extLst xmlns:a="http://schemas.openxmlformats.org/drawingml/2006/main">
              <a:ext uri="{FF2B5EF4-FFF2-40B4-BE49-F238E27FC236}">
                <a16:creationId xmlns:a16="http://schemas.microsoft.com/office/drawing/2014/main" id="{1B07DA03-0371-4D7D-94B7-00D3F61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95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4" name="p2-v-1">
            <a:extLst xmlns:a="http://schemas.openxmlformats.org/drawingml/2006/main">
              <a:ext uri="{FF2B5EF4-FFF2-40B4-BE49-F238E27FC236}">
                <a16:creationId xmlns:a16="http://schemas.microsoft.com/office/drawing/2014/main" id="{082ED3CE-9F07-4E9F-803B-090C6311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95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5" name="p2-v-2">
            <a:extLst xmlns:a="http://schemas.openxmlformats.org/drawingml/2006/main">
              <a:ext uri="{FF2B5EF4-FFF2-40B4-BE49-F238E27FC236}">
                <a16:creationId xmlns:a16="http://schemas.microsoft.com/office/drawing/2014/main" id="{4909823D-A9A2-4876-98BC-09FC76EC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04950"/>
            <a:ext cx="95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6" name="p2-h-0">
            <a:extLst xmlns:a="http://schemas.openxmlformats.org/drawingml/2006/main">
              <a:ext uri="{FF2B5EF4-FFF2-40B4-BE49-F238E27FC236}">
                <a16:creationId xmlns:a16="http://schemas.microsoft.com/office/drawing/2014/main" id="{20BD089A-04C1-4BA5-B93B-46E71816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7" name="p2-h-1">
            <a:extLst xmlns:a="http://schemas.openxmlformats.org/drawingml/2006/main">
              <a:ext uri="{FF2B5EF4-FFF2-40B4-BE49-F238E27FC236}">
                <a16:creationId xmlns:a16="http://schemas.microsoft.com/office/drawing/2014/main" id="{AC41A66B-D12F-4C7C-9805-378B2385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8" name="p2-h-2">
            <a:extLst xmlns:a="http://schemas.openxmlformats.org/drawingml/2006/main">
              <a:ext uri="{FF2B5EF4-FFF2-40B4-BE49-F238E27FC236}">
                <a16:creationId xmlns:a16="http://schemas.microsoft.com/office/drawing/2014/main" id="{D4652B53-B15C-4AC2-B0F6-3C6A81E8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9" name="p2-table-bottom">
            <a:extLst xmlns:a="http://schemas.openxmlformats.org/drawingml/2006/main">
              <a:ext uri="{FF2B5EF4-FFF2-40B4-BE49-F238E27FC236}">
                <a16:creationId xmlns:a16="http://schemas.microsoft.com/office/drawing/2014/main" id="{9DFE48E7-389F-4550-BE36-DB5BF0D9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60" name="p2-ami-bg">
            <a:extLst xmlns:a="http://schemas.openxmlformats.org/drawingml/2006/main">
              <a:ext uri="{FF2B5EF4-FFF2-40B4-BE49-F238E27FC236}">
                <a16:creationId xmlns:a16="http://schemas.microsoft.com/office/drawing/2014/main" id="{6E3C5FF6-C922-427D-BE30-59628D77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6"/>
          </a:solidFill>
        </p:spPr>
      </p:sp>
      <p:sp>
        <p:nvSpPr>
          <p:cNvPr id="61" name="p2-ami-accent">
            <a:extLst xmlns:a="http://schemas.openxmlformats.org/drawingml/2006/main">
              <a:ext uri="{FF2B5EF4-FFF2-40B4-BE49-F238E27FC236}">
                <a16:creationId xmlns:a16="http://schemas.microsoft.com/office/drawing/2014/main" id="{FB0D31F9-7A66-4DF9-A9B5-2441844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755"/>
          </a:solidFill>
        </p:spPr>
      </p:sp>
      <p:sp>
        <p:nvSpPr>
          <p:cNvPr id="62" name="p2-ami-name">
            <a:extLst xmlns:a="http://schemas.openxmlformats.org/drawingml/2006/main">
              <a:ext uri="{FF2B5EF4-FFF2-40B4-BE49-F238E27FC236}">
                <a16:creationId xmlns:a16="http://schemas.microsoft.com/office/drawing/2014/main" id="{8B04434C-794C-49C1-B4DA-E06D168D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14109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A48755"/>
                </a:solidFill>
                <a:latin typeface="Noto Sans SC"/>
                <a:ea typeface="Noto Sans SC"/>
                <a:cs typeface="Noto Sans SC"/>
              </a:defRPr>
            </a:pPr>
            <a:r>
              <a:t>早期信号 · AMI Labs</a:t>
            </a:r>
          </a:p>
        </p:txBody>
      </p:sp>
      <p:sp>
        <p:nvSpPr>
          <p:cNvPr id="63" name="p2-ami-detail">
            <a:extLst xmlns:a="http://schemas.openxmlformats.org/drawingml/2006/main">
              <a:ext uri="{FF2B5EF4-FFF2-40B4-BE49-F238E27FC236}">
                <a16:creationId xmlns:a16="http://schemas.microsoft.com/office/drawing/2014/main" id="{E5D07D57-CC29-4161-8346-36731C77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86450"/>
            <a:ext cx="85534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暂不归入三类世界形态；自有技术资产与外部入口待核</a:t>
            </a:r>
          </a:p>
        </p:txBody>
      </p:sp>
      <p:sp>
        <p:nvSpPr>
          <p:cNvPr id="64" name="p2-scope">
            <a:extLst xmlns:a="http://schemas.openxmlformats.org/drawingml/2006/main">
              <a:ext uri="{FF2B5EF4-FFF2-40B4-BE49-F238E27FC236}">
                <a16:creationId xmlns:a16="http://schemas.microsoft.com/office/drawing/2014/main" id="{BAAC2B62-C8A8-484C-AF97-6152DCF7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582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5/4/1；中国大陆公司与类别外路线不作节点；Manifold 只作公开锚点。</a:t>
            </a:r>
          </a:p>
        </p:txBody>
      </p:sp>
      <p:sp>
        <p:nvSpPr>
          <p:cNvPr id="65" name="p2-footer-rule">
            <a:extLst xmlns:a="http://schemas.openxmlformats.org/drawingml/2006/main">
              <a:ext uri="{FF2B5EF4-FFF2-40B4-BE49-F238E27FC236}">
                <a16:creationId xmlns:a16="http://schemas.microsoft.com/office/drawing/2014/main" id="{E0B9D6A5-16FA-435B-8756-4CA1195B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66" name="p2-footer-source">
            <a:extLst xmlns:a="http://schemas.openxmlformats.org/drawingml/2006/main">
              <a:ext uri="{FF2B5EF4-FFF2-40B4-BE49-F238E27FC236}">
                <a16:creationId xmlns:a16="http://schemas.microsoft.com/office/drawing/2014/main" id="{73E8680D-C13A-48A7-B5F5-0177ECEF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来源：官方项目、产品、代码仓库、开发者资料及公司/地域资料</a:t>
            </a:r>
          </a:p>
        </p:txBody>
      </p:sp>
      <p:sp>
        <p:nvSpPr>
          <p:cNvPr id="67" name="p2-footer-page">
            <a:extLst xmlns:a="http://schemas.openxmlformats.org/drawingml/2006/main">
              <a:ext uri="{FF2B5EF4-FFF2-40B4-BE49-F238E27FC236}">
                <a16:creationId xmlns:a16="http://schemas.microsoft.com/office/drawing/2014/main" id="{FD54AE33-7E0F-4B84-B7E6-90E04244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02</a:t>
            </a:r>
          </a:p>
        </p:txBody>
      </p:sp>
    </p:spTree>
    <p:extLst>
      <p:ext uri="{BB962C8B-B14F-4D97-AF65-F5344CB8AC3E}">
        <p14:creationId xmlns:p14="http://schemas.microsoft.com/office/powerpoint/2010/main" val="776717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3-eyebrow">
            <a:extLst xmlns:a="http://schemas.openxmlformats.org/drawingml/2006/main">
              <a:ext uri="{FF2B5EF4-FFF2-40B4-BE49-F238E27FC236}">
                <a16:creationId xmlns:a16="http://schemas.microsoft.com/office/drawing/2014/main" id="{BE6B1DE4-EBF1-435B-BFEA-D37BCF46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FIVE PATHS · NO RANKING</a:t>
            </a:r>
          </a:p>
        </p:txBody>
      </p:sp>
      <p:sp>
        <p:nvSpPr>
          <p:cNvPr id="2" name="p3-title">
            <a:extLst xmlns:a="http://schemas.openxmlformats.org/drawingml/2006/main">
              <a:ext uri="{FF2B5EF4-FFF2-40B4-BE49-F238E27FC236}">
                <a16:creationId xmlns:a16="http://schemas.microsoft.com/office/drawing/2014/main" id="{92BBC667-2FF6-4335-A400-AD32A84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五席走五条路，差异在产品形态和证据成熟度</a:t>
            </a:r>
          </a:p>
        </p:txBody>
      </p:sp>
      <p:sp>
        <p:nvSpPr>
          <p:cNvPr id="3" name="p3-subtitle">
            <a:extLst xmlns:a="http://schemas.openxmlformats.org/drawingml/2006/main">
              <a:ext uri="{FF2B5EF4-FFF2-40B4-BE49-F238E27FC236}">
                <a16:creationId xmlns:a16="http://schemas.microsoft.com/office/drawing/2014/main" id="{022899DF-78BF-43BF-AF60-2F3745BA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11582400" cy="5838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固定五席体现路线互补，不构成能力、公司或商业成熟度排名。</a:t>
            </a:r>
          </a:p>
        </p:txBody>
      </p:sp>
      <p:sp>
        <p:nvSpPr>
          <p:cNvPr id="4" name="p3-header-bg">
            <a:extLst xmlns:a="http://schemas.openxmlformats.org/drawingml/2006/main">
              <a:ext uri="{FF2B5EF4-FFF2-40B4-BE49-F238E27FC236}">
                <a16:creationId xmlns:a16="http://schemas.microsoft.com/office/drawing/2014/main" id="{3FD355B7-D66C-4995-AA69-9DDF410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5" name="p3-header-accent-0">
            <a:extLst xmlns:a="http://schemas.openxmlformats.org/drawingml/2006/main">
              <a:ext uri="{FF2B5EF4-FFF2-40B4-BE49-F238E27FC236}">
                <a16:creationId xmlns:a16="http://schemas.microsoft.com/office/drawing/2014/main" id="{A762CAB4-9D94-4A1F-91BB-569E7BAA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6" name="p3-header-0">
            <a:extLst xmlns:a="http://schemas.openxmlformats.org/drawingml/2006/main">
              <a:ext uri="{FF2B5EF4-FFF2-40B4-BE49-F238E27FC236}">
                <a16:creationId xmlns:a16="http://schemas.microsoft.com/office/drawing/2014/main" id="{89C8663A-C42A-4A2F-AC26-8F28839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146810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比较维度</a:t>
            </a:r>
          </a:p>
        </p:txBody>
      </p:sp>
      <p:sp>
        <p:nvSpPr>
          <p:cNvPr id="7" name="p3-header-accent-1">
            <a:extLst xmlns:a="http://schemas.openxmlformats.org/drawingml/2006/main">
              <a:ext uri="{FF2B5EF4-FFF2-40B4-BE49-F238E27FC236}">
                <a16:creationId xmlns:a16="http://schemas.microsoft.com/office/drawing/2014/main" id="{57957741-C389-4B3B-AB71-94EA36F4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8" name="p3-header-1">
            <a:extLst xmlns:a="http://schemas.openxmlformats.org/drawingml/2006/main">
              <a:ext uri="{FF2B5EF4-FFF2-40B4-BE49-F238E27FC236}">
                <a16:creationId xmlns:a16="http://schemas.microsoft.com/office/drawing/2014/main" id="{9BE942D4-9A7E-40F1-849A-D7153EB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66850"/>
            <a:ext cx="1015365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9" name="p3-header-accent-2">
            <a:extLst xmlns:a="http://schemas.openxmlformats.org/drawingml/2006/main">
              <a:ext uri="{FF2B5EF4-FFF2-40B4-BE49-F238E27FC236}">
                <a16:creationId xmlns:a16="http://schemas.microsoft.com/office/drawing/2014/main" id="{9DA32ABD-C3F4-451A-98F9-353A2E2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0" name="p3-header-2">
            <a:extLst xmlns:a="http://schemas.openxmlformats.org/drawingml/2006/main">
              <a:ext uri="{FF2B5EF4-FFF2-40B4-BE49-F238E27FC236}">
                <a16:creationId xmlns:a16="http://schemas.microsoft.com/office/drawing/2014/main" id="{7077922A-A216-410A-AD19-C99B030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466850"/>
            <a:ext cx="822198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11" name="p3-header-accent-3">
            <a:extLst xmlns:a="http://schemas.openxmlformats.org/drawingml/2006/main">
              <a:ext uri="{FF2B5EF4-FFF2-40B4-BE49-F238E27FC236}">
                <a16:creationId xmlns:a16="http://schemas.microsoft.com/office/drawing/2014/main" id="{750DA152-629E-431A-8B32-CC6357E0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2" name="p3-header-3">
            <a:extLst xmlns:a="http://schemas.openxmlformats.org/drawingml/2006/main">
              <a:ext uri="{FF2B5EF4-FFF2-40B4-BE49-F238E27FC236}">
                <a16:creationId xmlns:a16="http://schemas.microsoft.com/office/drawing/2014/main" id="{D511A0C7-5283-44C2-9F23-93F573DA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466850"/>
            <a:ext cx="629031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13" name="p3-header-accent-4">
            <a:extLst xmlns:a="http://schemas.openxmlformats.org/drawingml/2006/main">
              <a:ext uri="{FF2B5EF4-FFF2-40B4-BE49-F238E27FC236}">
                <a16:creationId xmlns:a16="http://schemas.microsoft.com/office/drawing/2014/main" id="{298DD386-91C1-43BE-979E-74706CAF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4" name="p3-header-4">
            <a:extLst xmlns:a="http://schemas.openxmlformats.org/drawingml/2006/main">
              <a:ext uri="{FF2B5EF4-FFF2-40B4-BE49-F238E27FC236}">
                <a16:creationId xmlns:a16="http://schemas.microsoft.com/office/drawing/2014/main" id="{E9ECDD79-7395-4474-B91E-20399AA0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466850"/>
            <a:ext cx="435864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15" name="p3-header-accent-5">
            <a:extLst xmlns:a="http://schemas.openxmlformats.org/drawingml/2006/main">
              <a:ext uri="{FF2B5EF4-FFF2-40B4-BE49-F238E27FC236}">
                <a16:creationId xmlns:a16="http://schemas.microsoft.com/office/drawing/2014/main" id="{255E698E-CDCE-4030-BF37-A3217984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6" name="p3-header-5">
            <a:extLst xmlns:a="http://schemas.openxmlformats.org/drawingml/2006/main">
              <a:ext uri="{FF2B5EF4-FFF2-40B4-BE49-F238E27FC236}">
                <a16:creationId xmlns:a16="http://schemas.microsoft.com/office/drawing/2014/main" id="{C774C8C6-53B9-40F8-B1B2-B1DBB39D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466850"/>
            <a:ext cx="242697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17" name="p3-row-bg-0">
            <a:extLst xmlns:a="http://schemas.openxmlformats.org/drawingml/2006/main">
              <a:ext uri="{FF2B5EF4-FFF2-40B4-BE49-F238E27FC236}">
                <a16:creationId xmlns:a16="http://schemas.microsoft.com/office/drawing/2014/main" id="{F08196B2-EEFE-4CDD-BB7F-CC3C791B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8" name="p3-rowhead-0">
            <a:extLst xmlns:a="http://schemas.openxmlformats.org/drawingml/2006/main">
              <a:ext uri="{FF2B5EF4-FFF2-40B4-BE49-F238E27FC236}">
                <a16:creationId xmlns:a16="http://schemas.microsoft.com/office/drawing/2014/main" id="{98262F99-03BC-4E32-8918-8CA8ABDF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146810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技术证据</a:t>
            </a:r>
          </a:p>
        </p:txBody>
      </p:sp>
      <p:sp>
        <p:nvSpPr>
          <p:cNvPr id="19" name="p3-cell-0-0">
            <a:extLst xmlns:a="http://schemas.openxmlformats.org/drawingml/2006/main">
              <a:ext uri="{FF2B5EF4-FFF2-40B4-BE49-F238E27FC236}">
                <a16:creationId xmlns:a16="http://schemas.microsoft.com/office/drawing/2014/main" id="{7F6DECB6-E9E5-498B-A925-AFCCA773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05000"/>
            <a:ext cx="1015365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位姿条件导航与
空间记忆；动态物体
仍待证</a:t>
            </a:r>
          </a:p>
        </p:txBody>
      </p:sp>
      <p:sp>
        <p:nvSpPr>
          <p:cNvPr id="20" name="p3-cell-0-1">
            <a:extLst xmlns:a="http://schemas.openxmlformats.org/drawingml/2006/main">
              <a:ext uri="{FF2B5EF4-FFF2-40B4-BE49-F238E27FC236}">
                <a16:creationId xmlns:a16="http://schemas.microsoft.com/office/drawing/2014/main" id="{80677359-35F0-4F44-BB77-A6724B6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905000"/>
            <a:ext cx="822198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历史帧和动作条件
未来；长时稳定性
未独立验证</a:t>
            </a:r>
          </a:p>
        </p:txBody>
      </p:sp>
      <p:sp>
        <p:nvSpPr>
          <p:cNvPr id="21" name="p3-cell-0-2">
            <a:extLst xmlns:a="http://schemas.openxmlformats.org/drawingml/2006/main">
              <a:ext uri="{FF2B5EF4-FFF2-40B4-BE49-F238E27FC236}">
                <a16:creationId xmlns:a16="http://schemas.microsoft.com/office/drawing/2014/main" id="{6BD688E4-B8DA-414B-81CF-7D1A6B41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905000"/>
            <a:ext cx="629031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 支持导航
条件未来；Robotics
证据单列</a:t>
            </a:r>
          </a:p>
        </p:txBody>
      </p:sp>
      <p:sp>
        <p:nvSpPr>
          <p:cNvPr id="22" name="p3-cell-0-3">
            <a:extLst xmlns:a="http://schemas.openxmlformats.org/drawingml/2006/main">
              <a:ext uri="{FF2B5EF4-FFF2-40B4-BE49-F238E27FC236}">
                <a16:creationId xmlns:a16="http://schemas.microsoft.com/office/drawing/2014/main" id="{F7A327D0-5E54-4FA3-9B09-D11AC6C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905000"/>
            <a:ext cx="435864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油门/转向驱动
三向后续视图；
动作域较窄</a:t>
            </a:r>
          </a:p>
        </p:txBody>
      </p:sp>
      <p:sp>
        <p:nvSpPr>
          <p:cNvPr id="23" name="p3-cell-0-4">
            <a:extLst xmlns:a="http://schemas.openxmlformats.org/drawingml/2006/main">
              <a:ext uri="{FF2B5EF4-FFF2-40B4-BE49-F238E27FC236}">
                <a16:creationId xmlns:a16="http://schemas.microsoft.com/office/drawing/2014/main" id="{BC3BE163-7861-4444-A1A1-2F44761C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905000"/>
            <a:ext cx="242697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动作条件前向预测；
漂移、几何和碰撞
仍有限</a:t>
            </a:r>
          </a:p>
        </p:txBody>
      </p:sp>
      <p:sp>
        <p:nvSpPr>
          <p:cNvPr id="24" name="p3-row-bg-1">
            <a:extLst xmlns:a="http://schemas.openxmlformats.org/drawingml/2006/main">
              <a:ext uri="{FF2B5EF4-FFF2-40B4-BE49-F238E27FC236}">
                <a16:creationId xmlns:a16="http://schemas.microsoft.com/office/drawing/2014/main" id="{EAC76CBA-C074-4644-AFD4-928C013B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25" name="p3-rowhead-1">
            <a:extLst xmlns:a="http://schemas.openxmlformats.org/drawingml/2006/main">
              <a:ext uri="{FF2B5EF4-FFF2-40B4-BE49-F238E27FC236}">
                <a16:creationId xmlns:a16="http://schemas.microsoft.com/office/drawing/2014/main" id="{03D0A5E7-C549-4EAB-B667-49A264C4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146810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外部
可获得性</a:t>
            </a:r>
          </a:p>
        </p:txBody>
      </p:sp>
      <p:sp>
        <p:nvSpPr>
          <p:cNvPr id="26" name="p3-cell-1-0">
            <a:extLst xmlns:a="http://schemas.openxmlformats.org/drawingml/2006/main">
              <a:ext uri="{FF2B5EF4-FFF2-40B4-BE49-F238E27FC236}">
                <a16:creationId xmlns:a16="http://schemas.microsoft.com/office/drawing/2014/main" id="{45771A58-9408-4ABE-A15B-453662B4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28950"/>
            <a:ext cx="1015365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公开计价的
专有世界接口</a:t>
            </a:r>
          </a:p>
        </p:txBody>
      </p:sp>
      <p:sp>
        <p:nvSpPr>
          <p:cNvPr id="27" name="p3-cell-1-1">
            <a:extLst xmlns:a="http://schemas.openxmlformats.org/drawingml/2006/main">
              <a:ext uri="{FF2B5EF4-FFF2-40B4-BE49-F238E27FC236}">
                <a16:creationId xmlns:a16="http://schemas.microsoft.com/office/drawing/2014/main" id="{533540B8-80A4-48AE-9E89-4580D418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3028950"/>
            <a:ext cx="822198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厂商文档化
原型接口；实际账户
未确认</a:t>
            </a:r>
          </a:p>
        </p:txBody>
      </p:sp>
      <p:sp>
        <p:nvSpPr>
          <p:cNvPr id="28" name="p3-cell-1-2">
            <a:extLst xmlns:a="http://schemas.openxmlformats.org/drawingml/2006/main">
              <a:ext uri="{FF2B5EF4-FFF2-40B4-BE49-F238E27FC236}">
                <a16:creationId xmlns:a16="http://schemas.microsoft.com/office/drawing/2014/main" id="{1B8BE174-AD62-477D-89A4-7A6060A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3028950"/>
            <a:ext cx="629031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 申请制；
Robotics 需洽谈</a:t>
            </a:r>
          </a:p>
        </p:txBody>
      </p:sp>
      <p:sp>
        <p:nvSpPr>
          <p:cNvPr id="29" name="p3-cell-1-3">
            <a:extLst xmlns:a="http://schemas.openxmlformats.org/drawingml/2006/main">
              <a:ext uri="{FF2B5EF4-FFF2-40B4-BE49-F238E27FC236}">
                <a16:creationId xmlns:a16="http://schemas.microsoft.com/office/drawing/2014/main" id="{28BF4855-B5E5-46C4-BC20-A5B31AB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3028950"/>
            <a:ext cx="435864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公开账户、按秒
计费的预览接口</a:t>
            </a:r>
          </a:p>
        </p:txBody>
      </p:sp>
      <p:sp>
        <p:nvSpPr>
          <p:cNvPr id="30" name="p3-cell-1-4">
            <a:extLst xmlns:a="http://schemas.openxmlformats.org/drawingml/2006/main">
              <a:ext uri="{FF2B5EF4-FFF2-40B4-BE49-F238E27FC236}">
                <a16:creationId xmlns:a16="http://schemas.microsoft.com/office/drawing/2014/main" id="{947DDC52-6FD6-4406-8590-3DD2AC8C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3028950"/>
            <a:ext cx="242697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模型材料可下载
并可自托管；
Generator NIM 1.0.0
只含文生/图生视频</a:t>
            </a:r>
          </a:p>
        </p:txBody>
      </p:sp>
      <p:sp>
        <p:nvSpPr>
          <p:cNvPr id="31" name="p3-row-bg-2">
            <a:extLst xmlns:a="http://schemas.openxmlformats.org/drawingml/2006/main">
              <a:ext uri="{FF2B5EF4-FFF2-40B4-BE49-F238E27FC236}">
                <a16:creationId xmlns:a16="http://schemas.microsoft.com/office/drawing/2014/main" id="{2268AD7B-5226-4064-A599-C65C9B80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2" name="p3-rowhead-2">
            <a:extLst xmlns:a="http://schemas.openxmlformats.org/drawingml/2006/main">
              <a:ext uri="{FF2B5EF4-FFF2-40B4-BE49-F238E27FC236}">
                <a16:creationId xmlns:a16="http://schemas.microsoft.com/office/drawing/2014/main" id="{B854AEF3-0B24-47BA-BA68-942A950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14681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商业采用
上限</a:t>
            </a:r>
          </a:p>
        </p:txBody>
      </p:sp>
      <p:sp>
        <p:nvSpPr>
          <p:cNvPr id="33" name="p3-cell-2-0">
            <a:extLst xmlns:a="http://schemas.openxmlformats.org/drawingml/2006/main">
              <a:ext uri="{FF2B5EF4-FFF2-40B4-BE49-F238E27FC236}">
                <a16:creationId xmlns:a16="http://schemas.microsoft.com/office/drawing/2014/main" id="{87774FB3-B079-416A-A1F0-F9F35BA4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62450"/>
            <a:ext cx="1015365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供应商托管原型；
无客户第一方
生产证据</a:t>
            </a:r>
          </a:p>
        </p:txBody>
      </p:sp>
      <p:sp>
        <p:nvSpPr>
          <p:cNvPr id="34" name="p3-cell-2-1">
            <a:extLst xmlns:a="http://schemas.openxmlformats.org/drawingml/2006/main">
              <a:ext uri="{FF2B5EF4-FFF2-40B4-BE49-F238E27FC236}">
                <a16:creationId xmlns:a16="http://schemas.microsoft.com/office/drawing/2014/main" id="{528A6745-DE6F-4953-A671-2050E8F8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4362450"/>
            <a:ext cx="822198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合同框架与
自报云合作；
无具名采用证据</a:t>
            </a:r>
          </a:p>
        </p:txBody>
      </p:sp>
      <p:sp>
        <p:nvSpPr>
          <p:cNvPr id="35" name="p3-cell-2-2">
            <a:extLst xmlns:a="http://schemas.openxmlformats.org/drawingml/2006/main">
              <a:ext uri="{FF2B5EF4-FFF2-40B4-BE49-F238E27FC236}">
                <a16:creationId xmlns:a16="http://schemas.microsoft.com/office/drawing/2014/main" id="{328A218E-6D01-436D-A6BB-DAC4BEE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4362450"/>
            <a:ext cx="629031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公司自报合作；
无伙伴侧
部署证据</a:t>
            </a:r>
          </a:p>
        </p:txBody>
      </p:sp>
      <p:sp>
        <p:nvSpPr>
          <p:cNvPr id="36" name="p3-cell-2-3">
            <a:extLst xmlns:a="http://schemas.openxmlformats.org/drawingml/2006/main">
              <a:ext uri="{FF2B5EF4-FFF2-40B4-BE49-F238E27FC236}">
                <a16:creationId xmlns:a16="http://schemas.microsoft.com/office/drawing/2014/main" id="{6B9638AE-C29C-4998-836E-C362CF4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4362450"/>
            <a:ext cx="435864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有价格与独立体验；
无付费客户或
生产证据</a:t>
            </a:r>
          </a:p>
        </p:txBody>
      </p:sp>
      <p:sp>
        <p:nvSpPr>
          <p:cNvPr id="37" name="p3-cell-2-4">
            <a:extLst xmlns:a="http://schemas.openxmlformats.org/drawingml/2006/main">
              <a:ext uri="{FF2B5EF4-FFF2-40B4-BE49-F238E27FC236}">
                <a16:creationId xmlns:a16="http://schemas.microsoft.com/office/drawing/2014/main" id="{06129079-3D20-489B-A0D9-0E6BF7A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4362450"/>
            <a:ext cx="242697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伙伴自报早期测试 /
内部部署；无客户
第一方付费生产证据</a:t>
            </a:r>
          </a:p>
        </p:txBody>
      </p:sp>
      <p:sp>
        <p:nvSpPr>
          <p:cNvPr id="38" name="p3-row-bg-3">
            <a:extLst xmlns:a="http://schemas.openxmlformats.org/drawingml/2006/main">
              <a:ext uri="{FF2B5EF4-FFF2-40B4-BE49-F238E27FC236}">
                <a16:creationId xmlns:a16="http://schemas.microsoft.com/office/drawing/2014/main" id="{CCD3AEFF-9EDD-47BF-90D4-FB91C54F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39" name="p3-rowhead-3">
            <a:extLst xmlns:a="http://schemas.openxmlformats.org/drawingml/2006/main">
              <a:ext uri="{FF2B5EF4-FFF2-40B4-BE49-F238E27FC236}">
                <a16:creationId xmlns:a16="http://schemas.microsoft.com/office/drawing/2014/main" id="{29DC77B2-09E9-45CB-B1A5-0E39EA4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1468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
的意义</a:t>
            </a:r>
          </a:p>
        </p:txBody>
      </p:sp>
      <p:sp>
        <p:nvSpPr>
          <p:cNvPr id="40" name="p3-cell-3-0">
            <a:extLst xmlns:a="http://schemas.openxmlformats.org/drawingml/2006/main">
              <a:ext uri="{FF2B5EF4-FFF2-40B4-BE49-F238E27FC236}">
                <a16:creationId xmlns:a16="http://schemas.microsoft.com/office/drawing/2014/main" id="{0CE039ED-E8B8-45FE-9FAC-F44E317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101536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
绕行生成与交付</a:t>
            </a:r>
          </a:p>
        </p:txBody>
      </p:sp>
      <p:sp>
        <p:nvSpPr>
          <p:cNvPr id="41" name="p3-cell-3-1">
            <a:extLst xmlns:a="http://schemas.openxmlformats.org/drawingml/2006/main">
              <a:ext uri="{FF2B5EF4-FFF2-40B4-BE49-F238E27FC236}">
                <a16:creationId xmlns:a16="http://schemas.microsoft.com/office/drawing/2014/main" id="{806B59BD-CCF2-469E-A2A0-3D990EB4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5619750"/>
            <a:ext cx="822198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若接口稳定，可成为
实时世界流基础设施</a:t>
            </a:r>
          </a:p>
        </p:txBody>
      </p:sp>
      <p:sp>
        <p:nvSpPr>
          <p:cNvPr id="42" name="p3-cell-3-2">
            <a:extLst xmlns:a="http://schemas.openxmlformats.org/drawingml/2006/main">
              <a:ext uri="{FF2B5EF4-FFF2-40B4-BE49-F238E27FC236}">
                <a16:creationId xmlns:a16="http://schemas.microsoft.com/office/drawing/2014/main" id="{A4B4B989-2594-47A2-B96C-7BFC6142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5619750"/>
            <a:ext cx="629031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内容平台向可探索
世界和机器人应用延伸</a:t>
            </a:r>
          </a:p>
        </p:txBody>
      </p:sp>
      <p:sp>
        <p:nvSpPr>
          <p:cNvPr id="43" name="p3-cell-3-3">
            <a:extLst xmlns:a="http://schemas.openxmlformats.org/drawingml/2006/main">
              <a:ext uri="{FF2B5EF4-FFF2-40B4-BE49-F238E27FC236}">
                <a16:creationId xmlns:a16="http://schemas.microsoft.com/office/drawing/2014/main" id="{1D05EBFF-B481-47DB-B84F-822EB56F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5619750"/>
            <a:ext cx="435864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可计费驾驶接口把
竞争推向具体任务</a:t>
            </a:r>
          </a:p>
        </p:txBody>
      </p:sp>
      <p:sp>
        <p:nvSpPr>
          <p:cNvPr id="44" name="p3-cell-3-4">
            <a:extLst xmlns:a="http://schemas.openxmlformats.org/drawingml/2006/main">
              <a:ext uri="{FF2B5EF4-FFF2-40B4-BE49-F238E27FC236}">
                <a16:creationId xmlns:a16="http://schemas.microsoft.com/office/drawing/2014/main" id="{48055D41-3754-43EA-A150-5A83B1C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5619750"/>
            <a:ext cx="242697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自托管组件可绕行
供应商，也可成为底层</a:t>
            </a:r>
          </a:p>
        </p:txBody>
      </p:sp>
      <p:sp>
        <p:nvSpPr>
          <p:cNvPr id="45" name="p3-h-0">
            <a:extLst xmlns:a="http://schemas.openxmlformats.org/drawingml/2006/main">
              <a:ext uri="{FF2B5EF4-FFF2-40B4-BE49-F238E27FC236}">
                <a16:creationId xmlns:a16="http://schemas.microsoft.com/office/drawing/2014/main" id="{5669728B-28F3-414F-88B8-73CDDD2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6" name="p3-h-1">
            <a:extLst xmlns:a="http://schemas.openxmlformats.org/drawingml/2006/main">
              <a:ext uri="{FF2B5EF4-FFF2-40B4-BE49-F238E27FC236}">
                <a16:creationId xmlns:a16="http://schemas.microsoft.com/office/drawing/2014/main" id="{7871A6AE-FBD8-46B5-A38D-7E4A006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7" name="p3-h-2">
            <a:extLst xmlns:a="http://schemas.openxmlformats.org/drawingml/2006/main">
              <a:ext uri="{FF2B5EF4-FFF2-40B4-BE49-F238E27FC236}">
                <a16:creationId xmlns:a16="http://schemas.microsoft.com/office/drawing/2014/main" id="{50AAC7BD-DEFF-4829-9E19-6422C6CA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8" name="p3-h-3">
            <a:extLst xmlns:a="http://schemas.openxmlformats.org/drawingml/2006/main">
              <a:ext uri="{FF2B5EF4-FFF2-40B4-BE49-F238E27FC236}">
                <a16:creationId xmlns:a16="http://schemas.microsoft.com/office/drawing/2014/main" id="{9AF0914B-CAEC-4441-9A80-F0CA19D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9" name="p3-footer-rule">
            <a:extLst xmlns:a="http://schemas.openxmlformats.org/drawingml/2006/main">
              <a:ext uri="{FF2B5EF4-FFF2-40B4-BE49-F238E27FC236}">
                <a16:creationId xmlns:a16="http://schemas.microsoft.com/office/drawing/2014/main" id="{3A7CA33D-8798-4C6D-8C4D-DB96AA7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50" name="p3-footer-source">
            <a:extLst xmlns:a="http://schemas.openxmlformats.org/drawingml/2006/main">
              <a:ext uri="{FF2B5EF4-FFF2-40B4-BE49-F238E27FC236}">
                <a16:creationId xmlns:a16="http://schemas.microsoft.com/office/drawing/2014/main" id="{B49A6216-C628-4EAF-BC03-CE17A6AF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来源：官方技术、产品、接入、价格和条款资料；公司/伙伴自报及独立体验</a:t>
            </a:r>
          </a:p>
        </p:txBody>
      </p:sp>
      <p:sp>
        <p:nvSpPr>
          <p:cNvPr id="51" name="p3-footer-page">
            <a:extLst xmlns:a="http://schemas.openxmlformats.org/drawingml/2006/main">
              <a:ext uri="{FF2B5EF4-FFF2-40B4-BE49-F238E27FC236}">
                <a16:creationId xmlns:a16="http://schemas.microsoft.com/office/drawing/2014/main" id="{CAFDCE4F-4763-4596-AD33-89E5D4AD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03</a:t>
            </a:r>
          </a:p>
        </p:txBody>
      </p:sp>
    </p:spTree>
    <p:extLst>
      <p:ext uri="{BB962C8B-B14F-4D97-AF65-F5344CB8AC3E}">
        <p14:creationId xmlns:p14="http://schemas.microsoft.com/office/powerpoint/2010/main" val="1204572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4-identity">
            <a:extLst xmlns:a="http://schemas.openxmlformats.org/drawingml/2006/main">
              <a:ext uri="{FF2B5EF4-FFF2-40B4-BE49-F238E27FC236}">
                <a16:creationId xmlns:a16="http://schemas.microsoft.com/office/drawing/2014/main" id="{02287316-0CBF-4543-8059-426D33BD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创业公司 1/4 · WORLD LABS</a:t>
            </a:r>
          </a:p>
        </p:txBody>
      </p:sp>
      <p:sp>
        <p:nvSpPr>
          <p:cNvPr id="2" name="p4-title">
            <a:extLst xmlns:a="http://schemas.openxmlformats.org/drawingml/2006/main">
              <a:ext uri="{FF2B5EF4-FFF2-40B4-BE49-F238E27FC236}">
                <a16:creationId xmlns:a16="http://schemas.microsoft.com/office/drawing/2014/main" id="{2937CDA0-2C49-4931-AD36-CF134202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World API 已开放计价；
动态交互和客户采用仍待证</a:t>
            </a:r>
          </a:p>
        </p:txBody>
      </p:sp>
      <p:sp>
        <p:nvSpPr>
          <p:cNvPr id="3" name="p4-route-line">
            <a:extLst xmlns:a="http://schemas.openxmlformats.org/drawingml/2006/main">
              <a:ext uri="{FF2B5EF4-FFF2-40B4-BE49-F238E27FC236}">
                <a16:creationId xmlns:a16="http://schemas.microsoft.com/office/drawing/2014/main" id="{C99FDAA8-FB26-4CA1-AB33-0016566C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4" name="p4-route">
            <a:extLst xmlns:a="http://schemas.openxmlformats.org/drawingml/2006/main">
              <a:ext uri="{FF2B5EF4-FFF2-40B4-BE49-F238E27FC236}">
                <a16:creationId xmlns:a16="http://schemas.microsoft.com/office/drawing/2014/main" id="{6D1311B0-29A6-410D-B8C3-8E33EE25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1049000" cy="514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持久空间世界 · 公开计价接口</a:t>
            </a:r>
          </a:p>
        </p:txBody>
      </p:sp>
      <p:sp>
        <p:nvSpPr>
          <p:cNvPr id="5" name="p4-established-bg">
            <a:extLst xmlns:a="http://schemas.openxmlformats.org/drawingml/2006/main">
              <a:ext uri="{FF2B5EF4-FFF2-40B4-BE49-F238E27FC236}">
                <a16:creationId xmlns:a16="http://schemas.microsoft.com/office/drawing/2014/main" id="{3B5B5191-84DD-4561-9759-3E46BD83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819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6" name="p4-established-rule">
            <a:extLst xmlns:a="http://schemas.openxmlformats.org/drawingml/2006/main">
              <a:ext uri="{FF2B5EF4-FFF2-40B4-BE49-F238E27FC236}">
                <a16:creationId xmlns:a16="http://schemas.microsoft.com/office/drawing/2014/main" id="{7A03FC44-B617-4A19-9E6C-55544C20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7" name="p4-established-label">
            <a:extLst xmlns:a="http://schemas.openxmlformats.org/drawingml/2006/main">
              <a:ext uri="{FF2B5EF4-FFF2-40B4-BE49-F238E27FC236}">
                <a16:creationId xmlns:a16="http://schemas.microsoft.com/office/drawing/2014/main" id="{2277FEED-EE18-4B51-8B9D-B17C1DD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12776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8" name="p4-component-divider">
            <a:extLst xmlns:a="http://schemas.openxmlformats.org/drawingml/2006/main">
              <a:ext uri="{FF2B5EF4-FFF2-40B4-BE49-F238E27FC236}">
                <a16:creationId xmlns:a16="http://schemas.microsoft.com/office/drawing/2014/main" id="{701972CB-0A16-4E12-83C2-3A1889C7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9" name="p4-rtfm-name">
            <a:extLst xmlns:a="http://schemas.openxmlformats.org/drawingml/2006/main">
              <a:ext uri="{FF2B5EF4-FFF2-40B4-BE49-F238E27FC236}">
                <a16:creationId xmlns:a16="http://schemas.microsoft.com/office/drawing/2014/main" id="{1814D499-9C05-42E8-91BE-44ABDE41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127760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RTFM</a:t>
            </a:r>
          </a:p>
        </p:txBody>
      </p:sp>
      <p:sp>
        <p:nvSpPr>
          <p:cNvPr id="10" name="p4-rtfm-body">
            <a:extLst xmlns:a="http://schemas.openxmlformats.org/drawingml/2006/main">
              <a:ext uri="{FF2B5EF4-FFF2-40B4-BE49-F238E27FC236}">
                <a16:creationId xmlns:a16="http://schemas.microsoft.com/office/drawing/2014/main" id="{3270661A-1F6E-48DE-9631-7269D342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127760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位姿条件未来视图
与空间记忆已经公开；
动态物体仍待证。</a:t>
            </a:r>
          </a:p>
        </p:txBody>
      </p:sp>
      <p:sp>
        <p:nvSpPr>
          <p:cNvPr id="11" name="p4-api-name">
            <a:extLst xmlns:a="http://schemas.openxmlformats.org/drawingml/2006/main">
              <a:ext uri="{FF2B5EF4-FFF2-40B4-BE49-F238E27FC236}">
                <a16:creationId xmlns:a16="http://schemas.microsoft.com/office/drawing/2014/main" id="{42C9A7EF-43F6-4D73-8A6C-66E7732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79438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Marble / World API</a:t>
            </a:r>
          </a:p>
        </p:txBody>
      </p:sp>
      <p:sp>
        <p:nvSpPr>
          <p:cNvPr id="12" name="p4-api-body">
            <a:extLst xmlns:a="http://schemas.openxmlformats.org/drawingml/2006/main">
              <a:ext uri="{FF2B5EF4-FFF2-40B4-BE49-F238E27FC236}">
                <a16:creationId xmlns:a16="http://schemas.microsoft.com/office/drawing/2014/main" id="{D9CA6F9D-C1A3-4FD7-BDDF-03E20384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79438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已有公开计价；
与 RTFM 分立，
两条路线需单独判断。</a:t>
            </a:r>
          </a:p>
        </p:txBody>
      </p:sp>
      <p:sp>
        <p:nvSpPr>
          <p:cNvPr id="13" name="p4-not-bg">
            <a:extLst xmlns:a="http://schemas.openxmlformats.org/drawingml/2006/main">
              <a:ext uri="{FF2B5EF4-FFF2-40B4-BE49-F238E27FC236}">
                <a16:creationId xmlns:a16="http://schemas.microsoft.com/office/drawing/2014/main" id="{399741AC-7ABD-4229-9DC1-E8B918F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3619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4" name="p4-not-rule">
            <a:extLst xmlns:a="http://schemas.openxmlformats.org/drawingml/2006/main">
              <a:ext uri="{FF2B5EF4-FFF2-40B4-BE49-F238E27FC236}">
                <a16:creationId xmlns:a16="http://schemas.microsoft.com/office/drawing/2014/main" id="{207672A6-99A6-4C3E-94CE-EDD56BBC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15" name="p4-not-label">
            <a:extLst xmlns:a="http://schemas.openxmlformats.org/drawingml/2006/main">
              <a:ext uri="{FF2B5EF4-FFF2-40B4-BE49-F238E27FC236}">
                <a16:creationId xmlns:a16="http://schemas.microsoft.com/office/drawing/2014/main" id="{0CE6C195-C985-4E8A-AA60-B3E8BD18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42291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6" name="p4-not-list-dot-0">
            <a:extLst xmlns:a="http://schemas.openxmlformats.org/drawingml/2006/main">
              <a:ext uri="{FF2B5EF4-FFF2-40B4-BE49-F238E27FC236}">
                <a16:creationId xmlns:a16="http://schemas.microsoft.com/office/drawing/2014/main" id="{E299C501-8662-4B4C-B3E7-4A8A4F5E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4229100" cy="40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17" name="p4-not-list-text-0">
            <a:extLst xmlns:a="http://schemas.openxmlformats.org/drawingml/2006/main">
              <a:ext uri="{FF2B5EF4-FFF2-40B4-BE49-F238E27FC236}">
                <a16:creationId xmlns:a16="http://schemas.microsoft.com/office/drawing/2014/main" id="{107717D8-6352-412A-AF32-3536A472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4000500" cy="40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持久动态物体</a:t>
            </a:r>
          </a:p>
        </p:txBody>
      </p:sp>
      <p:sp>
        <p:nvSpPr>
          <p:cNvPr id="18" name="p4-not-list-dot-1">
            <a:extLst xmlns:a="http://schemas.openxmlformats.org/drawingml/2006/main">
              <a:ext uri="{FF2B5EF4-FFF2-40B4-BE49-F238E27FC236}">
                <a16:creationId xmlns:a16="http://schemas.microsoft.com/office/drawing/2014/main" id="{AB45CB7D-CA1E-45B2-8E3F-63C724B3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4229100" cy="3676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19" name="p4-not-list-text-1">
            <a:extLst xmlns:a="http://schemas.openxmlformats.org/drawingml/2006/main">
              <a:ext uri="{FF2B5EF4-FFF2-40B4-BE49-F238E27FC236}">
                <a16:creationId xmlns:a16="http://schemas.microsoft.com/office/drawing/2014/main" id="{2BCB15CC-6896-4AE7-B693-0A6F0694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4000500" cy="3676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独立系统复现</a:t>
            </a:r>
          </a:p>
        </p:txBody>
      </p:sp>
      <p:sp>
        <p:nvSpPr>
          <p:cNvPr id="20" name="p4-not-list-dot-2">
            <a:extLst xmlns:a="http://schemas.openxmlformats.org/drawingml/2006/main">
              <a:ext uri="{FF2B5EF4-FFF2-40B4-BE49-F238E27FC236}">
                <a16:creationId xmlns:a16="http://schemas.microsoft.com/office/drawing/2014/main" id="{2F4A91F6-9D1A-4B63-B6D1-D0D9C0A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42291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1" name="p4-not-list-text-2">
            <a:extLst xmlns:a="http://schemas.openxmlformats.org/drawingml/2006/main">
              <a:ext uri="{FF2B5EF4-FFF2-40B4-BE49-F238E27FC236}">
                <a16:creationId xmlns:a16="http://schemas.microsoft.com/office/drawing/2014/main" id="{4FCA0257-460B-4C34-A37E-BC74A000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40005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客户第一方付费生产采用</a:t>
            </a:r>
          </a:p>
        </p:txBody>
      </p:sp>
      <p:sp>
        <p:nvSpPr>
          <p:cNvPr id="22" name="p4-not-list-dot-3">
            <a:extLst xmlns:a="http://schemas.openxmlformats.org/drawingml/2006/main">
              <a:ext uri="{FF2B5EF4-FFF2-40B4-BE49-F238E27FC236}">
                <a16:creationId xmlns:a16="http://schemas.microsoft.com/office/drawing/2014/main" id="{E9F11368-74DD-4074-8044-7B38BEC9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42291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3" name="p4-not-list-text-3">
            <a:extLst xmlns:a="http://schemas.openxmlformats.org/drawingml/2006/main">
              <a:ext uri="{FF2B5EF4-FFF2-40B4-BE49-F238E27FC236}">
                <a16:creationId xmlns:a16="http://schemas.microsoft.com/office/drawing/2014/main" id="{2E525042-67AF-4D77-9CE9-4C206DE0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40005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服务与内容权仍有采购摩擦</a:t>
            </a:r>
          </a:p>
        </p:txBody>
      </p:sp>
      <p:sp>
        <p:nvSpPr>
          <p:cNvPr id="24" name="p4-meaning-bg">
            <a:extLst xmlns:a="http://schemas.openxmlformats.org/drawingml/2006/main">
              <a:ext uri="{FF2B5EF4-FFF2-40B4-BE49-F238E27FC236}">
                <a16:creationId xmlns:a16="http://schemas.microsoft.com/office/drawing/2014/main" id="{9FB1CE0E-771D-4CE5-825B-EA4AB56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6819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5" name="p4-meaning-rule">
            <a:extLst xmlns:a="http://schemas.openxmlformats.org/drawingml/2006/main">
              <a:ext uri="{FF2B5EF4-FFF2-40B4-BE49-F238E27FC236}">
                <a16:creationId xmlns:a16="http://schemas.microsoft.com/office/drawing/2014/main" id="{D29F9F01-BA43-46F8-935F-A55612D7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6" name="p4-meaning-label">
            <a:extLst xmlns:a="http://schemas.openxmlformats.org/drawingml/2006/main">
              <a:ext uri="{FF2B5EF4-FFF2-40B4-BE49-F238E27FC236}">
                <a16:creationId xmlns:a16="http://schemas.microsoft.com/office/drawing/2014/main" id="{7D68DDC8-11A4-4A3B-9BE2-E49EE178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27" name="p4-meaning-body">
            <a:extLst xmlns:a="http://schemas.openxmlformats.org/drawingml/2006/main">
              <a:ext uri="{FF2B5EF4-FFF2-40B4-BE49-F238E27FC236}">
                <a16:creationId xmlns:a16="http://schemas.microsoft.com/office/drawing/2014/main" id="{F0957D88-0AC9-48C7-AF27-55A7E0F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12776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空间世界接口可能绕行专有生成与交付；
但仍不能确认双方已争夺相同客户或预算。</a:t>
            </a:r>
          </a:p>
        </p:txBody>
      </p:sp>
      <p:sp>
        <p:nvSpPr>
          <p:cNvPr id="28" name="p4-trigger-bg">
            <a:extLst xmlns:a="http://schemas.openxmlformats.org/drawingml/2006/main">
              <a:ext uri="{FF2B5EF4-FFF2-40B4-BE49-F238E27FC236}">
                <a16:creationId xmlns:a16="http://schemas.microsoft.com/office/drawing/2014/main" id="{E818DC67-7C10-4E5D-944C-F00A315A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3619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29" name="p4-trigger-rule">
            <a:extLst xmlns:a="http://schemas.openxmlformats.org/drawingml/2006/main">
              <a:ext uri="{FF2B5EF4-FFF2-40B4-BE49-F238E27FC236}">
                <a16:creationId xmlns:a16="http://schemas.microsoft.com/office/drawing/2014/main" id="{9AA4C981-8F40-4B9D-80B8-B6E3014F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30" name="p4-trigger-label">
            <a:extLst xmlns:a="http://schemas.openxmlformats.org/drawingml/2006/main">
              <a:ext uri="{FF2B5EF4-FFF2-40B4-BE49-F238E27FC236}">
                <a16:creationId xmlns:a16="http://schemas.microsoft.com/office/drawing/2014/main" id="{50CCD610-9A12-4A86-94EF-E8EEBD0F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42291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31" name="p4-trigger-body">
            <a:extLst xmlns:a="http://schemas.openxmlformats.org/drawingml/2006/main">
              <a:ext uri="{FF2B5EF4-FFF2-40B4-BE49-F238E27FC236}">
                <a16:creationId xmlns:a16="http://schemas.microsoft.com/office/drawing/2014/main" id="{2D44CD7F-ADB1-4D17-AE21-8E2C4107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57800"/>
            <a:ext cx="42291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RTFM 获得独立复现，
或 World API 形成版本化服务。</a:t>
            </a:r>
          </a:p>
        </p:txBody>
      </p:sp>
      <p:sp>
        <p:nvSpPr>
          <p:cNvPr id="32" name="p4-footer-rule">
            <a:extLst xmlns:a="http://schemas.openxmlformats.org/drawingml/2006/main">
              <a:ext uri="{FF2B5EF4-FFF2-40B4-BE49-F238E27FC236}">
                <a16:creationId xmlns:a16="http://schemas.microsoft.com/office/drawing/2014/main" id="{9D039AFC-246B-4A6C-8E32-A219B014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3" name="p4-footer-source">
            <a:extLst xmlns:a="http://schemas.openxmlformats.org/drawingml/2006/main">
              <a:ext uri="{FF2B5EF4-FFF2-40B4-BE49-F238E27FC236}">
                <a16:creationId xmlns:a16="http://schemas.microsoft.com/office/drawing/2014/main" id="{A1ABD884-E674-414E-BAC7-13B001F8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RTFM 与 World API 分立｜来源：官方研究/项目页、API、价格、条款及厂商案例</a:t>
            </a:r>
          </a:p>
        </p:txBody>
      </p:sp>
      <p:sp>
        <p:nvSpPr>
          <p:cNvPr id="34" name="p4-footer-page">
            <a:extLst xmlns:a="http://schemas.openxmlformats.org/drawingml/2006/main">
              <a:ext uri="{FF2B5EF4-FFF2-40B4-BE49-F238E27FC236}">
                <a16:creationId xmlns:a16="http://schemas.microsoft.com/office/drawing/2014/main" id="{F155B2EF-F11A-48F3-8386-94E133E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04</a:t>
            </a:r>
          </a:p>
        </p:txBody>
      </p:sp>
    </p:spTree>
    <p:extLst>
      <p:ext uri="{BB962C8B-B14F-4D97-AF65-F5344CB8AC3E}">
        <p14:creationId xmlns:p14="http://schemas.microsoft.com/office/powerpoint/2010/main" val="484813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5-identity">
            <a:extLst xmlns:a="http://schemas.openxmlformats.org/drawingml/2006/main">
              <a:ext uri="{FF2B5EF4-FFF2-40B4-BE49-F238E27FC236}">
                <a16:creationId xmlns:a16="http://schemas.microsoft.com/office/drawing/2014/main" id="{E4E4CAE4-E356-4FF6-B3FE-ADF95F85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创业公司 2/4 · ODYSSEY</a:t>
            </a:r>
          </a:p>
        </p:txBody>
      </p:sp>
      <p:sp>
        <p:nvSpPr>
          <p:cNvPr id="2" name="p5-title">
            <a:extLst xmlns:a="http://schemas.openxmlformats.org/drawingml/2006/main">
              <a:ext uri="{FF2B5EF4-FFF2-40B4-BE49-F238E27FC236}">
                <a16:creationId xmlns:a16="http://schemas.microsoft.com/office/drawing/2014/main" id="{13ECBBFE-2399-47D7-BBEF-EC89FC4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实时世界流已写进开发者接口；
账户、稳定性和服务等级仍待证</a:t>
            </a:r>
          </a:p>
        </p:txBody>
      </p:sp>
      <p:sp>
        <p:nvSpPr>
          <p:cNvPr id="3" name="p5-route-line">
            <a:extLst xmlns:a="http://schemas.openxmlformats.org/drawingml/2006/main">
              <a:ext uri="{FF2B5EF4-FFF2-40B4-BE49-F238E27FC236}">
                <a16:creationId xmlns:a16="http://schemas.microsoft.com/office/drawing/2014/main" id="{9536F103-AE88-42FE-82B6-6ACB4FB2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4" name="p5-route">
            <a:extLst xmlns:a="http://schemas.openxmlformats.org/drawingml/2006/main">
              <a:ext uri="{FF2B5EF4-FFF2-40B4-BE49-F238E27FC236}">
                <a16:creationId xmlns:a16="http://schemas.microsoft.com/office/drawing/2014/main" id="{297689E2-ECE0-4D70-9AE1-B18D6CA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1049000" cy="514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实时世界流 · 文档化接口</a:t>
            </a:r>
          </a:p>
        </p:txBody>
      </p:sp>
      <p:sp>
        <p:nvSpPr>
          <p:cNvPr id="5" name="p5-left-bg">
            <a:extLst xmlns:a="http://schemas.openxmlformats.org/drawingml/2006/main">
              <a:ext uri="{FF2B5EF4-FFF2-40B4-BE49-F238E27FC236}">
                <a16:creationId xmlns:a16="http://schemas.microsoft.com/office/drawing/2014/main" id="{BF0453E0-9865-44BE-B301-0D5058FB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38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6" name="p5-established-rule">
            <a:extLst xmlns:a="http://schemas.openxmlformats.org/drawingml/2006/main">
              <a:ext uri="{FF2B5EF4-FFF2-40B4-BE49-F238E27FC236}">
                <a16:creationId xmlns:a16="http://schemas.microsoft.com/office/drawing/2014/main" id="{C92BA8D3-9B47-4D21-8CEA-9BB8729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7" name="p5-established-label">
            <a:extLst xmlns:a="http://schemas.openxmlformats.org/drawingml/2006/main">
              <a:ext uri="{FF2B5EF4-FFF2-40B4-BE49-F238E27FC236}">
                <a16:creationId xmlns:a16="http://schemas.microsoft.com/office/drawing/2014/main" id="{EC293BE4-4775-4A41-8376-CBE5D0E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12776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8" name="p5-established-body">
            <a:extLst xmlns:a="http://schemas.openxmlformats.org/drawingml/2006/main">
              <a:ext uri="{FF2B5EF4-FFF2-40B4-BE49-F238E27FC236}">
                <a16:creationId xmlns:a16="http://schemas.microsoft.com/office/drawing/2014/main" id="{F3835C66-CE28-4A66-B40B-8466548C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277600" cy="40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Odyssey-2 Pro 根据历史状态与用户动作生成后续画面。
厂商文档给出密钥、JavaScript / Python 接入和连接规则。</a:t>
            </a:r>
          </a:p>
        </p:txBody>
      </p:sp>
      <p:sp>
        <p:nvSpPr>
          <p:cNvPr id="9" name="p5-left-rule">
            <a:extLst xmlns:a="http://schemas.openxmlformats.org/drawingml/2006/main">
              <a:ext uri="{FF2B5EF4-FFF2-40B4-BE49-F238E27FC236}">
                <a16:creationId xmlns:a16="http://schemas.microsoft.com/office/drawing/2014/main" id="{C9A4C943-211C-4848-B3B0-8774101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54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0" name="p5-meaning-rule">
            <a:extLst xmlns:a="http://schemas.openxmlformats.org/drawingml/2006/main">
              <a:ext uri="{FF2B5EF4-FFF2-40B4-BE49-F238E27FC236}">
                <a16:creationId xmlns:a16="http://schemas.microsoft.com/office/drawing/2014/main" id="{91133B00-DCEE-4E7A-B7BF-A0E2449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1" name="p5-meaning-label">
            <a:extLst xmlns:a="http://schemas.openxmlformats.org/drawingml/2006/main">
              <a:ext uri="{FF2B5EF4-FFF2-40B4-BE49-F238E27FC236}">
                <a16:creationId xmlns:a16="http://schemas.microsoft.com/office/drawing/2014/main" id="{A38E2131-41D8-40D0-8A05-CD1BCC21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12776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12" name="p5-meaning-body">
            <a:extLst xmlns:a="http://schemas.openxmlformats.org/drawingml/2006/main">
              <a:ext uri="{FF2B5EF4-FFF2-40B4-BE49-F238E27FC236}">
                <a16:creationId xmlns:a16="http://schemas.microsoft.com/office/drawing/2014/main" id="{5570BF59-1EFA-4905-9F98-923D00F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127760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若账户、可靠性和单位经济性闭合，
它可能成为实时世界流基础设施；
目前只能作条件性判断。</a:t>
            </a:r>
          </a:p>
        </p:txBody>
      </p:sp>
      <p:sp>
        <p:nvSpPr>
          <p:cNvPr id="13" name="p5-trigger-top">
            <a:extLst xmlns:a="http://schemas.openxmlformats.org/drawingml/2006/main">
              <a:ext uri="{FF2B5EF4-FFF2-40B4-BE49-F238E27FC236}">
                <a16:creationId xmlns:a16="http://schemas.microsoft.com/office/drawing/2014/main" id="{C14B899C-2BE8-4878-A749-B87FFFE8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4" name="p5-trigger-label">
            <a:extLst xmlns:a="http://schemas.openxmlformats.org/drawingml/2006/main">
              <a:ext uri="{FF2B5EF4-FFF2-40B4-BE49-F238E27FC236}">
                <a16:creationId xmlns:a16="http://schemas.microsoft.com/office/drawing/2014/main" id="{DF32FE8E-8012-4AB3-8341-3AFCCBB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12776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15" name="p5-trigger-body">
            <a:extLst xmlns:a="http://schemas.openxmlformats.org/drawingml/2006/main">
              <a:ext uri="{FF2B5EF4-FFF2-40B4-BE49-F238E27FC236}">
                <a16:creationId xmlns:a16="http://schemas.microsoft.com/office/drawing/2014/main" id="{CEA3A101-E8A7-4838-A161-2930300F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12776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独立账户在公开价格和服务等级下
完成长时稳定调用。</a:t>
            </a:r>
          </a:p>
        </p:txBody>
      </p:sp>
      <p:sp>
        <p:nvSpPr>
          <p:cNvPr id="16" name="p5-limits-bg">
            <a:extLst xmlns:a="http://schemas.openxmlformats.org/drawingml/2006/main">
              <a:ext uri="{FF2B5EF4-FFF2-40B4-BE49-F238E27FC236}">
                <a16:creationId xmlns:a16="http://schemas.microsoft.com/office/drawing/2014/main" id="{13ED43F6-3403-4B6C-AF11-EC70D5F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4057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7" name="p5-limits-title">
            <a:extLst xmlns:a="http://schemas.openxmlformats.org/drawingml/2006/main">
              <a:ext uri="{FF2B5EF4-FFF2-40B4-BE49-F238E27FC236}">
                <a16:creationId xmlns:a16="http://schemas.microsoft.com/office/drawing/2014/main" id="{30326C1B-3C78-43B5-8CCF-789F555E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66725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仍未闭合的服务条件</a:t>
            </a:r>
          </a:p>
        </p:txBody>
      </p:sp>
      <p:sp>
        <p:nvSpPr>
          <p:cNvPr id="18" name="p5-limit-big-0">
            <a:extLst xmlns:a="http://schemas.openxmlformats.org/drawingml/2006/main">
              <a:ext uri="{FF2B5EF4-FFF2-40B4-BE49-F238E27FC236}">
                <a16:creationId xmlns:a16="http://schemas.microsoft.com/office/drawing/2014/main" id="{1C77E3C1-C253-44EA-96A9-11093E8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4667250" cy="394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账户</a:t>
            </a:r>
          </a:p>
        </p:txBody>
      </p:sp>
      <p:sp>
        <p:nvSpPr>
          <p:cNvPr id="19" name="p5-limit-small-0">
            <a:extLst xmlns:a="http://schemas.openxmlformats.org/drawingml/2006/main">
              <a:ext uri="{FF2B5EF4-FFF2-40B4-BE49-F238E27FC236}">
                <a16:creationId xmlns:a16="http://schemas.microsoft.com/office/drawing/2014/main" id="{F1D2537D-C148-4805-8025-0AE8219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3467100" cy="394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实际账户与持续调用未独立确认</a:t>
            </a:r>
          </a:p>
        </p:txBody>
      </p:sp>
      <p:sp>
        <p:nvSpPr>
          <p:cNvPr id="20" name="p5-limit-rule-1">
            <a:extLst xmlns:a="http://schemas.openxmlformats.org/drawingml/2006/main">
              <a:ext uri="{FF2B5EF4-FFF2-40B4-BE49-F238E27FC236}">
                <a16:creationId xmlns:a16="http://schemas.microsoft.com/office/drawing/2014/main" id="{B1EE31A5-11C9-424D-B343-5797B47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1" name="p5-limit-big-1">
            <a:extLst xmlns:a="http://schemas.openxmlformats.org/drawingml/2006/main">
              <a:ext uri="{FF2B5EF4-FFF2-40B4-BE49-F238E27FC236}">
                <a16:creationId xmlns:a16="http://schemas.microsoft.com/office/drawing/2014/main" id="{4C4C9F91-DC17-4E2A-9543-01C1F2E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4667250" cy="3295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150 秒</a:t>
            </a:r>
          </a:p>
        </p:txBody>
      </p:sp>
      <p:sp>
        <p:nvSpPr>
          <p:cNvPr id="22" name="p5-limit-small-1">
            <a:extLst xmlns:a="http://schemas.openxmlformats.org/drawingml/2006/main">
              <a:ext uri="{FF2B5EF4-FFF2-40B4-BE49-F238E27FC236}">
                <a16:creationId xmlns:a16="http://schemas.microsoft.com/office/drawing/2014/main" id="{972F0039-4867-4CED-A900-3CE8BE25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3467100" cy="3295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当前默认单流上限</a:t>
            </a:r>
          </a:p>
        </p:txBody>
      </p:sp>
      <p:sp>
        <p:nvSpPr>
          <p:cNvPr id="23" name="p5-limit-rule-2">
            <a:extLst xmlns:a="http://schemas.openxmlformats.org/drawingml/2006/main">
              <a:ext uri="{FF2B5EF4-FFF2-40B4-BE49-F238E27FC236}">
                <a16:creationId xmlns:a16="http://schemas.microsoft.com/office/drawing/2014/main" id="{EE36A3D8-A180-41A4-9EDC-007FAAC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4" name="p5-limit-big-2">
            <a:extLst xmlns:a="http://schemas.openxmlformats.org/drawingml/2006/main">
              <a:ext uri="{FF2B5EF4-FFF2-40B4-BE49-F238E27FC236}">
                <a16:creationId xmlns:a16="http://schemas.microsoft.com/office/drawing/2014/main" id="{0B91A330-7ED4-474A-9D51-8966D4C5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46672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60 分钟</a:t>
            </a:r>
          </a:p>
        </p:txBody>
      </p:sp>
      <p:sp>
        <p:nvSpPr>
          <p:cNvPr id="25" name="p5-limit-small-2">
            <a:extLst xmlns:a="http://schemas.openxmlformats.org/drawingml/2006/main">
              <a:ext uri="{FF2B5EF4-FFF2-40B4-BE49-F238E27FC236}">
                <a16:creationId xmlns:a16="http://schemas.microsoft.com/office/drawing/2014/main" id="{CFF2F147-55A3-4048-95DD-E885E80A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0050"/>
            <a:ext cx="346710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当前默认单连接上限</a:t>
            </a:r>
          </a:p>
        </p:txBody>
      </p:sp>
      <p:sp>
        <p:nvSpPr>
          <p:cNvPr id="26" name="p5-limit-rule-3">
            <a:extLst xmlns:a="http://schemas.openxmlformats.org/drawingml/2006/main">
              <a:ext uri="{FF2B5EF4-FFF2-40B4-BE49-F238E27FC236}">
                <a16:creationId xmlns:a16="http://schemas.microsoft.com/office/drawing/2014/main" id="{020E52B6-EE34-4A07-BC46-CDE321F9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7" name="p5-limit-big-3">
            <a:extLst xmlns:a="http://schemas.openxmlformats.org/drawingml/2006/main">
              <a:ext uri="{FF2B5EF4-FFF2-40B4-BE49-F238E27FC236}">
                <a16:creationId xmlns:a16="http://schemas.microsoft.com/office/drawing/2014/main" id="{DFDFF7FD-5849-4F98-BCE3-445A45ED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46672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15 分钟</a:t>
            </a:r>
          </a:p>
        </p:txBody>
      </p:sp>
      <p:sp>
        <p:nvSpPr>
          <p:cNvPr id="28" name="p5-limit-small-3">
            <a:extLst xmlns:a="http://schemas.openxmlformats.org/drawingml/2006/main">
              <a:ext uri="{FF2B5EF4-FFF2-40B4-BE49-F238E27FC236}">
                <a16:creationId xmlns:a16="http://schemas.microsoft.com/office/drawing/2014/main" id="{AA52CC70-1897-49D8-B2DF-2C42812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34671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无活动流自动断开</a:t>
            </a:r>
          </a:p>
        </p:txBody>
      </p:sp>
      <p:sp>
        <p:nvSpPr>
          <p:cNvPr id="29" name="p5-limit-note">
            <a:extLst xmlns:a="http://schemas.openxmlformats.org/drawingml/2006/main">
              <a:ext uri="{FF2B5EF4-FFF2-40B4-BE49-F238E27FC236}">
                <a16:creationId xmlns:a16="http://schemas.microsoft.com/office/drawing/2014/main" id="{E2DDFFAA-2F04-48A2-A14A-EB6A4269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46672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这些运营限制均不构成服务等级保证。</a:t>
            </a:r>
          </a:p>
        </p:txBody>
      </p:sp>
      <p:sp>
        <p:nvSpPr>
          <p:cNvPr id="30" name="p5-footer-rule">
            <a:extLst xmlns:a="http://schemas.openxmlformats.org/drawingml/2006/main">
              <a:ext uri="{FF2B5EF4-FFF2-40B4-BE49-F238E27FC236}">
                <a16:creationId xmlns:a16="http://schemas.microsoft.com/office/drawing/2014/main" id="{78226362-608C-4B3F-8B7C-23D9BB4D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1" name="p5-footer-source">
            <a:extLst xmlns:a="http://schemas.openxmlformats.org/drawingml/2006/main">
              <a:ext uri="{FF2B5EF4-FFF2-40B4-BE49-F238E27FC236}">
                <a16:creationId xmlns:a16="http://schemas.microsoft.com/office/drawing/2014/main" id="{D49F5454-22AF-4F41-A8E4-7FD3BE45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来源：官方开发者文档、运营限制与条款；公司自报云合作</a:t>
            </a:r>
          </a:p>
        </p:txBody>
      </p:sp>
      <p:sp>
        <p:nvSpPr>
          <p:cNvPr id="32" name="p5-footer-page">
            <a:extLst xmlns:a="http://schemas.openxmlformats.org/drawingml/2006/main">
              <a:ext uri="{FF2B5EF4-FFF2-40B4-BE49-F238E27FC236}">
                <a16:creationId xmlns:a16="http://schemas.microsoft.com/office/drawing/2014/main" id="{A2BFF629-29B6-4FBE-9B8E-58C3D80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05</a:t>
            </a:r>
          </a:p>
        </p:txBody>
      </p:sp>
    </p:spTree>
    <p:extLst>
      <p:ext uri="{BB962C8B-B14F-4D97-AF65-F5344CB8AC3E}">
        <p14:creationId xmlns:p14="http://schemas.microsoft.com/office/powerpoint/2010/main" val="1606611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6-identity">
            <a:extLst xmlns:a="http://schemas.openxmlformats.org/drawingml/2006/main">
              <a:ext uri="{FF2B5EF4-FFF2-40B4-BE49-F238E27FC236}">
                <a16:creationId xmlns:a16="http://schemas.microsoft.com/office/drawing/2014/main" id="{E9E5CACB-E3B6-48D0-9322-01B8BA15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创业公司 3/4 · RUNWAY</a:t>
            </a:r>
          </a:p>
        </p:txBody>
      </p:sp>
      <p:sp>
        <p:nvSpPr>
          <p:cNvPr id="2" name="p6-title">
            <a:extLst xmlns:a="http://schemas.openxmlformats.org/drawingml/2006/main">
              <a:ext uri="{FF2B5EF4-FFF2-40B4-BE49-F238E27FC236}">
                <a16:creationId xmlns:a16="http://schemas.microsoft.com/office/drawing/2014/main" id="{E399D875-ECB1-4679-8973-905A293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Runway 同时押注 Worlds 与 Robotics；
两条路线都还处在早期</a:t>
            </a:r>
          </a:p>
        </p:txBody>
      </p:sp>
      <p:sp>
        <p:nvSpPr>
          <p:cNvPr id="3" name="p6-route-line">
            <a:extLst xmlns:a="http://schemas.openxmlformats.org/drawingml/2006/main">
              <a:ext uri="{FF2B5EF4-FFF2-40B4-BE49-F238E27FC236}">
                <a16:creationId xmlns:a16="http://schemas.microsoft.com/office/drawing/2014/main" id="{12A3A251-5A14-41B4-BAC1-F92C219D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" name="p6-route">
            <a:extLst xmlns:a="http://schemas.openxmlformats.org/drawingml/2006/main">
              <a:ext uri="{FF2B5EF4-FFF2-40B4-BE49-F238E27FC236}">
                <a16:creationId xmlns:a16="http://schemas.microsoft.com/office/drawing/2014/main" id="{8CF24521-8465-4A47-8044-AF91F34D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1049000" cy="514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内容平台外延 · 申请制入口</a:t>
            </a:r>
          </a:p>
        </p:txBody>
      </p:sp>
      <p:sp>
        <p:nvSpPr>
          <p:cNvPr id="5" name="p6-worlds-bg">
            <a:extLst xmlns:a="http://schemas.openxmlformats.org/drawingml/2006/main">
              <a:ext uri="{FF2B5EF4-FFF2-40B4-BE49-F238E27FC236}">
                <a16:creationId xmlns:a16="http://schemas.microsoft.com/office/drawing/2014/main" id="{6BB0D2B7-E88E-404C-A3AB-93049EDB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6" name="p6-worlds-kicker">
            <a:extLst xmlns:a="http://schemas.openxmlformats.org/drawingml/2006/main">
              <a:ext uri="{FF2B5EF4-FFF2-40B4-BE49-F238E27FC236}">
                <a16:creationId xmlns:a16="http://schemas.microsoft.com/office/drawing/2014/main" id="{C19E258B-BBF5-4DF6-9B03-3B38560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1277600" cy="451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已成立 · 路线 A</a:t>
            </a:r>
          </a:p>
        </p:txBody>
      </p:sp>
      <p:sp>
        <p:nvSpPr>
          <p:cNvPr id="7" name="p6-worlds-name">
            <a:extLst xmlns:a="http://schemas.openxmlformats.org/drawingml/2006/main">
              <a:ext uri="{FF2B5EF4-FFF2-40B4-BE49-F238E27FC236}">
                <a16:creationId xmlns:a16="http://schemas.microsoft.com/office/drawing/2014/main" id="{4D02DD89-0A0C-4983-868E-A0486C42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12776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</a:t>
            </a:r>
          </a:p>
        </p:txBody>
      </p:sp>
      <p:sp>
        <p:nvSpPr>
          <p:cNvPr id="8" name="p6-worlds-access">
            <a:extLst xmlns:a="http://schemas.openxmlformats.org/drawingml/2006/main">
              <a:ext uri="{FF2B5EF4-FFF2-40B4-BE49-F238E27FC236}">
                <a16:creationId xmlns:a16="http://schemas.microsoft.com/office/drawing/2014/main" id="{9CEADE41-57B0-4262-83C3-EED5F4F7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1277600" cy="377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公开申请制 early access；
实际访问未独立确认。</a:t>
            </a:r>
          </a:p>
        </p:txBody>
      </p:sp>
      <p:sp>
        <p:nvSpPr>
          <p:cNvPr id="9" name="p6-robotics-bg">
            <a:extLst xmlns:a="http://schemas.openxmlformats.org/drawingml/2006/main">
              <a:ext uri="{FF2B5EF4-FFF2-40B4-BE49-F238E27FC236}">
                <a16:creationId xmlns:a16="http://schemas.microsoft.com/office/drawing/2014/main" id="{1574D91A-A477-4390-B25A-D0436732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5295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0" name="p6-robotics-kicker">
            <a:extLst xmlns:a="http://schemas.openxmlformats.org/drawingml/2006/main">
              <a:ext uri="{FF2B5EF4-FFF2-40B4-BE49-F238E27FC236}">
                <a16:creationId xmlns:a16="http://schemas.microsoft.com/office/drawing/2014/main" id="{1B57BFEC-CAEA-492A-A72D-5175CFE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5905500" cy="451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已成立 · 路线 B</a:t>
            </a:r>
          </a:p>
        </p:txBody>
      </p:sp>
      <p:sp>
        <p:nvSpPr>
          <p:cNvPr id="11" name="p6-robotics-name">
            <a:extLst xmlns:a="http://schemas.openxmlformats.org/drawingml/2006/main">
              <a:ext uri="{FF2B5EF4-FFF2-40B4-BE49-F238E27FC236}">
                <a16:creationId xmlns:a16="http://schemas.microsoft.com/office/drawing/2014/main" id="{1176A20C-E325-4604-BF39-AB7FA2DA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59055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Robotics</a:t>
            </a:r>
          </a:p>
        </p:txBody>
      </p:sp>
      <p:sp>
        <p:nvSpPr>
          <p:cNvPr id="12" name="p6-robotics-access">
            <a:extLst xmlns:a="http://schemas.openxmlformats.org/drawingml/2006/main">
              <a:ext uri="{FF2B5EF4-FFF2-40B4-BE49-F238E27FC236}">
                <a16:creationId xmlns:a16="http://schemas.microsoft.com/office/drawing/2014/main" id="{7A97C186-9B44-40F8-B2B7-2E402B4F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905500" cy="377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动作条件展开与 Python SDK；
云端、定制和本地部署均需洽谈。</a:t>
            </a:r>
          </a:p>
        </p:txBody>
      </p:sp>
      <p:sp>
        <p:nvSpPr>
          <p:cNvPr id="13" name="p6-gap-bg">
            <a:extLst xmlns:a="http://schemas.openxmlformats.org/drawingml/2006/main">
              <a:ext uri="{FF2B5EF4-FFF2-40B4-BE49-F238E27FC236}">
                <a16:creationId xmlns:a16="http://schemas.microsoft.com/office/drawing/2014/main" id="{176A77E4-9B75-4315-8A5C-00155850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4" name="p6-gap-title">
            <a:extLst xmlns:a="http://schemas.openxmlformats.org/drawingml/2006/main">
              <a:ext uri="{FF2B5EF4-FFF2-40B4-BE49-F238E27FC236}">
                <a16:creationId xmlns:a16="http://schemas.microsoft.com/office/drawing/2014/main" id="{727BA813-8525-4B16-B904-73E21469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12776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共同缺口</a:t>
            </a:r>
          </a:p>
        </p:txBody>
      </p:sp>
      <p:sp>
        <p:nvSpPr>
          <p:cNvPr id="15" name="p6-gap-body">
            <a:extLst xmlns:a="http://schemas.openxmlformats.org/drawingml/2006/main">
              <a:ext uri="{FF2B5EF4-FFF2-40B4-BE49-F238E27FC236}">
                <a16:creationId xmlns:a16="http://schemas.microsoft.com/office/drawing/2014/main" id="{DE0F008B-37CD-4954-A3D6-893F5975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48150"/>
            <a:ext cx="95631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两条路线都缺公开价格、服务等级和独立复现；
合作证据仍停在 Runway 单方说明。</a:t>
            </a:r>
          </a:p>
        </p:txBody>
      </p:sp>
      <p:sp>
        <p:nvSpPr>
          <p:cNvPr id="16" name="p6-meaning-bg">
            <a:extLst xmlns:a="http://schemas.openxmlformats.org/drawingml/2006/main">
              <a:ext uri="{FF2B5EF4-FFF2-40B4-BE49-F238E27FC236}">
                <a16:creationId xmlns:a16="http://schemas.microsoft.com/office/drawing/2014/main" id="{67144743-A848-4C56-A648-240A03F7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681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7" name="p6-meaning-title">
            <a:extLst xmlns:a="http://schemas.openxmlformats.org/drawingml/2006/main">
              <a:ext uri="{FF2B5EF4-FFF2-40B4-BE49-F238E27FC236}">
                <a16:creationId xmlns:a16="http://schemas.microsoft.com/office/drawing/2014/main" id="{909DC4A3-9EC0-49AE-98BF-D84DC600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12776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18" name="p6-meaning-body">
            <a:extLst xmlns:a="http://schemas.openxmlformats.org/drawingml/2006/main">
              <a:ext uri="{FF2B5EF4-FFF2-40B4-BE49-F238E27FC236}">
                <a16:creationId xmlns:a16="http://schemas.microsoft.com/office/drawing/2014/main" id="{435C19F3-84C3-40A9-89F4-8E19B577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12776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内容平台可能延伸到可探索世界；
机器人路线不能借证给 Worlds。</a:t>
            </a:r>
          </a:p>
        </p:txBody>
      </p:sp>
      <p:sp>
        <p:nvSpPr>
          <p:cNvPr id="19" name="p6-trigger-bg">
            <a:extLst xmlns:a="http://schemas.openxmlformats.org/drawingml/2006/main">
              <a:ext uri="{FF2B5EF4-FFF2-40B4-BE49-F238E27FC236}">
                <a16:creationId xmlns:a16="http://schemas.microsoft.com/office/drawing/2014/main" id="{668E2453-4176-42C9-BCA9-6D81BAE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006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20" name="p6-trigger-title">
            <a:extLst xmlns:a="http://schemas.openxmlformats.org/drawingml/2006/main">
              <a:ext uri="{FF2B5EF4-FFF2-40B4-BE49-F238E27FC236}">
                <a16:creationId xmlns:a16="http://schemas.microsoft.com/office/drawing/2014/main" id="{98626993-B50C-4DC2-88BE-A1FCD27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42291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21" name="p6-trigger-body">
            <a:extLst xmlns:a="http://schemas.openxmlformats.org/drawingml/2006/main">
              <a:ext uri="{FF2B5EF4-FFF2-40B4-BE49-F238E27FC236}">
                <a16:creationId xmlns:a16="http://schemas.microsoft.com/office/drawing/2014/main" id="{8E5BB5AD-2F1A-4CEB-B51A-6F40836A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95950"/>
            <a:ext cx="42291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任一组件获得独立调用，
并获得伙伴侧生产确认。</a:t>
            </a:r>
          </a:p>
        </p:txBody>
      </p:sp>
      <p:sp>
        <p:nvSpPr>
          <p:cNvPr id="22" name="p6-footer-rule">
            <a:extLst xmlns:a="http://schemas.openxmlformats.org/drawingml/2006/main">
              <a:ext uri="{FF2B5EF4-FFF2-40B4-BE49-F238E27FC236}">
                <a16:creationId xmlns:a16="http://schemas.microsoft.com/office/drawing/2014/main" id="{F4D134A7-B09C-4F38-AF2A-AC4A3020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3" name="p6-footer-source">
            <a:extLst xmlns:a="http://schemas.openxmlformats.org/drawingml/2006/main">
              <a:ext uri="{FF2B5EF4-FFF2-40B4-BE49-F238E27FC236}">
                <a16:creationId xmlns:a16="http://schemas.microsoft.com/office/drawing/2014/main" id="{59E59162-911A-4D1A-8A75-EB709522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Worlds ≠ Robotics｜来源：官方产品、申请入口、SDK/部署资料及公司自报</a:t>
            </a:r>
          </a:p>
        </p:txBody>
      </p:sp>
      <p:sp>
        <p:nvSpPr>
          <p:cNvPr id="24" name="p6-footer-page">
            <a:extLst xmlns:a="http://schemas.openxmlformats.org/drawingml/2006/main">
              <a:ext uri="{FF2B5EF4-FFF2-40B4-BE49-F238E27FC236}">
                <a16:creationId xmlns:a16="http://schemas.microsoft.com/office/drawing/2014/main" id="{462E6E6F-6AA0-432D-A553-BDBFB676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06</a:t>
            </a:r>
          </a:p>
        </p:txBody>
      </p:sp>
    </p:spTree>
    <p:extLst>
      <p:ext uri="{BB962C8B-B14F-4D97-AF65-F5344CB8AC3E}">
        <p14:creationId xmlns:p14="http://schemas.microsoft.com/office/powerpoint/2010/main" val="1533408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7-identity">
            <a:extLst xmlns:a="http://schemas.openxmlformats.org/drawingml/2006/main">
              <a:ext uri="{FF2B5EF4-FFF2-40B4-BE49-F238E27FC236}">
                <a16:creationId xmlns:a16="http://schemas.microsoft.com/office/drawing/2014/main" id="{958989D3-8E0F-4437-9B61-8050D2B5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创业公司 4/4 · DECART</a:t>
            </a:r>
          </a:p>
        </p:txBody>
      </p:sp>
      <p:sp>
        <p:nvSpPr>
          <p:cNvPr id="2" name="p7-title">
            <a:extLst xmlns:a="http://schemas.openxmlformats.org/drawingml/2006/main">
              <a:ext uri="{FF2B5EF4-FFF2-40B4-BE49-F238E27FC236}">
                <a16:creationId xmlns:a16="http://schemas.microsoft.com/office/drawing/2014/main" id="{CA92AD09-EC5D-475E-87CE-F9BF39E8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驾驶场景已经按秒计费；
企业可靠性仍待证</a:t>
            </a:r>
          </a:p>
        </p:txBody>
      </p:sp>
      <p:sp>
        <p:nvSpPr>
          <p:cNvPr id="3" name="p7-route-line">
            <a:extLst xmlns:a="http://schemas.openxmlformats.org/drawingml/2006/main">
              <a:ext uri="{FF2B5EF4-FFF2-40B4-BE49-F238E27FC236}">
                <a16:creationId xmlns:a16="http://schemas.microsoft.com/office/drawing/2014/main" id="{E88E1D2B-08DD-4783-8DEA-431BB9F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4" name="p7-route">
            <a:extLst xmlns:a="http://schemas.openxmlformats.org/drawingml/2006/main">
              <a:ext uri="{FF2B5EF4-FFF2-40B4-BE49-F238E27FC236}">
                <a16:creationId xmlns:a16="http://schemas.microsoft.com/office/drawing/2014/main" id="{B172B364-AEEF-4886-BCCB-76F656EB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1049000" cy="514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 · 公开计价接口</a:t>
            </a:r>
          </a:p>
        </p:txBody>
      </p:sp>
      <p:sp>
        <p:nvSpPr>
          <p:cNvPr id="5" name="p7-price-bg">
            <a:extLst xmlns:a="http://schemas.openxmlformats.org/drawingml/2006/main">
              <a:ext uri="{FF2B5EF4-FFF2-40B4-BE49-F238E27FC236}">
                <a16:creationId xmlns:a16="http://schemas.microsoft.com/office/drawing/2014/main" id="{0248B502-CAC0-417F-A429-CC6E544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6" name="p7-price-kicker">
            <a:extLst xmlns:a="http://schemas.openxmlformats.org/drawingml/2006/main">
              <a:ext uri="{FF2B5EF4-FFF2-40B4-BE49-F238E27FC236}">
                <a16:creationId xmlns:a16="http://schemas.microsoft.com/office/drawing/2014/main" id="{01E45F28-1CE8-43F7-8E39-5B6D6DA1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127760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价格锚点</a:t>
            </a:r>
          </a:p>
        </p:txBody>
      </p:sp>
      <p:sp>
        <p:nvSpPr>
          <p:cNvPr id="7" name="p7-price">
            <a:extLst xmlns:a="http://schemas.openxmlformats.org/drawingml/2006/main">
              <a:ext uri="{FF2B5EF4-FFF2-40B4-BE49-F238E27FC236}">
                <a16:creationId xmlns:a16="http://schemas.microsoft.com/office/drawing/2014/main" id="{F3087CA4-84DB-417C-83CF-550B6A6E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12776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0.02</a:t>
            </a:r>
          </a:p>
        </p:txBody>
      </p:sp>
      <p:sp>
        <p:nvSpPr>
          <p:cNvPr id="8" name="p7-price-unit">
            <a:extLst xmlns:a="http://schemas.openxmlformats.org/drawingml/2006/main">
              <a:ext uri="{FF2B5EF4-FFF2-40B4-BE49-F238E27FC236}">
                <a16:creationId xmlns:a16="http://schemas.microsoft.com/office/drawing/2014/main" id="{59BFCAD3-075F-4F4E-A5DA-D82E059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1277600" cy="3448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美元 / 秒</a:t>
            </a:r>
          </a:p>
        </p:txBody>
      </p:sp>
      <p:sp>
        <p:nvSpPr>
          <p:cNvPr id="9" name="p7-price-rule">
            <a:extLst xmlns:a="http://schemas.openxmlformats.org/drawingml/2006/main">
              <a:ext uri="{FF2B5EF4-FFF2-40B4-BE49-F238E27FC236}">
                <a16:creationId xmlns:a16="http://schemas.microsoft.com/office/drawing/2014/main" id="{A3416179-A836-42F9-A693-43B68FCE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0" name="p7-flow">
            <a:extLst xmlns:a="http://schemas.openxmlformats.org/drawingml/2006/main">
              <a:ext uri="{FF2B5EF4-FFF2-40B4-BE49-F238E27FC236}">
                <a16:creationId xmlns:a16="http://schemas.microsoft.com/office/drawing/2014/main" id="{B39F6473-F516-41BA-9CFD-8D66C5DA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127760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油门 / 转向
↓
有状态会话
↓
前 / 左 / 右后续视图</a:t>
            </a:r>
          </a:p>
        </p:txBody>
      </p:sp>
      <p:sp>
        <p:nvSpPr>
          <p:cNvPr id="11" name="p7-scope">
            <a:extLst xmlns:a="http://schemas.openxmlformats.org/drawingml/2006/main">
              <a:ext uri="{FF2B5EF4-FFF2-40B4-BE49-F238E27FC236}">
                <a16:creationId xmlns:a16="http://schemas.microsoft.com/office/drawing/2014/main" id="{B0C20B8D-CC59-42A0-ABBB-445BFC57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1277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具体驾驶任务，
不外推为通用世界能力。</a:t>
            </a:r>
          </a:p>
        </p:txBody>
      </p:sp>
      <p:sp>
        <p:nvSpPr>
          <p:cNvPr id="12" name="p7-established-bg">
            <a:extLst xmlns:a="http://schemas.openxmlformats.org/drawingml/2006/main">
              <a:ext uri="{FF2B5EF4-FFF2-40B4-BE49-F238E27FC236}">
                <a16:creationId xmlns:a16="http://schemas.microsoft.com/office/drawing/2014/main" id="{0E29BEAD-0B9A-43EB-BADC-F1302E4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95500"/>
            <a:ext cx="7296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3" name="p7-established-title">
            <a:extLst xmlns:a="http://schemas.openxmlformats.org/drawingml/2006/main">
              <a:ext uri="{FF2B5EF4-FFF2-40B4-BE49-F238E27FC236}">
                <a16:creationId xmlns:a16="http://schemas.microsoft.com/office/drawing/2014/main" id="{69761539-FC5C-4883-9A8C-D784953E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7905750" cy="451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14" name="p7-established-body">
            <a:extLst xmlns:a="http://schemas.openxmlformats.org/drawingml/2006/main">
              <a:ext uri="{FF2B5EF4-FFF2-40B4-BE49-F238E27FC236}">
                <a16:creationId xmlns:a16="http://schemas.microsoft.com/office/drawing/2014/main" id="{DFEE5E4A-A192-450B-BF22-C604599D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6400800" cy="455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公开账户按 0.02 美元 / 秒计费；有状态会话接收油门和转向动作，
生成前、左、右后续视图。</a:t>
            </a:r>
          </a:p>
        </p:txBody>
      </p:sp>
      <p:sp>
        <p:nvSpPr>
          <p:cNvPr id="15" name="p7-not-bg">
            <a:extLst xmlns:a="http://schemas.openxmlformats.org/drawingml/2006/main">
              <a:ext uri="{FF2B5EF4-FFF2-40B4-BE49-F238E27FC236}">
                <a16:creationId xmlns:a16="http://schemas.microsoft.com/office/drawing/2014/main" id="{85E64B5D-1F3D-4A04-9C0C-D10B7C1A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7296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6" name="p7-not-title">
            <a:extLst xmlns:a="http://schemas.openxmlformats.org/drawingml/2006/main">
              <a:ext uri="{FF2B5EF4-FFF2-40B4-BE49-F238E27FC236}">
                <a16:creationId xmlns:a16="http://schemas.microsoft.com/office/drawing/2014/main" id="{E72D43AE-DCF1-46A4-833F-BCF951B6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790575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7" name="p7-not-body">
            <a:extLst xmlns:a="http://schemas.openxmlformats.org/drawingml/2006/main">
              <a:ext uri="{FF2B5EF4-FFF2-40B4-BE49-F238E27FC236}">
                <a16:creationId xmlns:a16="http://schemas.microsoft.com/office/drawing/2014/main" id="{261C7B6F-E389-42EA-978A-9D487019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81400"/>
            <a:ext cx="640080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预览服务可撤销，且无连续性保证；输入 / 输出可用于训练改进。
独立体验仍报告路线记忆、控制、漂移和碰撞问题；未见付费客户或生产部署。</a:t>
            </a:r>
          </a:p>
        </p:txBody>
      </p:sp>
      <p:sp>
        <p:nvSpPr>
          <p:cNvPr id="18" name="p7-meaning-bg">
            <a:extLst xmlns:a="http://schemas.openxmlformats.org/drawingml/2006/main">
              <a:ext uri="{FF2B5EF4-FFF2-40B4-BE49-F238E27FC236}">
                <a16:creationId xmlns:a16="http://schemas.microsoft.com/office/drawing/2014/main" id="{8A516AB8-43B6-497C-8F95-0CA507F3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48250"/>
            <a:ext cx="447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9" name="p7-meaning-title">
            <a:extLst xmlns:a="http://schemas.openxmlformats.org/drawingml/2006/main">
              <a:ext uri="{FF2B5EF4-FFF2-40B4-BE49-F238E27FC236}">
                <a16:creationId xmlns:a16="http://schemas.microsoft.com/office/drawing/2014/main" id="{55EE26FE-A3F4-499D-8CBF-CE1BF433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7905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20" name="p7-meaning-body">
            <a:extLst xmlns:a="http://schemas.openxmlformats.org/drawingml/2006/main">
              <a:ext uri="{FF2B5EF4-FFF2-40B4-BE49-F238E27FC236}">
                <a16:creationId xmlns:a16="http://schemas.microsoft.com/office/drawing/2014/main" id="{54DDB7C1-AF23-4422-AD92-3B557D5C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81650"/>
            <a:ext cx="79057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竞争已进入可计量的驾驶任务；
不能外推为通用能力或企业级采用。</a:t>
            </a:r>
          </a:p>
        </p:txBody>
      </p:sp>
      <p:sp>
        <p:nvSpPr>
          <p:cNvPr id="21" name="p7-trigger-bg">
            <a:extLst xmlns:a="http://schemas.openxmlformats.org/drawingml/2006/main">
              <a:ext uri="{FF2B5EF4-FFF2-40B4-BE49-F238E27FC236}">
                <a16:creationId xmlns:a16="http://schemas.microsoft.com/office/drawing/2014/main" id="{12BB4C30-2898-4DF6-8B21-CB8F05B3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48250"/>
            <a:ext cx="259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2" name="p7-trigger-title">
            <a:extLst xmlns:a="http://schemas.openxmlformats.org/drawingml/2006/main">
              <a:ext uri="{FF2B5EF4-FFF2-40B4-BE49-F238E27FC236}">
                <a16:creationId xmlns:a16="http://schemas.microsoft.com/office/drawing/2014/main" id="{992EF36B-0A04-4D48-9116-76CC2DD8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38750"/>
            <a:ext cx="3200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23" name="p7-trigger-body">
            <a:extLst xmlns:a="http://schemas.openxmlformats.org/drawingml/2006/main">
              <a:ext uri="{FF2B5EF4-FFF2-40B4-BE49-F238E27FC236}">
                <a16:creationId xmlns:a16="http://schemas.microsoft.com/office/drawing/2014/main" id="{3DA9882F-2165-4D2D-ACF4-3AAF8F0E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43550"/>
            <a:ext cx="32004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预览接口正式商用，
并闭合服务等级、
数据和责任边界。</a:t>
            </a:r>
          </a:p>
        </p:txBody>
      </p:sp>
      <p:sp>
        <p:nvSpPr>
          <p:cNvPr id="24" name="p7-footer-rule">
            <a:extLst xmlns:a="http://schemas.openxmlformats.org/drawingml/2006/main">
              <a:ext uri="{FF2B5EF4-FFF2-40B4-BE49-F238E27FC236}">
                <a16:creationId xmlns:a16="http://schemas.microsoft.com/office/drawing/2014/main" id="{3FDC958C-866E-45E2-A86D-BF0CCFF6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5" name="p7-footer-source">
            <a:extLst xmlns:a="http://schemas.openxmlformats.org/drawingml/2006/main">
              <a:ext uri="{FF2B5EF4-FFF2-40B4-BE49-F238E27FC236}">
                <a16:creationId xmlns:a16="http://schemas.microsoft.com/office/drawing/2014/main" id="{FF6959DC-C540-4FA5-895A-1907E57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来源：官方产品/API、价格、条款及独立产品体验</a:t>
            </a:r>
          </a:p>
        </p:txBody>
      </p:sp>
      <p:sp>
        <p:nvSpPr>
          <p:cNvPr id="26" name="p7-footer-page">
            <a:extLst xmlns:a="http://schemas.openxmlformats.org/drawingml/2006/main">
              <a:ext uri="{FF2B5EF4-FFF2-40B4-BE49-F238E27FC236}">
                <a16:creationId xmlns:a16="http://schemas.microsoft.com/office/drawing/2014/main" id="{ABB7C58B-674B-480A-977C-8D6B632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07</a:t>
            </a:r>
          </a:p>
        </p:txBody>
      </p:sp>
    </p:spTree>
    <p:extLst>
      <p:ext uri="{BB962C8B-B14F-4D97-AF65-F5344CB8AC3E}">
        <p14:creationId xmlns:p14="http://schemas.microsoft.com/office/powerpoint/2010/main" val="1078546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8-identity">
            <a:extLst xmlns:a="http://schemas.openxmlformats.org/drawingml/2006/main">
              <a:ext uri="{FF2B5EF4-FFF2-40B4-BE49-F238E27FC236}">
                <a16:creationId xmlns:a16="http://schemas.microsoft.com/office/drawing/2014/main" id="{90D8589F-6388-4EAE-B4A7-F54F9F5E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大厂项目 1/1 · NVIDIA COSMOS 3</a:t>
            </a:r>
          </a:p>
        </p:txBody>
      </p:sp>
      <p:sp>
        <p:nvSpPr>
          <p:cNvPr id="2" name="p8-title">
            <a:extLst xmlns:a="http://schemas.openxmlformats.org/drawingml/2006/main">
              <a:ext uri="{FF2B5EF4-FFF2-40B4-BE49-F238E27FC236}">
                <a16:creationId xmlns:a16="http://schemas.microsoft.com/office/drawing/2014/main" id="{22BBA080-C54F-4C20-AF8F-443C4760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Cosmos 3 已形成自托管路径；
动作产品仍未闭合</a:t>
            </a:r>
          </a:p>
        </p:txBody>
      </p:sp>
      <p:sp>
        <p:nvSpPr>
          <p:cNvPr id="3" name="p8-route-line">
            <a:extLst xmlns:a="http://schemas.openxmlformats.org/drawingml/2006/main">
              <a:ext uri="{FF2B5EF4-FFF2-40B4-BE49-F238E27FC236}">
                <a16:creationId xmlns:a16="http://schemas.microsoft.com/office/drawing/2014/main" id="{22B2DA95-2870-4370-B5E2-0DE6A45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" name="p8-route">
            <a:extLst xmlns:a="http://schemas.openxmlformats.org/drawingml/2006/main">
              <a:ext uri="{FF2B5EF4-FFF2-40B4-BE49-F238E27FC236}">
                <a16:creationId xmlns:a16="http://schemas.microsoft.com/office/drawing/2014/main" id="{8FD7F9E3-E3FE-4507-BCAE-B34457F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1049000" cy="514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动作条件物理智能组件 · 可下载 / 自托管</a:t>
            </a:r>
          </a:p>
        </p:txBody>
      </p:sp>
      <p:sp>
        <p:nvSpPr>
          <p:cNvPr id="5" name="p8-stack-bg">
            <a:extLst xmlns:a="http://schemas.openxmlformats.org/drawingml/2006/main">
              <a:ext uri="{FF2B5EF4-FFF2-40B4-BE49-F238E27FC236}">
                <a16:creationId xmlns:a16="http://schemas.microsoft.com/office/drawing/2014/main" id="{7D18C46C-0BAB-4F40-8CC0-E5AB10D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6" name="p8-established-label">
            <a:extLst xmlns:a="http://schemas.openxmlformats.org/drawingml/2006/main">
              <a:ext uri="{FF2B5EF4-FFF2-40B4-BE49-F238E27FC236}">
                <a16:creationId xmlns:a16="http://schemas.microsoft.com/office/drawing/2014/main" id="{86B23BB0-0835-470F-BCD8-970C31B7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127760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已成立 · 三层证据必须分开看</a:t>
            </a:r>
          </a:p>
        </p:txBody>
      </p:sp>
      <p:sp>
        <p:nvSpPr>
          <p:cNvPr id="7" name="p8-stack-num-0">
            <a:extLst xmlns:a="http://schemas.openxmlformats.org/drawingml/2006/main">
              <a:ext uri="{FF2B5EF4-FFF2-40B4-BE49-F238E27FC236}">
                <a16:creationId xmlns:a16="http://schemas.microsoft.com/office/drawing/2014/main" id="{9AB67633-4AD7-4A2B-AAAC-A829605D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127760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8" name="p8-stack-head-0">
            <a:extLst xmlns:a="http://schemas.openxmlformats.org/drawingml/2006/main">
              <a:ext uri="{FF2B5EF4-FFF2-40B4-BE49-F238E27FC236}">
                <a16:creationId xmlns:a16="http://schemas.microsoft.com/office/drawing/2014/main" id="{1F5BC1F4-D8C8-4BA4-AA2B-CB4C500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076325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动作条件前向动力学</a:t>
            </a:r>
          </a:p>
        </p:txBody>
      </p:sp>
      <p:sp>
        <p:nvSpPr>
          <p:cNvPr id="9" name="p8-stack-body-0">
            <a:extLst xmlns:a="http://schemas.openxmlformats.org/drawingml/2006/main">
              <a:ext uri="{FF2B5EF4-FFF2-40B4-BE49-F238E27FC236}">
                <a16:creationId xmlns:a16="http://schemas.microsoft.com/office/drawing/2014/main" id="{06F404D5-9B0E-403B-965B-A605E457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762000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已有可运行材料</a:t>
            </a:r>
          </a:p>
        </p:txBody>
      </p:sp>
      <p:sp>
        <p:nvSpPr>
          <p:cNvPr id="10" name="p8-stack-rule-0">
            <a:extLst xmlns:a="http://schemas.openxmlformats.org/drawingml/2006/main">
              <a:ext uri="{FF2B5EF4-FFF2-40B4-BE49-F238E27FC236}">
                <a16:creationId xmlns:a16="http://schemas.microsoft.com/office/drawing/2014/main" id="{BE31109B-EF32-46C9-AA1B-9106C687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1" name="p8-stack-num-1">
            <a:extLst xmlns:a="http://schemas.openxmlformats.org/drawingml/2006/main">
              <a:ext uri="{FF2B5EF4-FFF2-40B4-BE49-F238E27FC236}">
                <a16:creationId xmlns:a16="http://schemas.microsoft.com/office/drawing/2014/main" id="{126E6DD2-B31C-4314-A1B4-943AEAAA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12776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12" name="p8-stack-head-1">
            <a:extLst xmlns:a="http://schemas.openxmlformats.org/drawingml/2006/main">
              <a:ext uri="{FF2B5EF4-FFF2-40B4-BE49-F238E27FC236}">
                <a16:creationId xmlns:a16="http://schemas.microsoft.com/office/drawing/2014/main" id="{DDCDCDAF-6B64-4586-BF4D-741E166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107632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自托管路径</a:t>
            </a:r>
          </a:p>
        </p:txBody>
      </p:sp>
      <p:sp>
        <p:nvSpPr>
          <p:cNvPr id="13" name="p8-stack-body-1">
            <a:extLst xmlns:a="http://schemas.openxmlformats.org/drawingml/2006/main">
              <a:ext uri="{FF2B5EF4-FFF2-40B4-BE49-F238E27FC236}">
                <a16:creationId xmlns:a16="http://schemas.microsoft.com/office/drawing/2014/main" id="{A320FA50-2072-412E-924A-102DAF4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762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模型材料与代码可在本地运行</a:t>
            </a:r>
          </a:p>
        </p:txBody>
      </p:sp>
      <p:sp>
        <p:nvSpPr>
          <p:cNvPr id="14" name="p8-stack-rule-1">
            <a:extLst xmlns:a="http://schemas.openxmlformats.org/drawingml/2006/main">
              <a:ext uri="{FF2B5EF4-FFF2-40B4-BE49-F238E27FC236}">
                <a16:creationId xmlns:a16="http://schemas.microsoft.com/office/drawing/2014/main" id="{2508C36E-E511-4E18-8821-72DAF9FB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5" name="p8-stack-num-2">
            <a:extLst xmlns:a="http://schemas.openxmlformats.org/drawingml/2006/main">
              <a:ext uri="{FF2B5EF4-FFF2-40B4-BE49-F238E27FC236}">
                <a16:creationId xmlns:a16="http://schemas.microsoft.com/office/drawing/2014/main" id="{CF947F91-D65C-4196-B5DF-058647D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127760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16" name="p8-stack-head-2">
            <a:extLst xmlns:a="http://schemas.openxmlformats.org/drawingml/2006/main">
              <a:ext uri="{FF2B5EF4-FFF2-40B4-BE49-F238E27FC236}">
                <a16:creationId xmlns:a16="http://schemas.microsoft.com/office/drawing/2014/main" id="{CF75A9DA-FD6C-4A00-8F42-AA6A6C2F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1076325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Cosmos3-Generator
Release 1.0.0</a:t>
            </a:r>
          </a:p>
        </p:txBody>
      </p:sp>
      <p:sp>
        <p:nvSpPr>
          <p:cNvPr id="17" name="p8-stack-body-2">
            <a:extLst xmlns:a="http://schemas.openxmlformats.org/drawingml/2006/main">
              <a:ext uri="{FF2B5EF4-FFF2-40B4-BE49-F238E27FC236}">
                <a16:creationId xmlns:a16="http://schemas.microsoft.com/office/drawing/2014/main" id="{77A468CE-F56A-40D2-87BD-C6B875A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762000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初始 GA；只含文生 / 图生视频；
未列动作模式</a:t>
            </a:r>
          </a:p>
        </p:txBody>
      </p:sp>
      <p:sp>
        <p:nvSpPr>
          <p:cNvPr id="18" name="p8-not-bg">
            <a:extLst xmlns:a="http://schemas.openxmlformats.org/drawingml/2006/main">
              <a:ext uri="{FF2B5EF4-FFF2-40B4-BE49-F238E27FC236}">
                <a16:creationId xmlns:a16="http://schemas.microsoft.com/office/drawing/2014/main" id="{3AD95859-729E-48C6-A278-F3FA98F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37719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9" name="p8-not-rule">
            <a:extLst xmlns:a="http://schemas.openxmlformats.org/drawingml/2006/main">
              <a:ext uri="{FF2B5EF4-FFF2-40B4-BE49-F238E27FC236}">
                <a16:creationId xmlns:a16="http://schemas.microsoft.com/office/drawing/2014/main" id="{75B53400-6AAA-4B01-817D-0953B7F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20" name="p8-not-label">
            <a:extLst xmlns:a="http://schemas.openxmlformats.org/drawingml/2006/main">
              <a:ext uri="{FF2B5EF4-FFF2-40B4-BE49-F238E27FC236}">
                <a16:creationId xmlns:a16="http://schemas.microsoft.com/office/drawing/2014/main" id="{9CC8CAA0-96C9-4003-8202-5FD119B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4381500" cy="440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21" name="p8-not-list-dot-0">
            <a:extLst xmlns:a="http://schemas.openxmlformats.org/drawingml/2006/main">
              <a:ext uri="{FF2B5EF4-FFF2-40B4-BE49-F238E27FC236}">
                <a16:creationId xmlns:a16="http://schemas.microsoft.com/office/drawing/2014/main" id="{46B60697-A07E-4FA1-AF16-F2DF51F9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43815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2" name="p8-not-list-text-0">
            <a:extLst xmlns:a="http://schemas.openxmlformats.org/drawingml/2006/main">
              <a:ext uri="{FF2B5EF4-FFF2-40B4-BE49-F238E27FC236}">
                <a16:creationId xmlns:a16="http://schemas.microsoft.com/office/drawing/2014/main" id="{DCFE4807-F75D-425D-9F67-E0C691BF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41529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稳定动作运行时或动作 NIM</a:t>
            </a:r>
          </a:p>
        </p:txBody>
      </p:sp>
      <p:sp>
        <p:nvSpPr>
          <p:cNvPr id="23" name="p8-not-list-dot-1">
            <a:extLst xmlns:a="http://schemas.openxmlformats.org/drawingml/2006/main">
              <a:ext uri="{FF2B5EF4-FFF2-40B4-BE49-F238E27FC236}">
                <a16:creationId xmlns:a16="http://schemas.microsoft.com/office/drawing/2014/main" id="{D5E590CE-126F-470E-82B8-92928513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4381500" cy="356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4" name="p8-not-list-text-1">
            <a:extLst xmlns:a="http://schemas.openxmlformats.org/drawingml/2006/main">
              <a:ext uri="{FF2B5EF4-FFF2-40B4-BE49-F238E27FC236}">
                <a16:creationId xmlns:a16="http://schemas.microsoft.com/office/drawing/2014/main" id="{6D0FDF15-D24C-44BB-B4D4-9AD517E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4152900" cy="356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第三方依赖的完整许可链</a:t>
            </a:r>
          </a:p>
        </p:txBody>
      </p:sp>
      <p:sp>
        <p:nvSpPr>
          <p:cNvPr id="25" name="p8-not-list-dot-2">
            <a:extLst xmlns:a="http://schemas.openxmlformats.org/drawingml/2006/main">
              <a:ext uri="{FF2B5EF4-FFF2-40B4-BE49-F238E27FC236}">
                <a16:creationId xmlns:a16="http://schemas.microsoft.com/office/drawing/2014/main" id="{E93C5FC1-AA91-4ED2-93A1-D0CC6A7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43815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6" name="p8-not-list-text-2">
            <a:extLst xmlns:a="http://schemas.openxmlformats.org/drawingml/2006/main">
              <a:ext uri="{FF2B5EF4-FFF2-40B4-BE49-F238E27FC236}">
                <a16:creationId xmlns:a16="http://schemas.microsoft.com/office/drawing/2014/main" id="{0DBB4894-A9C7-47F0-8C38-8122F79F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41529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硬件范围与总体拥有成本</a:t>
            </a:r>
          </a:p>
        </p:txBody>
      </p:sp>
      <p:sp>
        <p:nvSpPr>
          <p:cNvPr id="27" name="p8-not-list-dot-3">
            <a:extLst xmlns:a="http://schemas.openxmlformats.org/drawingml/2006/main">
              <a:ext uri="{FF2B5EF4-FFF2-40B4-BE49-F238E27FC236}">
                <a16:creationId xmlns:a16="http://schemas.microsoft.com/office/drawing/2014/main" id="{96A0878D-F7A5-450A-A6E5-4B93E66E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43815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8" name="p8-not-list-text-3">
            <a:extLst xmlns:a="http://schemas.openxmlformats.org/drawingml/2006/main">
              <a:ext uri="{FF2B5EF4-FFF2-40B4-BE49-F238E27FC236}">
                <a16:creationId xmlns:a16="http://schemas.microsoft.com/office/drawing/2014/main" id="{C613AAA6-49E3-4F15-A18B-FAC8551D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41529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独立复现与客户第一方采用</a:t>
            </a:r>
          </a:p>
        </p:txBody>
      </p:sp>
      <p:sp>
        <p:nvSpPr>
          <p:cNvPr id="29" name="p8-meaning-bg">
            <a:extLst xmlns:a="http://schemas.openxmlformats.org/drawingml/2006/main">
              <a:ext uri="{FF2B5EF4-FFF2-40B4-BE49-F238E27FC236}">
                <a16:creationId xmlns:a16="http://schemas.microsoft.com/office/drawing/2014/main" id="{5B8397D5-715A-46C0-B5D9-0F80E0A6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819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0" name="p8-meaning-title">
            <a:extLst xmlns:a="http://schemas.openxmlformats.org/drawingml/2006/main">
              <a:ext uri="{FF2B5EF4-FFF2-40B4-BE49-F238E27FC236}">
                <a16:creationId xmlns:a16="http://schemas.microsoft.com/office/drawing/2014/main" id="{9A4BD198-BEDD-4D76-B2AA-4BB07CDF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12776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31" name="p8-meaning-body">
            <a:extLst xmlns:a="http://schemas.openxmlformats.org/drawingml/2006/main">
              <a:ext uri="{FF2B5EF4-FFF2-40B4-BE49-F238E27FC236}">
                <a16:creationId xmlns:a16="http://schemas.microsoft.com/office/drawing/2014/main" id="{95D35F7F-4C46-4A5D-908D-C2A4313D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12776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自托管组件可能绕行专有供应商，也可能成为部署与验证底层；
实际关系取决于 Manifold 的交付单元。</a:t>
            </a:r>
          </a:p>
        </p:txBody>
      </p:sp>
      <p:sp>
        <p:nvSpPr>
          <p:cNvPr id="32" name="p8-trigger-bg">
            <a:extLst xmlns:a="http://schemas.openxmlformats.org/drawingml/2006/main">
              <a:ext uri="{FF2B5EF4-FFF2-40B4-BE49-F238E27FC236}">
                <a16:creationId xmlns:a16="http://schemas.microsoft.com/office/drawing/2014/main" id="{F472F265-8825-4330-8BC6-DC0D4B6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3619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33" name="p8-trigger-title">
            <a:extLst xmlns:a="http://schemas.openxmlformats.org/drawingml/2006/main">
              <a:ext uri="{FF2B5EF4-FFF2-40B4-BE49-F238E27FC236}">
                <a16:creationId xmlns:a16="http://schemas.microsoft.com/office/drawing/2014/main" id="{90D6D566-DCEE-45BE-8CF1-FA79F856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19700"/>
            <a:ext cx="42291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34" name="p8-trigger-body">
            <a:extLst xmlns:a="http://schemas.openxmlformats.org/drawingml/2006/main">
              <a:ext uri="{FF2B5EF4-FFF2-40B4-BE49-F238E27FC236}">
                <a16:creationId xmlns:a16="http://schemas.microsoft.com/office/drawing/2014/main" id="{2DE4CE5F-67C3-426C-80BA-7DCF649B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81650"/>
            <a:ext cx="42291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稳定动作运行时或动作 NIM 正式发布，
并获得独立复现。</a:t>
            </a:r>
          </a:p>
        </p:txBody>
      </p:sp>
      <p:sp>
        <p:nvSpPr>
          <p:cNvPr id="35" name="p8-footer-rule">
            <a:extLst xmlns:a="http://schemas.openxmlformats.org/drawingml/2006/main">
              <a:ext uri="{FF2B5EF4-FFF2-40B4-BE49-F238E27FC236}">
                <a16:creationId xmlns:a16="http://schemas.microsoft.com/office/drawing/2014/main" id="{E8F81EFC-1543-42C5-B766-252B8141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6" name="p8-footer-source">
            <a:extLst xmlns:a="http://schemas.openxmlformats.org/drawingml/2006/main">
              <a:ext uri="{FF2B5EF4-FFF2-40B4-BE49-F238E27FC236}">
                <a16:creationId xmlns:a16="http://schemas.microsoft.com/office/drawing/2014/main" id="{C2FE7FCF-7B8B-491A-B851-D4B21C16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Generator NIM ≠ action runtime｜来源：官方研究、模型、自托管文档、Release Notes、许可及伙伴自报</a:t>
            </a:r>
          </a:p>
        </p:txBody>
      </p:sp>
      <p:sp>
        <p:nvSpPr>
          <p:cNvPr id="37" name="p8-footer-page">
            <a:extLst xmlns:a="http://schemas.openxmlformats.org/drawingml/2006/main">
              <a:ext uri="{FF2B5EF4-FFF2-40B4-BE49-F238E27FC236}">
                <a16:creationId xmlns:a16="http://schemas.microsoft.com/office/drawing/2014/main" id="{BA7DAF31-5E78-4934-AD3B-2E45DBA9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08</a:t>
            </a:r>
          </a:p>
        </p:txBody>
      </p:sp>
    </p:spTree>
    <p:extLst>
      <p:ext uri="{BB962C8B-B14F-4D97-AF65-F5344CB8AC3E}">
        <p14:creationId xmlns:p14="http://schemas.microsoft.com/office/powerpoint/2010/main" val="15953317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9-eyebrow">
            <a:extLst xmlns:a="http://schemas.openxmlformats.org/drawingml/2006/main">
              <a:ext uri="{FF2B5EF4-FFF2-40B4-BE49-F238E27FC236}">
                <a16:creationId xmlns:a16="http://schemas.microsoft.com/office/drawing/2014/main" id="{7F1F0BF7-6D30-41BE-8BAB-0F5062F2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WATCHLIST · FACT-TRIGGERED</a:t>
            </a:r>
          </a:p>
        </p:txBody>
      </p:sp>
      <p:sp>
        <p:nvSpPr>
          <p:cNvPr id="2" name="p9-title">
            <a:extLst xmlns:a="http://schemas.openxmlformats.org/drawingml/2006/main">
              <a:ext uri="{FF2B5EF4-FFF2-40B4-BE49-F238E27FC236}">
                <a16:creationId xmlns:a16="http://schemas.microsoft.com/office/drawing/2014/main" id="{B6C1AD45-C701-46B3-BB99-EB7C698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四个观察对象和一个早期信号，只在证据变化时重审</a:t>
            </a:r>
          </a:p>
        </p:txBody>
      </p:sp>
      <p:sp>
        <p:nvSpPr>
          <p:cNvPr id="3" name="p9-subtitle">
            <a:extLst xmlns:a="http://schemas.openxmlformats.org/drawingml/2006/main">
              <a:ext uri="{FF2B5EF4-FFF2-40B4-BE49-F238E27FC236}">
                <a16:creationId xmlns:a16="http://schemas.microsoft.com/office/drawing/2014/main" id="{772757D5-6A62-4847-BDBA-6AAAAE64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11582400" cy="5838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触发条件只启动事实重审，不自动改变固定五席或 4+1 结构。</a:t>
            </a:r>
          </a:p>
        </p:txBody>
      </p:sp>
      <p:sp>
        <p:nvSpPr>
          <p:cNvPr id="4" name="p9-header-bg">
            <a:extLst xmlns:a="http://schemas.openxmlformats.org/drawingml/2006/main">
              <a:ext uri="{FF2B5EF4-FFF2-40B4-BE49-F238E27FC236}">
                <a16:creationId xmlns:a16="http://schemas.microsoft.com/office/drawing/2014/main" id="{87AE93EF-1C5C-419E-AD49-337562D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5" name="p9-header-0">
            <a:extLst xmlns:a="http://schemas.openxmlformats.org/drawingml/2006/main">
              <a:ext uri="{FF2B5EF4-FFF2-40B4-BE49-F238E27FC236}">
                <a16:creationId xmlns:a16="http://schemas.microsoft.com/office/drawing/2014/main" id="{3283B4C4-0CB9-4E62-97C8-7A0C5D8C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14300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对象</a:t>
            </a:r>
          </a:p>
        </p:txBody>
      </p:sp>
      <p:sp>
        <p:nvSpPr>
          <p:cNvPr id="6" name="p9-header-1">
            <a:extLst xmlns:a="http://schemas.openxmlformats.org/drawingml/2006/main">
              <a:ext uri="{FF2B5EF4-FFF2-40B4-BE49-F238E27FC236}">
                <a16:creationId xmlns:a16="http://schemas.microsoft.com/office/drawing/2014/main" id="{CB69CCDF-9227-4114-B72F-F51E2493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28750"/>
            <a:ext cx="90297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当前关注点</a:t>
            </a:r>
          </a:p>
        </p:txBody>
      </p:sp>
      <p:sp>
        <p:nvSpPr>
          <p:cNvPr id="7" name="p9-header-2">
            <a:extLst xmlns:a="http://schemas.openxmlformats.org/drawingml/2006/main">
              <a:ext uri="{FF2B5EF4-FFF2-40B4-BE49-F238E27FC236}">
                <a16:creationId xmlns:a16="http://schemas.microsoft.com/office/drawing/2014/main" id="{1A0111FF-B3CE-4094-9073-BCAD9852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85775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重审所需证据</a:t>
            </a:r>
          </a:p>
        </p:txBody>
      </p:sp>
      <p:sp>
        <p:nvSpPr>
          <p:cNvPr id="8" name="p9-row-bg-0">
            <a:extLst xmlns:a="http://schemas.openxmlformats.org/drawingml/2006/main">
              <a:ext uri="{FF2B5EF4-FFF2-40B4-BE49-F238E27FC236}">
                <a16:creationId xmlns:a16="http://schemas.microsoft.com/office/drawing/2014/main" id="{54790A14-ADD1-43E3-BF41-594F7F2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9" name="p9-name-bg-0">
            <a:extLst xmlns:a="http://schemas.openxmlformats.org/drawingml/2006/main">
              <a:ext uri="{FF2B5EF4-FFF2-40B4-BE49-F238E27FC236}">
                <a16:creationId xmlns:a16="http://schemas.microsoft.com/office/drawing/2014/main" id="{A57517D0-E928-4154-8D57-7B0B709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10" name="p9-cell-0-0">
            <a:extLst xmlns:a="http://schemas.openxmlformats.org/drawingml/2006/main">
              <a:ext uri="{FF2B5EF4-FFF2-40B4-BE49-F238E27FC236}">
                <a16:creationId xmlns:a16="http://schemas.microsoft.com/office/drawing/2014/main" id="{9D12B222-D84C-4BCA-9AEE-23FF4AFC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143000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Genie 3 /
Project Genie</a:t>
            </a:r>
          </a:p>
        </p:txBody>
      </p:sp>
      <p:sp>
        <p:nvSpPr>
          <p:cNvPr id="11" name="p9-cell-0-1">
            <a:extLst xmlns:a="http://schemas.openxmlformats.org/drawingml/2006/main">
              <a:ext uri="{FF2B5EF4-FFF2-40B4-BE49-F238E27FC236}">
                <a16:creationId xmlns:a16="http://schemas.microsoft.com/office/drawing/2014/main" id="{2444A56C-4DCE-4677-BDE0-7B7CF1D0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902970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封闭模型与消费者原型；
企业/开发者路径和外部采用未证</a:t>
            </a:r>
          </a:p>
        </p:txBody>
      </p:sp>
      <p:sp>
        <p:nvSpPr>
          <p:cNvPr id="12" name="p9-trigger-mark-0">
            <a:extLst xmlns:a="http://schemas.openxmlformats.org/drawingml/2006/main">
              <a:ext uri="{FF2B5EF4-FFF2-40B4-BE49-F238E27FC236}">
                <a16:creationId xmlns:a16="http://schemas.microsoft.com/office/drawing/2014/main" id="{AE6C5EFF-984D-4EC9-B577-6315CA1B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3" name="p9-cell-0-2">
            <a:extLst xmlns:a="http://schemas.openxmlformats.org/drawingml/2006/main">
              <a:ext uri="{FF2B5EF4-FFF2-40B4-BE49-F238E27FC236}">
                <a16:creationId xmlns:a16="http://schemas.microsoft.com/office/drawing/2014/main" id="{71F9C7A3-C830-49C4-8B19-696BD29A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455295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企业/开发者接口、SDK 或权重；
具名外部集成</a:t>
            </a:r>
          </a:p>
        </p:txBody>
      </p:sp>
      <p:sp>
        <p:nvSpPr>
          <p:cNvPr id="14" name="p9-row-rule-0">
            <a:extLst xmlns:a="http://schemas.openxmlformats.org/drawingml/2006/main">
              <a:ext uri="{FF2B5EF4-FFF2-40B4-BE49-F238E27FC236}">
                <a16:creationId xmlns:a16="http://schemas.microsoft.com/office/drawing/2014/main" id="{74A1FAB3-32EE-472B-8963-55348401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5" name="p9-row-bg-1">
            <a:extLst xmlns:a="http://schemas.openxmlformats.org/drawingml/2006/main">
              <a:ext uri="{FF2B5EF4-FFF2-40B4-BE49-F238E27FC236}">
                <a16:creationId xmlns:a16="http://schemas.microsoft.com/office/drawing/2014/main" id="{1BE58FFD-D467-4EAA-85A4-E3A3606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16" name="p9-name-bg-1">
            <a:extLst xmlns:a="http://schemas.openxmlformats.org/drawingml/2006/main">
              <a:ext uri="{FF2B5EF4-FFF2-40B4-BE49-F238E27FC236}">
                <a16:creationId xmlns:a16="http://schemas.microsoft.com/office/drawing/2014/main" id="{F5CD2667-E1C7-4CF9-B221-6BF41220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17" name="p9-cell-1-0">
            <a:extLst xmlns:a="http://schemas.openxmlformats.org/drawingml/2006/main">
              <a:ext uri="{FF2B5EF4-FFF2-40B4-BE49-F238E27FC236}">
                <a16:creationId xmlns:a16="http://schemas.microsoft.com/office/drawing/2014/main" id="{635BC570-945B-4ABC-B524-5A7140F9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143000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General Intuition /
MIRA</a:t>
            </a:r>
          </a:p>
        </p:txBody>
      </p:sp>
      <p:sp>
        <p:nvSpPr>
          <p:cNvPr id="18" name="p9-cell-1-1">
            <a:extLst xmlns:a="http://schemas.openxmlformats.org/drawingml/2006/main">
              <a:ext uri="{FF2B5EF4-FFF2-40B4-BE49-F238E27FC236}">
                <a16:creationId xmlns:a16="http://schemas.microsoft.com/office/drawing/2014/main" id="{63477E80-F616-4636-B8DF-D9F54C0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38450"/>
            <a:ext cx="902970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证据集中在 Rocket League 虚拟物理域；
商业接口归属和采用未证</a:t>
            </a:r>
          </a:p>
        </p:txBody>
      </p:sp>
      <p:sp>
        <p:nvSpPr>
          <p:cNvPr id="19" name="p9-trigger-mark-1">
            <a:extLst xmlns:a="http://schemas.openxmlformats.org/drawingml/2006/main">
              <a:ext uri="{FF2B5EF4-FFF2-40B4-BE49-F238E27FC236}">
                <a16:creationId xmlns:a16="http://schemas.microsoft.com/office/drawing/2014/main" id="{53B9A4AD-735C-4F87-B2D5-008CB6C5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0" name="p9-cell-1-2">
            <a:extLst xmlns:a="http://schemas.openxmlformats.org/drawingml/2006/main">
              <a:ext uri="{FF2B5EF4-FFF2-40B4-BE49-F238E27FC236}">
                <a16:creationId xmlns:a16="http://schemas.microsoft.com/office/drawing/2014/main" id="{C780BEBA-C724-4B51-99A6-758EEB4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38450"/>
            <a:ext cx="455295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第一方证据确认实际交付组件；
跨域独立验证、具名客户</a:t>
            </a:r>
          </a:p>
        </p:txBody>
      </p:sp>
      <p:sp>
        <p:nvSpPr>
          <p:cNvPr id="21" name="p9-row-rule-1">
            <a:extLst xmlns:a="http://schemas.openxmlformats.org/drawingml/2006/main">
              <a:ext uri="{FF2B5EF4-FFF2-40B4-BE49-F238E27FC236}">
                <a16:creationId xmlns:a16="http://schemas.microsoft.com/office/drawing/2014/main" id="{7288CE34-F6D0-45AB-81DC-64CA40E4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2" name="p9-row-bg-2">
            <a:extLst xmlns:a="http://schemas.openxmlformats.org/drawingml/2006/main">
              <a:ext uri="{FF2B5EF4-FFF2-40B4-BE49-F238E27FC236}">
                <a16:creationId xmlns:a16="http://schemas.microsoft.com/office/drawing/2014/main" id="{3C21F4A5-5713-4F5E-A5F0-EA1CEFA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3" name="p9-name-bg-2">
            <a:extLst xmlns:a="http://schemas.openxmlformats.org/drawingml/2006/main">
              <a:ext uri="{FF2B5EF4-FFF2-40B4-BE49-F238E27FC236}">
                <a16:creationId xmlns:a16="http://schemas.microsoft.com/office/drawing/2014/main" id="{6810CAA8-572E-42BF-B8F8-65A10A8C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24" name="p9-cell-2-0">
            <a:extLst xmlns:a="http://schemas.openxmlformats.org/drawingml/2006/main">
              <a:ext uri="{FF2B5EF4-FFF2-40B4-BE49-F238E27FC236}">
                <a16:creationId xmlns:a16="http://schemas.microsoft.com/office/drawing/2014/main" id="{BD2A5EB8-8ADF-400F-B66A-E1354A4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143000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25" name="p9-cell-2-1">
            <a:extLst xmlns:a="http://schemas.openxmlformats.org/drawingml/2006/main">
              <a:ext uri="{FF2B5EF4-FFF2-40B4-BE49-F238E27FC236}">
                <a16:creationId xmlns:a16="http://schemas.microsoft.com/office/drawing/2014/main" id="{7BE0EFE0-88C6-4CEE-B022-DE8E1505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902970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仅 2-AC 提供动作条件路径；
窄域、许可与修正复现未闭合</a:t>
            </a:r>
          </a:p>
        </p:txBody>
      </p:sp>
      <p:sp>
        <p:nvSpPr>
          <p:cNvPr id="26" name="p9-trigger-mark-2">
            <a:extLst xmlns:a="http://schemas.openxmlformats.org/drawingml/2006/main">
              <a:ext uri="{FF2B5EF4-FFF2-40B4-BE49-F238E27FC236}">
                <a16:creationId xmlns:a16="http://schemas.microsoft.com/office/drawing/2014/main" id="{69EEAB5C-FC03-4FE4-BF50-527A0FA7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7" name="p9-cell-2-2">
            <a:extLst xmlns:a="http://schemas.openxmlformats.org/drawingml/2006/main">
              <a:ext uri="{FF2B5EF4-FFF2-40B4-BE49-F238E27FC236}">
                <a16:creationId xmlns:a16="http://schemas.microsoft.com/office/drawing/2014/main" id="{8E45A532-3444-48BE-8B9A-E2116C4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455295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跨动作域复现、许可闭合、
产品或客户入口</a:t>
            </a:r>
          </a:p>
        </p:txBody>
      </p:sp>
      <p:sp>
        <p:nvSpPr>
          <p:cNvPr id="28" name="p9-row-rule-2">
            <a:extLst xmlns:a="http://schemas.openxmlformats.org/drawingml/2006/main">
              <a:ext uri="{FF2B5EF4-FFF2-40B4-BE49-F238E27FC236}">
                <a16:creationId xmlns:a16="http://schemas.microsoft.com/office/drawing/2014/main" id="{9C2BCA82-22DB-4812-8437-ED4DD0A7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9" name="p9-row-bg-3">
            <a:extLst xmlns:a="http://schemas.openxmlformats.org/drawingml/2006/main">
              <a:ext uri="{FF2B5EF4-FFF2-40B4-BE49-F238E27FC236}">
                <a16:creationId xmlns:a16="http://schemas.microsoft.com/office/drawing/2014/main" id="{1064A48D-3746-45FC-B430-D68A3D00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30" name="p9-name-bg-3">
            <a:extLst xmlns:a="http://schemas.openxmlformats.org/drawingml/2006/main">
              <a:ext uri="{FF2B5EF4-FFF2-40B4-BE49-F238E27FC236}">
                <a16:creationId xmlns:a16="http://schemas.microsoft.com/office/drawing/2014/main" id="{8A20A331-9957-4C61-89AB-EE059C0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31" name="p9-cell-3-0">
            <a:extLst xmlns:a="http://schemas.openxmlformats.org/drawingml/2006/main">
              <a:ext uri="{FF2B5EF4-FFF2-40B4-BE49-F238E27FC236}">
                <a16:creationId xmlns:a16="http://schemas.microsoft.com/office/drawing/2014/main" id="{4CD8460E-1A62-4939-8097-259B7A36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1430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Overworld
（地域条件）</a:t>
            </a:r>
          </a:p>
        </p:txBody>
      </p:sp>
      <p:sp>
        <p:nvSpPr>
          <p:cNvPr id="32" name="p9-cell-3-1">
            <a:extLst xmlns:a="http://schemas.openxmlformats.org/drawingml/2006/main">
              <a:ext uri="{FF2B5EF4-FFF2-40B4-BE49-F238E27FC236}">
                <a16:creationId xmlns:a16="http://schemas.microsoft.com/office/drawing/2014/main" id="{9F36037F-DD6B-4E92-8FA3-C84ACDB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67250"/>
            <a:ext cx="90297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开放权重和本地运行有平台价值；
法律主体、长时一致性和采用未证</a:t>
            </a:r>
          </a:p>
        </p:txBody>
      </p:sp>
      <p:sp>
        <p:nvSpPr>
          <p:cNvPr id="33" name="p9-trigger-mark-3">
            <a:extLst xmlns:a="http://schemas.openxmlformats.org/drawingml/2006/main">
              <a:ext uri="{FF2B5EF4-FFF2-40B4-BE49-F238E27FC236}">
                <a16:creationId xmlns:a16="http://schemas.microsoft.com/office/drawing/2014/main" id="{A7777487-B6CB-4ADD-B3FC-A6570B8A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4" name="p9-cell-3-2">
            <a:extLst xmlns:a="http://schemas.openxmlformats.org/drawingml/2006/main">
              <a:ext uri="{FF2B5EF4-FFF2-40B4-BE49-F238E27FC236}">
                <a16:creationId xmlns:a16="http://schemas.microsoft.com/office/drawing/2014/main" id="{5EB937A9-6B17-411E-A2E9-C7C39ED1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67250"/>
            <a:ext cx="45529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法律实体闭合、长时交互独立验证、
具名采用</a:t>
            </a:r>
          </a:p>
        </p:txBody>
      </p:sp>
      <p:sp>
        <p:nvSpPr>
          <p:cNvPr id="35" name="p9-row-rule-3">
            <a:extLst xmlns:a="http://schemas.openxmlformats.org/drawingml/2006/main">
              <a:ext uri="{FF2B5EF4-FFF2-40B4-BE49-F238E27FC236}">
                <a16:creationId xmlns:a16="http://schemas.microsoft.com/office/drawing/2014/main" id="{27FF175E-B09A-4D38-9FBB-39F8182B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6" name="p9-row-bg-4">
            <a:extLst xmlns:a="http://schemas.openxmlformats.org/drawingml/2006/main">
              <a:ext uri="{FF2B5EF4-FFF2-40B4-BE49-F238E27FC236}">
                <a16:creationId xmlns:a16="http://schemas.microsoft.com/office/drawing/2014/main" id="{2D85A309-7F25-46D5-A494-100FB85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7" name="p9-name-bg-4">
            <a:extLst xmlns:a="http://schemas.openxmlformats.org/drawingml/2006/main">
              <a:ext uri="{FF2B5EF4-FFF2-40B4-BE49-F238E27FC236}">
                <a16:creationId xmlns:a16="http://schemas.microsoft.com/office/drawing/2014/main" id="{672845FC-6DEC-4BCE-AAF8-3D6C220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6"/>
          </a:solidFill>
        </p:spPr>
      </p:sp>
      <p:sp>
        <p:nvSpPr>
          <p:cNvPr id="38" name="p9-cell-4-0">
            <a:extLst xmlns:a="http://schemas.openxmlformats.org/drawingml/2006/main">
              <a:ext uri="{FF2B5EF4-FFF2-40B4-BE49-F238E27FC236}">
                <a16:creationId xmlns:a16="http://schemas.microsoft.com/office/drawing/2014/main" id="{23FAD59B-B4B2-4C05-AE3A-451DF3B8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14300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AMI Labs
（早期信号）</a:t>
            </a:r>
          </a:p>
        </p:txBody>
      </p:sp>
      <p:sp>
        <p:nvSpPr>
          <p:cNvPr id="39" name="p9-cell-4-1">
            <a:extLst xmlns:a="http://schemas.openxmlformats.org/drawingml/2006/main">
              <a:ext uri="{FF2B5EF4-FFF2-40B4-BE49-F238E27FC236}">
                <a16:creationId xmlns:a16="http://schemas.microsoft.com/office/drawing/2014/main" id="{737C3095-82E3-4E36-94DE-232C1A7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81650"/>
            <a:ext cx="90297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非中国地域已闭合，但无可验证的自有模型、
论文、演示、权重、接口或评测</a:t>
            </a:r>
          </a:p>
        </p:txBody>
      </p:sp>
      <p:sp>
        <p:nvSpPr>
          <p:cNvPr id="40" name="p9-trigger-mark-4">
            <a:extLst xmlns:a="http://schemas.openxmlformats.org/drawingml/2006/main">
              <a:ext uri="{FF2B5EF4-FFF2-40B4-BE49-F238E27FC236}">
                <a16:creationId xmlns:a16="http://schemas.microsoft.com/office/drawing/2014/main" id="{54A2DEAD-A782-4C0C-A285-A013B5F3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755"/>
          </a:solidFill>
        </p:spPr>
      </p:sp>
      <p:sp>
        <p:nvSpPr>
          <p:cNvPr id="41" name="p9-cell-4-2">
            <a:extLst xmlns:a="http://schemas.openxmlformats.org/drawingml/2006/main">
              <a:ext uri="{FF2B5EF4-FFF2-40B4-BE49-F238E27FC236}">
                <a16:creationId xmlns:a16="http://schemas.microsoft.com/office/drawing/2014/main" id="{E9EB8A21-8C0E-44C3-945E-3B39FA1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81650"/>
            <a:ext cx="45529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可审计的自有技术资产
与外部入口</a:t>
            </a:r>
          </a:p>
        </p:txBody>
      </p:sp>
      <p:sp>
        <p:nvSpPr>
          <p:cNvPr id="42" name="p9-row-rule-4">
            <a:extLst xmlns:a="http://schemas.openxmlformats.org/drawingml/2006/main">
              <a:ext uri="{FF2B5EF4-FFF2-40B4-BE49-F238E27FC236}">
                <a16:creationId xmlns:a16="http://schemas.microsoft.com/office/drawing/2014/main" id="{EDA7356F-5D0F-4BA1-840C-78D4E624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3" name="p9-footer-rule">
            <a:extLst xmlns:a="http://schemas.openxmlformats.org/drawingml/2006/main">
              <a:ext uri="{FF2B5EF4-FFF2-40B4-BE49-F238E27FC236}">
                <a16:creationId xmlns:a16="http://schemas.microsoft.com/office/drawing/2014/main" id="{DCB6346A-3D1A-4340-92B2-DEA48E2D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4" name="p9-footer-source">
            <a:extLst xmlns:a="http://schemas.openxmlformats.org/drawingml/2006/main">
              <a:ext uri="{FF2B5EF4-FFF2-40B4-BE49-F238E27FC236}">
                <a16:creationId xmlns:a16="http://schemas.microsoft.com/office/drawing/2014/main" id="{14DED329-83EB-418A-A8AC-70E1467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来源：官方研究、产品、代码仓库、公司及地域资料</a:t>
            </a:r>
          </a:p>
        </p:txBody>
      </p:sp>
      <p:sp>
        <p:nvSpPr>
          <p:cNvPr id="45" name="p9-footer-page">
            <a:extLst xmlns:a="http://schemas.openxmlformats.org/drawingml/2006/main">
              <a:ext uri="{FF2B5EF4-FFF2-40B4-BE49-F238E27FC236}">
                <a16:creationId xmlns:a16="http://schemas.microsoft.com/office/drawing/2014/main" id="{AC6969E1-7926-410B-8E85-E7D586A8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09</a:t>
            </a:r>
          </a:p>
        </p:txBody>
      </p:sp>
    </p:spTree>
    <p:extLst>
      <p:ext uri="{BB962C8B-B14F-4D97-AF65-F5344CB8AC3E}">
        <p14:creationId xmlns:p14="http://schemas.microsoft.com/office/powerpoint/2010/main" val="5151232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0-eyebrow">
            <a:extLst xmlns:a="http://schemas.openxmlformats.org/drawingml/2006/main">
              <a:ext uri="{FF2B5EF4-FFF2-40B4-BE49-F238E27FC236}">
                <a16:creationId xmlns:a16="http://schemas.microsoft.com/office/drawing/2014/main" id="{9DA89CA4-E9F8-4738-92B7-535085C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MANIFOLD · NOW / LATER</a:t>
            </a:r>
          </a:p>
        </p:txBody>
      </p:sp>
      <p:sp>
        <p:nvSpPr>
          <p:cNvPr id="2" name="p10-title">
            <a:extLst xmlns:a="http://schemas.openxmlformats.org/drawingml/2006/main">
              <a:ext uri="{FF2B5EF4-FFF2-40B4-BE49-F238E27FC236}">
                <a16:creationId xmlns:a16="http://schemas.microsoft.com/office/drawing/2014/main" id="{CD51F36A-0433-4432-8A7B-7600DA8E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1582400" cy="632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Manifold 先完成三项底座建设，再用五类证据触发重审</a:t>
            </a:r>
          </a:p>
        </p:txBody>
      </p:sp>
      <p:sp>
        <p:nvSpPr>
          <p:cNvPr id="3" name="p10-subtitle">
            <a:extLst xmlns:a="http://schemas.openxmlformats.org/drawingml/2006/main">
              <a:ext uri="{FF2B5EF4-FFF2-40B4-BE49-F238E27FC236}">
                <a16:creationId xmlns:a16="http://schemas.microsoft.com/office/drawing/2014/main" id="{336E0769-BD5B-414D-AF2E-8EE48340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158240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上半页是现在要做的事；下半页只保留未来触发重审的证据。</a:t>
            </a:r>
          </a:p>
        </p:txBody>
      </p:sp>
      <p:sp>
        <p:nvSpPr>
          <p:cNvPr id="4" name="p10-actions-bg">
            <a:extLst xmlns:a="http://schemas.openxmlformats.org/drawingml/2006/main">
              <a:ext uri="{FF2B5EF4-FFF2-40B4-BE49-F238E27FC236}">
                <a16:creationId xmlns:a16="http://schemas.microsoft.com/office/drawing/2014/main" id="{76C2C591-DF21-48FE-BBA8-D9DD1922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5" name="p10-action-num-0">
            <a:extLst xmlns:a="http://schemas.openxmlformats.org/drawingml/2006/main">
              <a:ext uri="{FF2B5EF4-FFF2-40B4-BE49-F238E27FC236}">
                <a16:creationId xmlns:a16="http://schemas.microsoft.com/office/drawing/2014/main" id="{E096C6EB-D267-45F5-84D3-92712E6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1353800" cy="491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01</a:t>
            </a:r>
          </a:p>
        </p:txBody>
      </p:sp>
      <p:sp>
        <p:nvSpPr>
          <p:cNvPr id="6" name="p10-action-title-0">
            <a:extLst xmlns:a="http://schemas.openxmlformats.org/drawingml/2006/main">
              <a:ext uri="{FF2B5EF4-FFF2-40B4-BE49-F238E27FC236}">
                <a16:creationId xmlns:a16="http://schemas.microsoft.com/office/drawing/2014/main" id="{12E356B3-0076-4834-ACB6-B8BFCB0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1353800" cy="436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定义标准交付单元</a:t>
            </a:r>
          </a:p>
        </p:txBody>
      </p:sp>
      <p:sp>
        <p:nvSpPr>
          <p:cNvPr id="7" name="p10-action-body-0">
            <a:extLst xmlns:a="http://schemas.openxmlformats.org/drawingml/2006/main">
              <a:ext uri="{FF2B5EF4-FFF2-40B4-BE49-F238E27FC236}">
                <a16:creationId xmlns:a16="http://schemas.microsoft.com/office/drawing/2014/main" id="{0C239C69-AED8-47E0-BBB8-2A01A9D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1353800" cy="386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明确模型、接口、部署服务
和联合项目分别交付什么；
哪些层自有，哪些层集成或采购。</a:t>
            </a:r>
          </a:p>
        </p:txBody>
      </p:sp>
      <p:sp>
        <p:nvSpPr>
          <p:cNvPr id="8" name="p10-action-v-0">
            <a:extLst xmlns:a="http://schemas.openxmlformats.org/drawingml/2006/main">
              <a:ext uri="{FF2B5EF4-FFF2-40B4-BE49-F238E27FC236}">
                <a16:creationId xmlns:a16="http://schemas.microsoft.com/office/drawing/2014/main" id="{909A5A28-FA69-4F12-A7EB-C7858252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4310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9" name="p10-action-num-1">
            <a:extLst xmlns:a="http://schemas.openxmlformats.org/drawingml/2006/main">
              <a:ext uri="{FF2B5EF4-FFF2-40B4-BE49-F238E27FC236}">
                <a16:creationId xmlns:a16="http://schemas.microsoft.com/office/drawing/2014/main" id="{E149A171-3489-4D6A-960A-E2C7833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7772400" cy="491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02</a:t>
            </a:r>
          </a:p>
        </p:txBody>
      </p:sp>
      <p:sp>
        <p:nvSpPr>
          <p:cNvPr id="10" name="p10-action-title-1">
            <a:extLst xmlns:a="http://schemas.openxmlformats.org/drawingml/2006/main">
              <a:ext uri="{FF2B5EF4-FFF2-40B4-BE49-F238E27FC236}">
                <a16:creationId xmlns:a16="http://schemas.microsoft.com/office/drawing/2014/main" id="{67862541-3747-4CEE-A12D-F4FD8F65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5550"/>
            <a:ext cx="7772400" cy="436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建立共同验证资产</a:t>
            </a:r>
          </a:p>
        </p:txBody>
      </p:sp>
      <p:sp>
        <p:nvSpPr>
          <p:cNvPr id="11" name="p10-action-body-1">
            <a:extLst xmlns:a="http://schemas.openxmlformats.org/drawingml/2006/main">
              <a:ext uri="{FF2B5EF4-FFF2-40B4-BE49-F238E27FC236}">
                <a16:creationId xmlns:a16="http://schemas.microsoft.com/office/drawing/2014/main" id="{52751301-B652-4532-BE68-38DDBED0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7772400" cy="386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把动作忠实度、持久状态、
几何 / 碰撞、失败率、延迟和 TCO
固化成验证协议，并保留负面结果。</a:t>
            </a:r>
          </a:p>
        </p:txBody>
      </p:sp>
      <p:sp>
        <p:nvSpPr>
          <p:cNvPr id="12" name="p10-action-v-1">
            <a:extLst xmlns:a="http://schemas.openxmlformats.org/drawingml/2006/main">
              <a:ext uri="{FF2B5EF4-FFF2-40B4-BE49-F238E27FC236}">
                <a16:creationId xmlns:a16="http://schemas.microsoft.com/office/drawing/2014/main" id="{45BD525A-94EB-4681-AEEE-7D90D68E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4310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3" name="p10-action-num-2">
            <a:extLst xmlns:a="http://schemas.openxmlformats.org/drawingml/2006/main">
              <a:ext uri="{FF2B5EF4-FFF2-40B4-BE49-F238E27FC236}">
                <a16:creationId xmlns:a16="http://schemas.microsoft.com/office/drawing/2014/main" id="{F49767ED-C7E3-439A-9FA0-90D328BF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4191000" cy="491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03</a:t>
            </a:r>
          </a:p>
        </p:txBody>
      </p:sp>
      <p:sp>
        <p:nvSpPr>
          <p:cNvPr id="14" name="p10-action-title-2">
            <a:extLst xmlns:a="http://schemas.openxmlformats.org/drawingml/2006/main">
              <a:ext uri="{FF2B5EF4-FFF2-40B4-BE49-F238E27FC236}">
                <a16:creationId xmlns:a16="http://schemas.microsoft.com/office/drawing/2014/main" id="{EB76B539-B30A-4C5D-AFF7-17D80E6E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4191000" cy="436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锁定关键权利边界</a:t>
            </a:r>
          </a:p>
        </p:txBody>
      </p:sp>
      <p:sp>
        <p:nvSpPr>
          <p:cNvPr id="15" name="p10-action-body-2">
            <a:extLst xmlns:a="http://schemas.openxmlformats.org/drawingml/2006/main">
              <a:ext uri="{FF2B5EF4-FFF2-40B4-BE49-F238E27FC236}">
                <a16:creationId xmlns:a16="http://schemas.microsoft.com/office/drawing/2014/main" id="{E316F749-B73B-451C-9B44-B7BFF367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4191000" cy="386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合同先写清输入 / 输出数据权、
模型改进权、部署范围
和再分发规则。</a:t>
            </a:r>
          </a:p>
        </p:txBody>
      </p:sp>
      <p:sp>
        <p:nvSpPr>
          <p:cNvPr id="16" name="p10-trigger-kicker">
            <a:extLst xmlns:a="http://schemas.openxmlformats.org/drawingml/2006/main">
              <a:ext uri="{FF2B5EF4-FFF2-40B4-BE49-F238E27FC236}">
                <a16:creationId xmlns:a16="http://schemas.microsoft.com/office/drawing/2014/main" id="{EE8B4BAF-98CE-4204-8E96-425ECBDB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15824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未来出现什么证据时重审</a:t>
            </a:r>
          </a:p>
        </p:txBody>
      </p:sp>
      <p:sp>
        <p:nvSpPr>
          <p:cNvPr id="17" name="p10-trigger-heading-rule">
            <a:extLst xmlns:a="http://schemas.openxmlformats.org/drawingml/2006/main">
              <a:ext uri="{FF2B5EF4-FFF2-40B4-BE49-F238E27FC236}">
                <a16:creationId xmlns:a16="http://schemas.microsoft.com/office/drawing/2014/main" id="{7AC4CB55-0D18-4CB4-95AD-FB175F8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1007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8" name="p10-triggers-bg">
            <a:extLst xmlns:a="http://schemas.openxmlformats.org/drawingml/2006/main">
              <a:ext uri="{FF2B5EF4-FFF2-40B4-BE49-F238E27FC236}">
                <a16:creationId xmlns:a16="http://schemas.microsoft.com/office/drawing/2014/main" id="{AC437AE8-4923-4941-AE42-F4CBBA9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9" name="p10-trigger-mark-0">
            <a:extLst xmlns:a="http://schemas.openxmlformats.org/drawingml/2006/main">
              <a:ext uri="{FF2B5EF4-FFF2-40B4-BE49-F238E27FC236}">
                <a16:creationId xmlns:a16="http://schemas.microsoft.com/office/drawing/2014/main" id="{71A9912D-2A05-44C6-861E-C3E29A0B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0" name="p10-trigger-title-0">
            <a:extLst xmlns:a="http://schemas.openxmlformats.org/drawingml/2006/main">
              <a:ext uri="{FF2B5EF4-FFF2-40B4-BE49-F238E27FC236}">
                <a16:creationId xmlns:a16="http://schemas.microsoft.com/office/drawing/2014/main" id="{FF24C34A-92A7-49A6-8402-7164779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1430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稳定接口</a:t>
            </a:r>
          </a:p>
        </p:txBody>
      </p:sp>
      <p:sp>
        <p:nvSpPr>
          <p:cNvPr id="21" name="p10-trigger-event-0">
            <a:extLst xmlns:a="http://schemas.openxmlformats.org/drawingml/2006/main">
              <a:ext uri="{FF2B5EF4-FFF2-40B4-BE49-F238E27FC236}">
                <a16:creationId xmlns:a16="http://schemas.microsoft.com/office/drawing/2014/main" id="{4EA3B324-D538-4BE7-8D58-9FA5FBD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1430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持续调用；
价格与服务等级公开</a:t>
            </a:r>
          </a:p>
        </p:txBody>
      </p:sp>
      <p:sp>
        <p:nvSpPr>
          <p:cNvPr id="22" name="p10-trigger-use-0">
            <a:extLst xmlns:a="http://schemas.openxmlformats.org/drawingml/2006/main">
              <a:ext uri="{FF2B5EF4-FFF2-40B4-BE49-F238E27FC236}">
                <a16:creationId xmlns:a16="http://schemas.microsoft.com/office/drawing/2014/main" id="{6FAEBA92-105C-45D4-ADC7-F1148E0C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14300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重审产品 / 平台
替代关系</a:t>
            </a:r>
          </a:p>
        </p:txBody>
      </p:sp>
      <p:sp>
        <p:nvSpPr>
          <p:cNvPr id="23" name="p10-trigger-v-0">
            <a:extLst xmlns:a="http://schemas.openxmlformats.org/drawingml/2006/main">
              <a:ext uri="{FF2B5EF4-FFF2-40B4-BE49-F238E27FC236}">
                <a16:creationId xmlns:a16="http://schemas.microsoft.com/office/drawing/2014/main" id="{D9DB04B8-B951-4EC2-BEDE-88A8B749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4" name="p10-trigger-mark-1">
            <a:extLst xmlns:a="http://schemas.openxmlformats.org/drawingml/2006/main">
              <a:ext uri="{FF2B5EF4-FFF2-40B4-BE49-F238E27FC236}">
                <a16:creationId xmlns:a16="http://schemas.microsoft.com/office/drawing/2014/main" id="{142860A6-C449-4A99-A5D2-79AB9D3D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5" name="p10-trigger-title-1">
            <a:extLst xmlns:a="http://schemas.openxmlformats.org/drawingml/2006/main">
              <a:ext uri="{FF2B5EF4-FFF2-40B4-BE49-F238E27FC236}">
                <a16:creationId xmlns:a16="http://schemas.microsoft.com/office/drawing/2014/main" id="{7DB12F65-C894-4DF8-B76E-C741768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914900"/>
            <a:ext cx="920496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独立复现</a:t>
            </a:r>
          </a:p>
        </p:txBody>
      </p:sp>
      <p:sp>
        <p:nvSpPr>
          <p:cNvPr id="26" name="p10-trigger-event-1">
            <a:extLst xmlns:a="http://schemas.openxmlformats.org/drawingml/2006/main">
              <a:ext uri="{FF2B5EF4-FFF2-40B4-BE49-F238E27FC236}">
                <a16:creationId xmlns:a16="http://schemas.microsoft.com/office/drawing/2014/main" id="{45C1678C-D78D-4E8C-A626-C5D33E14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238750"/>
            <a:ext cx="920496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同一或可比协议下
复现关键结果</a:t>
            </a:r>
          </a:p>
        </p:txBody>
      </p:sp>
      <p:sp>
        <p:nvSpPr>
          <p:cNvPr id="27" name="p10-trigger-use-1">
            <a:extLst xmlns:a="http://schemas.openxmlformats.org/drawingml/2006/main">
              <a:ext uri="{FF2B5EF4-FFF2-40B4-BE49-F238E27FC236}">
                <a16:creationId xmlns:a16="http://schemas.microsoft.com/office/drawing/2014/main" id="{4B0E9668-A22C-4FF2-B3CA-03393E2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772150"/>
            <a:ext cx="920496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重审技术证据
成熟度</a:t>
            </a:r>
          </a:p>
        </p:txBody>
      </p:sp>
      <p:sp>
        <p:nvSpPr>
          <p:cNvPr id="28" name="p10-trigger-v-1">
            <a:extLst xmlns:a="http://schemas.openxmlformats.org/drawingml/2006/main">
              <a:ext uri="{FF2B5EF4-FFF2-40B4-BE49-F238E27FC236}">
                <a16:creationId xmlns:a16="http://schemas.microsoft.com/office/drawing/2014/main" id="{9B47853E-5996-4975-AEDB-B966D667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9" name="p10-trigger-mark-2">
            <a:extLst xmlns:a="http://schemas.openxmlformats.org/drawingml/2006/main">
              <a:ext uri="{FF2B5EF4-FFF2-40B4-BE49-F238E27FC236}">
                <a16:creationId xmlns:a16="http://schemas.microsoft.com/office/drawing/2014/main" id="{E8372CAA-B224-4D55-9874-0404DAE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0" name="p10-trigger-title-2">
            <a:extLst xmlns:a="http://schemas.openxmlformats.org/drawingml/2006/main">
              <a:ext uri="{FF2B5EF4-FFF2-40B4-BE49-F238E27FC236}">
                <a16:creationId xmlns:a16="http://schemas.microsoft.com/office/drawing/2014/main" id="{D13AAFB1-576A-4E25-BC6F-67D623D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914900"/>
            <a:ext cx="697992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正式商用闭合</a:t>
            </a:r>
          </a:p>
        </p:txBody>
      </p:sp>
      <p:sp>
        <p:nvSpPr>
          <p:cNvPr id="31" name="p10-trigger-event-2">
            <a:extLst xmlns:a="http://schemas.openxmlformats.org/drawingml/2006/main">
              <a:ext uri="{FF2B5EF4-FFF2-40B4-BE49-F238E27FC236}">
                <a16:creationId xmlns:a16="http://schemas.microsoft.com/office/drawing/2014/main" id="{D9E97EBC-1523-471C-AB90-72D2C5FA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238750"/>
            <a:ext cx="697992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许可、服务等级和
责任边界闭合</a:t>
            </a:r>
          </a:p>
        </p:txBody>
      </p:sp>
      <p:sp>
        <p:nvSpPr>
          <p:cNvPr id="32" name="p10-trigger-use-2">
            <a:extLst xmlns:a="http://schemas.openxmlformats.org/drawingml/2006/main">
              <a:ext uri="{FF2B5EF4-FFF2-40B4-BE49-F238E27FC236}">
                <a16:creationId xmlns:a16="http://schemas.microsoft.com/office/drawing/2014/main" id="{6DCA8392-9351-44D4-AA68-0C7D9B4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772150"/>
            <a:ext cx="697992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重审采购与
部署可行性</a:t>
            </a:r>
          </a:p>
        </p:txBody>
      </p:sp>
      <p:sp>
        <p:nvSpPr>
          <p:cNvPr id="33" name="p10-trigger-v-2">
            <a:extLst xmlns:a="http://schemas.openxmlformats.org/drawingml/2006/main">
              <a:ext uri="{FF2B5EF4-FFF2-40B4-BE49-F238E27FC236}">
                <a16:creationId xmlns:a16="http://schemas.microsoft.com/office/drawing/2014/main" id="{DC81BFBE-C675-4B4A-B99A-82D18BD8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4" name="p10-trigger-mark-3">
            <a:extLst xmlns:a="http://schemas.openxmlformats.org/drawingml/2006/main">
              <a:ext uri="{FF2B5EF4-FFF2-40B4-BE49-F238E27FC236}">
                <a16:creationId xmlns:a16="http://schemas.microsoft.com/office/drawing/2014/main" id="{785E0828-F8D9-4430-8EA1-4FB4BB77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5" name="p10-trigger-title-3">
            <a:extLst xmlns:a="http://schemas.openxmlformats.org/drawingml/2006/main">
              <a:ext uri="{FF2B5EF4-FFF2-40B4-BE49-F238E27FC236}">
                <a16:creationId xmlns:a16="http://schemas.microsoft.com/office/drawing/2014/main" id="{89633EEF-7D90-4F5B-8BE5-AC17D40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914900"/>
            <a:ext cx="475488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客户第一方采用</a:t>
            </a:r>
          </a:p>
        </p:txBody>
      </p:sp>
      <p:sp>
        <p:nvSpPr>
          <p:cNvPr id="36" name="p10-trigger-event-3">
            <a:extLst xmlns:a="http://schemas.openxmlformats.org/drawingml/2006/main">
              <a:ext uri="{FF2B5EF4-FFF2-40B4-BE49-F238E27FC236}">
                <a16:creationId xmlns:a16="http://schemas.microsoft.com/office/drawing/2014/main" id="{720C5C4D-9FD1-44DB-AA32-6D3F4451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5238750"/>
            <a:ext cx="475488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具名客户确认
付费生产部署或续约</a:t>
            </a:r>
          </a:p>
        </p:txBody>
      </p:sp>
      <p:sp>
        <p:nvSpPr>
          <p:cNvPr id="37" name="p10-trigger-use-3">
            <a:extLst xmlns:a="http://schemas.openxmlformats.org/drawingml/2006/main">
              <a:ext uri="{FF2B5EF4-FFF2-40B4-BE49-F238E27FC236}">
                <a16:creationId xmlns:a16="http://schemas.microsoft.com/office/drawing/2014/main" id="{24C5225B-45A3-4E44-BA92-FABF6BA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5772150"/>
            <a:ext cx="475488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重审商业采用
与竞争关系</a:t>
            </a:r>
          </a:p>
        </p:txBody>
      </p:sp>
      <p:sp>
        <p:nvSpPr>
          <p:cNvPr id="38" name="p10-trigger-v-3">
            <a:extLst xmlns:a="http://schemas.openxmlformats.org/drawingml/2006/main">
              <a:ext uri="{FF2B5EF4-FFF2-40B4-BE49-F238E27FC236}">
                <a16:creationId xmlns:a16="http://schemas.microsoft.com/office/drawing/2014/main" id="{C968279B-A154-4171-8AEB-ACEEA0E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9" name="p10-trigger-mark-4">
            <a:extLst xmlns:a="http://schemas.openxmlformats.org/drawingml/2006/main">
              <a:ext uri="{FF2B5EF4-FFF2-40B4-BE49-F238E27FC236}">
                <a16:creationId xmlns:a16="http://schemas.microsoft.com/office/drawing/2014/main" id="{88CB9ADF-E5EC-412A-8A5C-74570427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0" name="p10-trigger-title-4">
            <a:extLst xmlns:a="http://schemas.openxmlformats.org/drawingml/2006/main">
              <a:ext uri="{FF2B5EF4-FFF2-40B4-BE49-F238E27FC236}">
                <a16:creationId xmlns:a16="http://schemas.microsoft.com/office/drawing/2014/main" id="{5B628127-FC8D-4738-B480-82AA312E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914900"/>
            <a:ext cx="252984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稳定动作产品</a:t>
            </a:r>
          </a:p>
        </p:txBody>
      </p:sp>
      <p:sp>
        <p:nvSpPr>
          <p:cNvPr id="41" name="p10-trigger-event-4">
            <a:extLst xmlns:a="http://schemas.openxmlformats.org/drawingml/2006/main">
              <a:ext uri="{FF2B5EF4-FFF2-40B4-BE49-F238E27FC236}">
                <a16:creationId xmlns:a16="http://schemas.microsoft.com/office/drawing/2014/main" id="{D8229570-34A6-45CF-AD42-1866BC67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5238750"/>
            <a:ext cx="252984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动作运行时 / NIM
正式发布并获验证</a:t>
            </a:r>
          </a:p>
        </p:txBody>
      </p:sp>
      <p:sp>
        <p:nvSpPr>
          <p:cNvPr id="42" name="p10-trigger-use-4">
            <a:extLst xmlns:a="http://schemas.openxmlformats.org/drawingml/2006/main">
              <a:ext uri="{FF2B5EF4-FFF2-40B4-BE49-F238E27FC236}">
                <a16:creationId xmlns:a16="http://schemas.microsoft.com/office/drawing/2014/main" id="{D6E9A8B2-F6FA-45A6-B81E-1920E37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5772150"/>
            <a:ext cx="252984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重审自托管
绕行风险</a:t>
            </a:r>
          </a:p>
        </p:txBody>
      </p:sp>
      <p:sp>
        <p:nvSpPr>
          <p:cNvPr id="43" name="p10-footer-rule">
            <a:extLst xmlns:a="http://schemas.openxmlformats.org/drawingml/2006/main">
              <a:ext uri="{FF2B5EF4-FFF2-40B4-BE49-F238E27FC236}">
                <a16:creationId xmlns:a16="http://schemas.microsoft.com/office/drawing/2014/main" id="{CF164A8B-EAF9-4EC0-80AC-0302DC8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4" name="p10-footer-source">
            <a:extLst xmlns:a="http://schemas.openxmlformats.org/drawingml/2006/main">
              <a:ext uri="{FF2B5EF4-FFF2-40B4-BE49-F238E27FC236}">
                <a16:creationId xmlns:a16="http://schemas.microsoft.com/office/drawing/2014/main" id="{155F3A85-DEE2-48F9-BDE9-9F66AAD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跨页综合：官方条款、开发者和技术资料；公司/伙伴自报及独立体验</a:t>
            </a:r>
          </a:p>
        </p:txBody>
      </p:sp>
      <p:sp>
        <p:nvSpPr>
          <p:cNvPr id="45" name="p10-footer-page">
            <a:extLst xmlns:a="http://schemas.openxmlformats.org/drawingml/2006/main">
              <a:ext uri="{FF2B5EF4-FFF2-40B4-BE49-F238E27FC236}">
                <a16:creationId xmlns:a16="http://schemas.microsoft.com/office/drawing/2014/main" id="{B25BAD57-D112-4893-864A-303476B5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10</a:t>
            </a:r>
          </a:p>
        </p:txBody>
      </p:sp>
    </p:spTree>
    <p:extLst>
      <p:ext uri="{BB962C8B-B14F-4D97-AF65-F5344CB8AC3E}">
        <p14:creationId xmlns:p14="http://schemas.microsoft.com/office/powerpoint/2010/main" val="1169592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2026-07-15T13:08:09.7860000Z</dcterms:created>
  <dcterms:modified xsi:type="dcterms:W3CDTF">2026-07-15T13:08:09.7860000Z</dcterms:modified>
</coreProperties>
</file>