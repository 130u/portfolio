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85173bc03c443e" /><Relationship Type="http://schemas.openxmlformats.org/officeDocument/2006/relationships/extended-properties" Target="/docProps/app.xml" Id="R3d625c7266944891" /><Relationship Type="http://schemas.openxmlformats.org/officeDocument/2006/relationships/officeDocument" Target="/ppt/presentation.xml" Id="R4551a8c0c0624d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2b6e3477114ba1"/>
  </p:sldMasterIdLst>
  <p:notesMasterIdLst>
    <p:notesMasterId xmlns:r="http://schemas.openxmlformats.org/officeDocument/2006/relationships" r:id="R0786b51468a14a88"/>
  </p:notesMasterIdLst>
  <p:sldIdLst>
    <p:sldId xmlns:r="http://schemas.openxmlformats.org/officeDocument/2006/relationships" id="256" r:id="R6fe209180da24641"/>
    <p:sldId xmlns:r="http://schemas.openxmlformats.org/officeDocument/2006/relationships" id="257" r:id="R16538435cf914c6d"/>
    <p:sldId xmlns:r="http://schemas.openxmlformats.org/officeDocument/2006/relationships" id="258" r:id="Rf27bb628a5144f06"/>
    <p:sldId xmlns:r="http://schemas.openxmlformats.org/officeDocument/2006/relationships" id="259" r:id="R9cce978985ad4f6e"/>
    <p:sldId xmlns:r="http://schemas.openxmlformats.org/officeDocument/2006/relationships" id="260" r:id="R39b4243db3874edd"/>
    <p:sldId xmlns:r="http://schemas.openxmlformats.org/officeDocument/2006/relationships" id="261" r:id="R0da8c4588ae041bd"/>
    <p:sldId xmlns:r="http://schemas.openxmlformats.org/officeDocument/2006/relationships" id="262" r:id="Rf3dae86bb1fc4152"/>
    <p:sldId xmlns:r="http://schemas.openxmlformats.org/officeDocument/2006/relationships" id="263" r:id="Ra6e358e73d0c4d6b"/>
    <p:sldId xmlns:r="http://schemas.openxmlformats.org/officeDocument/2006/relationships" id="264" r:id="R342b1496f8ee4a0b"/>
    <p:sldId xmlns:r="http://schemas.openxmlformats.org/officeDocument/2006/relationships" id="265" r:id="R9135db67ff994e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abd8168c8a4f85" /><Relationship Type="http://schemas.openxmlformats.org/officeDocument/2006/relationships/slideMaster" Target="/ppt/slideMasters/slideMaster1.xml" Id="Rea2b6e3477114ba1" /><Relationship Type="http://schemas.openxmlformats.org/officeDocument/2006/relationships/notesMaster" Target="/ppt/notesMasters/notesMaster1.xml" Id="R0786b51468a14a88" /><Relationship Type="http://schemas.openxmlformats.org/officeDocument/2006/relationships/presProps" Target="/ppt/presProps.xml" Id="R0ee6774b1d0849ab" /><Relationship Type="http://schemas.openxmlformats.org/officeDocument/2006/relationships/tableStyles" Target="/ppt/tableStyles.xml" Id="R830e8d3ce12b4274" /><Relationship Type="http://schemas.openxmlformats.org/officeDocument/2006/relationships/slide" Target="/ppt/slides/slide1.xml" Id="R6fe209180da24641" /><Relationship Type="http://schemas.openxmlformats.org/officeDocument/2006/relationships/slide" Target="/ppt/slides/slide2.xml" Id="R16538435cf914c6d" /><Relationship Type="http://schemas.openxmlformats.org/officeDocument/2006/relationships/slide" Target="/ppt/slides/slide3.xml" Id="Rf27bb628a5144f06" /><Relationship Type="http://schemas.openxmlformats.org/officeDocument/2006/relationships/slide" Target="/ppt/slides/slide4.xml" Id="R9cce978985ad4f6e" /><Relationship Type="http://schemas.openxmlformats.org/officeDocument/2006/relationships/slide" Target="/ppt/slides/slide5.xml" Id="R39b4243db3874edd" /><Relationship Type="http://schemas.openxmlformats.org/officeDocument/2006/relationships/slide" Target="/ppt/slides/slide6.xml" Id="R0da8c4588ae041bd" /><Relationship Type="http://schemas.openxmlformats.org/officeDocument/2006/relationships/slide" Target="/ppt/slides/slide7.xml" Id="Rf3dae86bb1fc4152" /><Relationship Type="http://schemas.openxmlformats.org/officeDocument/2006/relationships/slide" Target="/ppt/slides/slide8.xml" Id="Ra6e358e73d0c4d6b" /><Relationship Type="http://schemas.openxmlformats.org/officeDocument/2006/relationships/slide" Target="/ppt/slides/slide9.xml" Id="R342b1496f8ee4a0b" /><Relationship Type="http://schemas.openxmlformats.org/officeDocument/2006/relationships/slide" Target="/ppt/slides/slide10.xml" Id="R9135db67ff994e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5b0a43267a44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77ba6e0fec4fa5" /><Relationship Type="http://schemas.openxmlformats.org/officeDocument/2006/relationships/notesMaster" Target="/ppt/notesMasters/notesMaster1.xml" Id="R1843c794c88447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fef06a156940cf" /><Relationship Type="http://schemas.openxmlformats.org/officeDocument/2006/relationships/notesMaster" Target="/ppt/notesMasters/notesMaster1.xml" Id="R720a8671aa6643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9cbfd313984320" /><Relationship Type="http://schemas.openxmlformats.org/officeDocument/2006/relationships/notesMaster" Target="/ppt/notesMasters/notesMaster1.xml" Id="R22ba344d7d9c42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9ca7cd517c4397" /><Relationship Type="http://schemas.openxmlformats.org/officeDocument/2006/relationships/notesMaster" Target="/ppt/notesMasters/notesMaster1.xml" Id="R057f3b28284449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2ec4589ae44224" /><Relationship Type="http://schemas.openxmlformats.org/officeDocument/2006/relationships/notesMaster" Target="/ppt/notesMasters/notesMaster1.xml" Id="Rda003cf7f02645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70a3b050e441a2" /><Relationship Type="http://schemas.openxmlformats.org/officeDocument/2006/relationships/notesMaster" Target="/ppt/notesMasters/notesMaster1.xml" Id="R78734838465849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776d4ca6c44a91" /><Relationship Type="http://schemas.openxmlformats.org/officeDocument/2006/relationships/notesMaster" Target="/ppt/notesMasters/notesMaster1.xml" Id="R0b43fb7f88db4a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7c80f3fda34618" /><Relationship Type="http://schemas.openxmlformats.org/officeDocument/2006/relationships/notesMaster" Target="/ppt/notesMasters/notesMaster1.xml" Id="R03e276c2d1d64f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d1c07b14e94cc2" /><Relationship Type="http://schemas.openxmlformats.org/officeDocument/2006/relationships/notesMaster" Target="/ppt/notesMasters/notesMaster1.xml" Id="R5b2ee21c97564c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74063f8c8d4ee2" /><Relationship Type="http://schemas.openxmlformats.org/officeDocument/2006/relationships/notesMaster" Target="/ppt/notesMasters/notesMaster1.xml" Id="Raa7b12a76b8e45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25e82264534d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07d8ebb91e4b12" /><Relationship Type="http://schemas.openxmlformats.org/officeDocument/2006/relationships/slideLayout" Target="/ppt/slideLayouts/slideLayout1.xml" Id="Rea12e45783ee44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12e45783ee44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bdab59f24477b" /><Relationship Type="http://schemas.openxmlformats.org/officeDocument/2006/relationships/notesSlide" Target="/ppt/notesSlides/notesSlide1.xml" Id="R28ebfa87bba045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04ba6631b4bc3" /><Relationship Type="http://schemas.openxmlformats.org/officeDocument/2006/relationships/notesSlide" Target="/ppt/notesSlides/notesSlide2.xml" Id="Re9b066bd43f54f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29ab752f04e05" /><Relationship Type="http://schemas.openxmlformats.org/officeDocument/2006/relationships/notesSlide" Target="/ppt/notesSlides/notesSlide3.xml" Id="R8c6659244d3746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ee64697a54fd5" /><Relationship Type="http://schemas.openxmlformats.org/officeDocument/2006/relationships/notesSlide" Target="/ppt/notesSlides/notesSlide4.xml" Id="R539c70e9cd174f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c3cf1cc2d4ca4" /><Relationship Type="http://schemas.openxmlformats.org/officeDocument/2006/relationships/notesSlide" Target="/ppt/notesSlides/notesSlide5.xml" Id="R9b34fa924d1147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e1937958f40f3" /><Relationship Type="http://schemas.openxmlformats.org/officeDocument/2006/relationships/notesSlide" Target="/ppt/notesSlides/notesSlide6.xml" Id="R2458c5f163fb4b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6d509ed5d4845" /><Relationship Type="http://schemas.openxmlformats.org/officeDocument/2006/relationships/notesSlide" Target="/ppt/notesSlides/notesSlide7.xml" Id="R880dc70cd9c14f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024b1c2ce48fd" /><Relationship Type="http://schemas.openxmlformats.org/officeDocument/2006/relationships/notesSlide" Target="/ppt/notesSlides/notesSlide8.xml" Id="R6aecfc1e650a46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96ae1ca844a57" /><Relationship Type="http://schemas.openxmlformats.org/officeDocument/2006/relationships/notesSlide" Target="/ppt/notesSlides/notesSlide9.xml" Id="R752ea08a20bb4d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4358c70c449dc" /><Relationship Type="http://schemas.openxmlformats.org/officeDocument/2006/relationships/notesSlide" Target="/ppt/notesSlides/notesSlide10.xml" Id="R84b4234d8bf741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1-report">
            <a:extLst xmlns:a="http://schemas.openxmlformats.org/drawingml/2006/main">
              <a:ext uri="{FF2B5EF4-FFF2-40B4-BE49-F238E27FC236}">
                <a16:creationId xmlns:a16="http://schemas.microsoft.com/office/drawing/2014/main" id="{4404210D-15EF-4D09-912D-2C182873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1582400" cy="657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MANIFOLD · 非中国世界模型竞争格局</a:t>
            </a:r>
          </a:p>
        </p:txBody>
      </p:sp>
      <p:sp>
        <p:nvSpPr>
          <p:cNvPr id="2" name="p1-date">
            <a:extLst xmlns:a="http://schemas.openxmlformats.org/drawingml/2006/main">
              <a:ext uri="{FF2B5EF4-FFF2-40B4-BE49-F238E27FC236}">
                <a16:creationId xmlns:a16="http://schemas.microsoft.com/office/drawing/2014/main" id="{FE9C5E38-3A4F-40EE-A4A1-D3C553C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"/>
            <a:ext cx="3429000" cy="657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五类重点路径 · 12–24 个月</a:t>
            </a:r>
          </a:p>
        </p:txBody>
      </p:sp>
      <p:sp>
        <p:nvSpPr>
          <p:cNvPr id="3" name="p1-top-rule">
            <a:extLst xmlns:a="http://schemas.openxmlformats.org/drawingml/2006/main">
              <a:ext uri="{FF2B5EF4-FFF2-40B4-BE49-F238E27FC236}">
                <a16:creationId xmlns:a16="http://schemas.microsoft.com/office/drawing/2014/main" id="{26E81E25-9930-4032-A796-EE30F326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" name="p1-answer-tag">
            <a:extLst xmlns:a="http://schemas.openxmlformats.org/drawingml/2006/main">
              <a:ext uri="{FF2B5EF4-FFF2-40B4-BE49-F238E27FC236}">
                <a16:creationId xmlns:a16="http://schemas.microsoft.com/office/drawing/2014/main" id="{5342017E-6CAC-456A-B11F-A9D89E3C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1582400" cy="592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EXECUTIVE ANSWER</a:t>
            </a:r>
          </a:p>
        </p:txBody>
      </p:sp>
      <p:sp>
        <p:nvSpPr>
          <p:cNvPr id="5" name="p1-title">
            <a:extLst xmlns:a="http://schemas.openxmlformats.org/drawingml/2006/main">
              <a:ext uri="{FF2B5EF4-FFF2-40B4-BE49-F238E27FC236}">
                <a16:creationId xmlns:a16="http://schemas.microsoft.com/office/drawing/2014/main" id="{626E9AFF-7074-473B-98D7-34DB594D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582400" cy="560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海外世界模型已经从模型演示
走向三种交付方式</a:t>
            </a:r>
          </a:p>
        </p:txBody>
      </p:sp>
      <p:sp>
        <p:nvSpPr>
          <p:cNvPr id="6" name="p1-answer">
            <a:extLst xmlns:a="http://schemas.openxmlformats.org/drawingml/2006/main">
              <a:ext uri="{FF2B5EF4-FFF2-40B4-BE49-F238E27FC236}">
                <a16:creationId xmlns:a16="http://schemas.microsoft.com/office/drawing/2014/main" id="{62B2C80A-EE6C-4635-9996-054A9404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1582400" cy="38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公开计价接口、申请制入口和可下载 / 自托管组件已经出现；
但还没有公开证据证明任何一家进入客户确认的付费生产阶段。</a:t>
            </a:r>
          </a:p>
        </p:txBody>
      </p:sp>
      <p:sp>
        <p:nvSpPr>
          <p:cNvPr id="7" name="p1-band-0">
            <a:extLst xmlns:a="http://schemas.openxmlformats.org/drawingml/2006/main">
              <a:ext uri="{FF2B5EF4-FFF2-40B4-BE49-F238E27FC236}">
                <a16:creationId xmlns:a16="http://schemas.microsoft.com/office/drawing/2014/main" id="{1743DD73-182D-4FDB-A293-C8BDEC95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314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8" name="p1-band-mark-0">
            <a:extLst xmlns:a="http://schemas.openxmlformats.org/drawingml/2006/main">
              <a:ext uri="{FF2B5EF4-FFF2-40B4-BE49-F238E27FC236}">
                <a16:creationId xmlns:a16="http://schemas.microsoft.com/office/drawing/2014/main" id="{56CD2128-72F7-4DCC-98BE-208E5CD1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9" name="p1-band-head-0">
            <a:extLst xmlns:a="http://schemas.openxmlformats.org/drawingml/2006/main">
              <a:ext uri="{FF2B5EF4-FFF2-40B4-BE49-F238E27FC236}">
                <a16:creationId xmlns:a16="http://schemas.microsoft.com/office/drawing/2014/main" id="{4582EA7F-5CC4-4F59-8298-A3123827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13347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三种路径已经可见</a:t>
            </a:r>
          </a:p>
        </p:txBody>
      </p:sp>
      <p:sp>
        <p:nvSpPr>
          <p:cNvPr id="10" name="p1-band-body-0">
            <a:extLst xmlns:a="http://schemas.openxmlformats.org/drawingml/2006/main">
              <a:ext uri="{FF2B5EF4-FFF2-40B4-BE49-F238E27FC236}">
                <a16:creationId xmlns:a16="http://schemas.microsoft.com/office/drawing/2014/main" id="{368087F2-1BDA-425A-A377-B143F63B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133475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按秒调用、申请访问、自托管——
交付物已不再只是模型演示。</a:t>
            </a:r>
          </a:p>
        </p:txBody>
      </p:sp>
      <p:sp>
        <p:nvSpPr>
          <p:cNvPr id="11" name="p1-band-1">
            <a:extLst xmlns:a="http://schemas.openxmlformats.org/drawingml/2006/main">
              <a:ext uri="{FF2B5EF4-FFF2-40B4-BE49-F238E27FC236}">
                <a16:creationId xmlns:a16="http://schemas.microsoft.com/office/drawing/2014/main" id="{E38EE7B3-2729-41A0-95B3-21B07E54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38650"/>
            <a:ext cx="3314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2" name="p1-band-mark-1">
            <a:extLst xmlns:a="http://schemas.openxmlformats.org/drawingml/2006/main">
              <a:ext uri="{FF2B5EF4-FFF2-40B4-BE49-F238E27FC236}">
                <a16:creationId xmlns:a16="http://schemas.microsoft.com/office/drawing/2014/main" id="{45742346-E06C-4BBB-988C-501BC901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386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13" name="p1-band-head-1">
            <a:extLst xmlns:a="http://schemas.openxmlformats.org/drawingml/2006/main">
              <a:ext uri="{FF2B5EF4-FFF2-40B4-BE49-F238E27FC236}">
                <a16:creationId xmlns:a16="http://schemas.microsoft.com/office/drawing/2014/main" id="{49DF3F20-9883-4335-BA89-F83BB588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77724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真正要比较的是交付链</a:t>
            </a:r>
          </a:p>
        </p:txBody>
      </p:sp>
      <p:sp>
        <p:nvSpPr>
          <p:cNvPr id="14" name="p1-band-body-1">
            <a:extLst xmlns:a="http://schemas.openxmlformats.org/drawingml/2006/main">
              <a:ext uri="{FF2B5EF4-FFF2-40B4-BE49-F238E27FC236}">
                <a16:creationId xmlns:a16="http://schemas.microsoft.com/office/drawing/2014/main" id="{07C1C7B5-685A-47BC-827A-67AEDE0F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24450"/>
            <a:ext cx="777240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接口、运行时、部署方式和权利边界，
决定能力能否真正落地。</a:t>
            </a:r>
          </a:p>
        </p:txBody>
      </p:sp>
      <p:sp>
        <p:nvSpPr>
          <p:cNvPr id="15" name="p1-band-2">
            <a:extLst xmlns:a="http://schemas.openxmlformats.org/drawingml/2006/main">
              <a:ext uri="{FF2B5EF4-FFF2-40B4-BE49-F238E27FC236}">
                <a16:creationId xmlns:a16="http://schemas.microsoft.com/office/drawing/2014/main" id="{CCB1D980-5CAD-4DB6-92E7-C1EE62A9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3314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D"/>
          </a:solidFill>
        </p:spPr>
      </p:sp>
      <p:sp>
        <p:nvSpPr>
          <p:cNvPr id="16" name="p1-band-mark-2">
            <a:extLst xmlns:a="http://schemas.openxmlformats.org/drawingml/2006/main">
              <a:ext uri="{FF2B5EF4-FFF2-40B4-BE49-F238E27FC236}">
                <a16:creationId xmlns:a16="http://schemas.microsoft.com/office/drawing/2014/main" id="{48DE95A7-35EB-41D1-ADBB-B490F506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17" name="p1-band-head-2">
            <a:extLst xmlns:a="http://schemas.openxmlformats.org/drawingml/2006/main">
              <a:ext uri="{FF2B5EF4-FFF2-40B4-BE49-F238E27FC236}">
                <a16:creationId xmlns:a16="http://schemas.microsoft.com/office/drawing/2014/main" id="{E338EF61-F9CC-47E3-B3B2-65A4A671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67250"/>
            <a:ext cx="42100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公开证据仍停在早期</a:t>
            </a:r>
          </a:p>
        </p:txBody>
      </p:sp>
      <p:sp>
        <p:nvSpPr>
          <p:cNvPr id="18" name="p1-band-body-2">
            <a:extLst xmlns:a="http://schemas.openxmlformats.org/drawingml/2006/main">
              <a:ext uri="{FF2B5EF4-FFF2-40B4-BE49-F238E27FC236}">
                <a16:creationId xmlns:a16="http://schemas.microsoft.com/office/drawing/2014/main" id="{80E9DF8F-F864-4FF8-9756-4D58DAAF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24450"/>
            <a:ext cx="421005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现有案例多为供应商或伙伴自报；
客户第一方生产采用仍未出现。</a:t>
            </a:r>
          </a:p>
        </p:txBody>
      </p:sp>
      <p:sp>
        <p:nvSpPr>
          <p:cNvPr id="19" name="p1-footer-rule">
            <a:extLst xmlns:a="http://schemas.openxmlformats.org/drawingml/2006/main">
              <a:ext uri="{FF2B5EF4-FFF2-40B4-BE49-F238E27FC236}">
                <a16:creationId xmlns:a16="http://schemas.microsoft.com/office/drawing/2014/main" id="{AB7234A5-837D-4F77-88BC-6430A159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0" name="p1-footer-source">
            <a:extLst xmlns:a="http://schemas.openxmlformats.org/drawingml/2006/main">
              <a:ext uri="{FF2B5EF4-FFF2-40B4-BE49-F238E27FC236}">
                <a16:creationId xmlns:a16="http://schemas.microsoft.com/office/drawing/2014/main" id="{A12790ED-36E2-41BC-9EB9-E09AEBB0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公开来源：官方产品、API、价格、条款、公司/伙伴自报及独立体验</a:t>
            </a:r>
          </a:p>
        </p:txBody>
      </p:sp>
      <p:sp>
        <p:nvSpPr>
          <p:cNvPr id="21" name="p1-footer-page">
            <a:extLst xmlns:a="http://schemas.openxmlformats.org/drawingml/2006/main">
              <a:ext uri="{FF2B5EF4-FFF2-40B4-BE49-F238E27FC236}">
                <a16:creationId xmlns:a16="http://schemas.microsoft.com/office/drawing/2014/main" id="{82662673-BB03-4E9E-9DD7-B090DBE2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01</a:t>
            </a:r>
          </a:p>
        </p:txBody>
      </p:sp>
    </p:spTree>
    <p:extLst>
      <p:ext uri="{BB962C8B-B14F-4D97-AF65-F5344CB8AC3E}">
        <p14:creationId xmlns:p14="http://schemas.microsoft.com/office/powerpoint/2010/main" val="19944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2-eyebrow">
            <a:extLst xmlns:a="http://schemas.openxmlformats.org/drawingml/2006/main">
              <a:ext uri="{FF2B5EF4-FFF2-40B4-BE49-F238E27FC236}">
                <a16:creationId xmlns:a16="http://schemas.microsoft.com/office/drawing/2014/main" id="{B68EEEBA-55AA-4F22-82CC-4A706EEC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1582400" cy="661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STRATEGIC LANDSCAPE</a:t>
            </a:r>
          </a:p>
        </p:txBody>
      </p:sp>
      <p:sp>
        <p:nvSpPr>
          <p:cNvPr id="2" name="p2-title">
            <a:extLst xmlns:a="http://schemas.openxmlformats.org/drawingml/2006/main">
              <a:ext uri="{FF2B5EF4-FFF2-40B4-BE49-F238E27FC236}">
                <a16:creationId xmlns:a16="http://schemas.microsoft.com/office/drawing/2014/main" id="{994B9444-4F2C-4174-A600-BB4A933A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582400" cy="638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海外玩家分成三种形态，差异在任务和获得方式</a:t>
            </a:r>
          </a:p>
        </p:txBody>
      </p:sp>
      <p:sp>
        <p:nvSpPr>
          <p:cNvPr id="3" name="p2-subtitle">
            <a:extLst xmlns:a="http://schemas.openxmlformats.org/drawingml/2006/main">
              <a:ext uri="{FF2B5EF4-FFF2-40B4-BE49-F238E27FC236}">
                <a16:creationId xmlns:a16="http://schemas.microsoft.com/office/drawing/2014/main" id="{B515889A-3A8D-4CA8-90FB-6C88466D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1582400" cy="582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对象名称是第一层，公开访问方式是第二层；位置不代表能力高低。</a:t>
            </a:r>
          </a:p>
        </p:txBody>
      </p:sp>
      <p:sp>
        <p:nvSpPr>
          <p:cNvPr id="4" name="p2-col-bg-0">
            <a:extLst xmlns:a="http://schemas.openxmlformats.org/drawingml/2006/main">
              <a:ext uri="{FF2B5EF4-FFF2-40B4-BE49-F238E27FC236}">
                <a16:creationId xmlns:a16="http://schemas.microsoft.com/office/drawing/2014/main" id="{DF0F3417-7CA1-4D87-8DDC-7499414A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280035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5" name="p2-col-accent-0">
            <a:extLst xmlns:a="http://schemas.openxmlformats.org/drawingml/2006/main">
              <a:ext uri="{FF2B5EF4-FFF2-40B4-BE49-F238E27FC236}">
                <a16:creationId xmlns:a16="http://schemas.microsoft.com/office/drawing/2014/main" id="{04829C25-F371-4F7F-BEAA-B7119479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2800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6" name="p2-col-head-0">
            <a:extLst xmlns:a="http://schemas.openxmlformats.org/drawingml/2006/main">
              <a:ext uri="{FF2B5EF4-FFF2-40B4-BE49-F238E27FC236}">
                <a16:creationId xmlns:a16="http://schemas.microsoft.com/office/drawing/2014/main" id="{B3CA6878-D819-4C61-BB7C-1324D381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9867900" cy="516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持久空间世界</a:t>
            </a:r>
          </a:p>
        </p:txBody>
      </p:sp>
      <p:sp>
        <p:nvSpPr>
          <p:cNvPr id="7" name="p2-col-bg-1">
            <a:extLst xmlns:a="http://schemas.openxmlformats.org/drawingml/2006/main">
              <a:ext uri="{FF2B5EF4-FFF2-40B4-BE49-F238E27FC236}">
                <a16:creationId xmlns:a16="http://schemas.microsoft.com/office/drawing/2014/main" id="{35181B13-558D-48D5-A687-709D7C30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24000"/>
            <a:ext cx="310515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8" name="p2-col-accent-1">
            <a:extLst xmlns:a="http://schemas.openxmlformats.org/drawingml/2006/main">
              <a:ext uri="{FF2B5EF4-FFF2-40B4-BE49-F238E27FC236}">
                <a16:creationId xmlns:a16="http://schemas.microsoft.com/office/drawing/2014/main" id="{8BE8CAD5-0614-42A0-89A8-8A7D11DA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24000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9" name="p2-col-head-1">
            <a:extLst xmlns:a="http://schemas.openxmlformats.org/drawingml/2006/main">
              <a:ext uri="{FF2B5EF4-FFF2-40B4-BE49-F238E27FC236}">
                <a16:creationId xmlns:a16="http://schemas.microsoft.com/office/drawing/2014/main" id="{5A6B24A0-F309-47B0-96AB-B7AB5C94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95450"/>
            <a:ext cx="6915150" cy="516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实时交互世界流</a:t>
            </a:r>
          </a:p>
        </p:txBody>
      </p:sp>
      <p:sp>
        <p:nvSpPr>
          <p:cNvPr id="10" name="p2-col-bg-2">
            <a:extLst xmlns:a="http://schemas.openxmlformats.org/drawingml/2006/main">
              <a:ext uri="{FF2B5EF4-FFF2-40B4-BE49-F238E27FC236}">
                <a16:creationId xmlns:a16="http://schemas.microsoft.com/office/drawing/2014/main" id="{C47D3FD2-CFE2-4ED0-BDC4-AB79EF40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24000"/>
            <a:ext cx="29337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D"/>
          </a:solidFill>
        </p:spPr>
      </p:sp>
      <p:sp>
        <p:nvSpPr>
          <p:cNvPr id="11" name="p2-col-accent-2">
            <a:extLst xmlns:a="http://schemas.openxmlformats.org/drawingml/2006/main">
              <a:ext uri="{FF2B5EF4-FFF2-40B4-BE49-F238E27FC236}">
                <a16:creationId xmlns:a16="http://schemas.microsoft.com/office/drawing/2014/main" id="{9ED98D74-5D90-4C16-814A-E0D5B932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24000"/>
            <a:ext cx="2933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12" name="p2-col-head-2">
            <a:extLst xmlns:a="http://schemas.openxmlformats.org/drawingml/2006/main">
              <a:ext uri="{FF2B5EF4-FFF2-40B4-BE49-F238E27FC236}">
                <a16:creationId xmlns:a16="http://schemas.microsoft.com/office/drawing/2014/main" id="{DAC156D0-8B6A-4E5F-8664-5D02ED5E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95450"/>
            <a:ext cx="3657600" cy="516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动作条件物理智能组件</a:t>
            </a:r>
          </a:p>
        </p:txBody>
      </p:sp>
      <p:sp>
        <p:nvSpPr>
          <p:cNvPr id="13" name="p2-task-rail">
            <a:extLst xmlns:a="http://schemas.openxmlformats.org/drawingml/2006/main">
              <a:ext uri="{FF2B5EF4-FFF2-40B4-BE49-F238E27FC236}">
                <a16:creationId xmlns:a16="http://schemas.microsoft.com/office/drawing/2014/main" id="{838C5400-E7A0-4074-A878-D2A9AEF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524000"/>
            <a:ext cx="9525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14" name="p2-row-rule-1">
            <a:extLst xmlns:a="http://schemas.openxmlformats.org/drawingml/2006/main">
              <a:ext uri="{FF2B5EF4-FFF2-40B4-BE49-F238E27FC236}">
                <a16:creationId xmlns:a16="http://schemas.microsoft.com/office/drawing/2014/main" id="{8BA190EF-6A34-453B-BC91-E58D95F6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623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15" name="p2-row-rule-2">
            <a:extLst xmlns:a="http://schemas.openxmlformats.org/drawingml/2006/main">
              <a:ext uri="{FF2B5EF4-FFF2-40B4-BE49-F238E27FC236}">
                <a16:creationId xmlns:a16="http://schemas.microsoft.com/office/drawing/2014/main" id="{C6E47CBE-D234-47D3-9F9C-14DD074A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14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16" name="p2-task-label">
            <a:extLst xmlns:a="http://schemas.openxmlformats.org/drawingml/2006/main">
              <a:ext uri="{FF2B5EF4-FFF2-40B4-BE49-F238E27FC236}">
                <a16:creationId xmlns:a16="http://schemas.microsoft.com/office/drawing/2014/main" id="{993B67D9-544D-4ACF-8645-EB983878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1582400" cy="521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主要任务 /
交付位置</a:t>
            </a:r>
          </a:p>
        </p:txBody>
      </p:sp>
      <p:sp>
        <p:nvSpPr>
          <p:cNvPr id="17" name="p2-row-num-01">
            <a:extLst xmlns:a="http://schemas.openxmlformats.org/drawingml/2006/main">
              <a:ext uri="{FF2B5EF4-FFF2-40B4-BE49-F238E27FC236}">
                <a16:creationId xmlns:a16="http://schemas.microsoft.com/office/drawing/2014/main" id="{5BE774A1-3C56-4451-BA89-CD0505F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1582400" cy="453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01</a:t>
            </a:r>
          </a:p>
        </p:txBody>
      </p:sp>
      <p:sp>
        <p:nvSpPr>
          <p:cNvPr id="18" name="p2-row-head-01">
            <a:extLst xmlns:a="http://schemas.openxmlformats.org/drawingml/2006/main">
              <a:ext uri="{FF2B5EF4-FFF2-40B4-BE49-F238E27FC236}">
                <a16:creationId xmlns:a16="http://schemas.microsoft.com/office/drawing/2014/main" id="{C2677931-6AE7-4BF5-AC83-E081C558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1220450" cy="45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内容与探索</a:t>
            </a:r>
          </a:p>
        </p:txBody>
      </p:sp>
      <p:sp>
        <p:nvSpPr>
          <p:cNvPr id="19" name="p2-row-num-02">
            <a:extLst xmlns:a="http://schemas.openxmlformats.org/drawingml/2006/main">
              <a:ext uri="{FF2B5EF4-FFF2-40B4-BE49-F238E27FC236}">
                <a16:creationId xmlns:a16="http://schemas.microsoft.com/office/drawing/2014/main" id="{72952DE6-D8DC-45EE-B531-15420198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158240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02</a:t>
            </a:r>
          </a:p>
        </p:txBody>
      </p:sp>
      <p:sp>
        <p:nvSpPr>
          <p:cNvPr id="20" name="p2-row-head-02">
            <a:extLst xmlns:a="http://schemas.openxmlformats.org/drawingml/2006/main">
              <a:ext uri="{FF2B5EF4-FFF2-40B4-BE49-F238E27FC236}">
                <a16:creationId xmlns:a16="http://schemas.microsoft.com/office/drawing/2014/main" id="{678C21A5-905D-4DF3-A40A-DF6C1D1B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11220450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开发者世界
与仿真基础设施</a:t>
            </a:r>
          </a:p>
        </p:txBody>
      </p:sp>
      <p:sp>
        <p:nvSpPr>
          <p:cNvPr id="21" name="p2-row-num-03">
            <a:extLst xmlns:a="http://schemas.openxmlformats.org/drawingml/2006/main">
              <a:ext uri="{FF2B5EF4-FFF2-40B4-BE49-F238E27FC236}">
                <a16:creationId xmlns:a16="http://schemas.microsoft.com/office/drawing/2014/main" id="{47BE4A9B-CE48-4A4E-8DCD-21A31D00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15824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03</a:t>
            </a:r>
          </a:p>
        </p:txBody>
      </p:sp>
      <p:sp>
        <p:nvSpPr>
          <p:cNvPr id="22" name="p2-row-head-03">
            <a:extLst xmlns:a="http://schemas.openxmlformats.org/drawingml/2006/main">
              <a:ext uri="{FF2B5EF4-FFF2-40B4-BE49-F238E27FC236}">
                <a16:creationId xmlns:a16="http://schemas.microsoft.com/office/drawing/2014/main" id="{E1C978E6-E787-46D3-BDDD-2EB1FAE7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112204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机器人规划
与控制</a:t>
            </a:r>
          </a:p>
        </p:txBody>
      </p:sp>
      <p:sp>
        <p:nvSpPr>
          <p:cNvPr id="23" name="p2-world-labs-mark">
            <a:extLst xmlns:a="http://schemas.openxmlformats.org/drawingml/2006/main">
              <a:ext uri="{FF2B5EF4-FFF2-40B4-BE49-F238E27FC236}">
                <a16:creationId xmlns:a16="http://schemas.microsoft.com/office/drawing/2014/main" id="{A3421313-545B-40E1-ADF8-56F1452F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383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24" name="p2-world-labs-name">
            <a:extLst xmlns:a="http://schemas.openxmlformats.org/drawingml/2006/main">
              <a:ext uri="{FF2B5EF4-FFF2-40B4-BE49-F238E27FC236}">
                <a16:creationId xmlns:a16="http://schemas.microsoft.com/office/drawing/2014/main" id="{51C41156-5D18-4CF0-8B19-F5856630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33600"/>
            <a:ext cx="9601200" cy="47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 Labs</a:t>
            </a:r>
          </a:p>
        </p:txBody>
      </p:sp>
      <p:sp>
        <p:nvSpPr>
          <p:cNvPr id="25" name="p2-world-labs-access">
            <a:extLst xmlns:a="http://schemas.openxmlformats.org/drawingml/2006/main">
              <a:ext uri="{FF2B5EF4-FFF2-40B4-BE49-F238E27FC236}">
                <a16:creationId xmlns:a16="http://schemas.microsoft.com/office/drawing/2014/main" id="{603224DF-B32F-43C7-B762-08FFC794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76500"/>
            <a:ext cx="96012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公开计价接口</a:t>
            </a:r>
          </a:p>
        </p:txBody>
      </p:sp>
      <p:sp>
        <p:nvSpPr>
          <p:cNvPr id="26" name="p2-runway-mark">
            <a:extLst xmlns:a="http://schemas.openxmlformats.org/drawingml/2006/main">
              <a:ext uri="{FF2B5EF4-FFF2-40B4-BE49-F238E27FC236}">
                <a16:creationId xmlns:a16="http://schemas.microsoft.com/office/drawing/2014/main" id="{6DECFB0F-F637-4096-91FD-DC71A453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859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27" name="p2-runway-name">
            <a:extLst xmlns:a="http://schemas.openxmlformats.org/drawingml/2006/main">
              <a:ext uri="{FF2B5EF4-FFF2-40B4-BE49-F238E27FC236}">
                <a16:creationId xmlns:a16="http://schemas.microsoft.com/office/drawing/2014/main" id="{0FADFA46-33AA-4312-9819-6A15E6A6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81200"/>
            <a:ext cx="664845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Runway</a:t>
            </a:r>
          </a:p>
        </p:txBody>
      </p:sp>
      <p:sp>
        <p:nvSpPr>
          <p:cNvPr id="28" name="p2-runway-access">
            <a:extLst xmlns:a="http://schemas.openxmlformats.org/drawingml/2006/main">
              <a:ext uri="{FF2B5EF4-FFF2-40B4-BE49-F238E27FC236}">
                <a16:creationId xmlns:a16="http://schemas.microsoft.com/office/drawing/2014/main" id="{F1DA9940-565A-49EC-AA00-2D90A09C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6648450" cy="455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申请制 early access</a:t>
            </a:r>
          </a:p>
        </p:txBody>
      </p:sp>
      <p:sp>
        <p:nvSpPr>
          <p:cNvPr id="29" name="p2-runway-secondary">
            <a:extLst xmlns:a="http://schemas.openxmlformats.org/drawingml/2006/main">
              <a:ext uri="{FF2B5EF4-FFF2-40B4-BE49-F238E27FC236}">
                <a16:creationId xmlns:a16="http://schemas.microsoft.com/office/drawing/2014/main" id="{DD259400-42A1-4545-BDAC-53FB1D2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09850"/>
            <a:ext cx="6648450" cy="424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Robotics 为次级任务</a:t>
            </a:r>
          </a:p>
        </p:txBody>
      </p:sp>
      <p:sp>
        <p:nvSpPr>
          <p:cNvPr id="30" name="p2-genie-circle">
            <a:extLst xmlns:a="http://schemas.openxmlformats.org/drawingml/2006/main">
              <a:ext uri="{FF2B5EF4-FFF2-40B4-BE49-F238E27FC236}">
                <a16:creationId xmlns:a16="http://schemas.microsoft.com/office/drawing/2014/main" id="{24E45C3C-39E3-4EC7-831C-55ECA377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14650"/>
            <a:ext cx="6896100" cy="394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○</a:t>
            </a:r>
          </a:p>
        </p:txBody>
      </p:sp>
      <p:sp>
        <p:nvSpPr>
          <p:cNvPr id="31" name="p2-genie-name">
            <a:extLst xmlns:a="http://schemas.openxmlformats.org/drawingml/2006/main">
              <a:ext uri="{FF2B5EF4-FFF2-40B4-BE49-F238E27FC236}">
                <a16:creationId xmlns:a16="http://schemas.microsoft.com/office/drawing/2014/main" id="{65C336F3-3BCD-4BC6-BC26-B5292439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6648450" cy="398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Genie 3</a:t>
            </a:r>
          </a:p>
        </p:txBody>
      </p:sp>
      <p:sp>
        <p:nvSpPr>
          <p:cNvPr id="32" name="p2-genie-access">
            <a:extLst xmlns:a="http://schemas.openxmlformats.org/drawingml/2006/main">
              <a:ext uri="{FF2B5EF4-FFF2-40B4-BE49-F238E27FC236}">
                <a16:creationId xmlns:a16="http://schemas.microsoft.com/office/drawing/2014/main" id="{FE720CBA-7325-4A49-9FAD-65433163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57150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封闭原型</a:t>
            </a:r>
          </a:p>
        </p:txBody>
      </p:sp>
      <p:sp>
        <p:nvSpPr>
          <p:cNvPr id="33" name="p2-overworld-circle">
            <a:extLst xmlns:a="http://schemas.openxmlformats.org/drawingml/2006/main">
              <a:ext uri="{FF2B5EF4-FFF2-40B4-BE49-F238E27FC236}">
                <a16:creationId xmlns:a16="http://schemas.microsoft.com/office/drawing/2014/main" id="{15BE8656-BAFB-4250-82D8-9F3BCAF6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62300"/>
            <a:ext cx="6896100" cy="369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○</a:t>
            </a:r>
          </a:p>
        </p:txBody>
      </p:sp>
      <p:sp>
        <p:nvSpPr>
          <p:cNvPr id="34" name="p2-overworld-name">
            <a:extLst xmlns:a="http://schemas.openxmlformats.org/drawingml/2006/main">
              <a:ext uri="{FF2B5EF4-FFF2-40B4-BE49-F238E27FC236}">
                <a16:creationId xmlns:a16="http://schemas.microsoft.com/office/drawing/2014/main" id="{5843557C-72F6-4B75-A7E2-D3FB3CEB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24200"/>
            <a:ext cx="664845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Overworld（地域条件）</a:t>
            </a:r>
          </a:p>
        </p:txBody>
      </p:sp>
      <p:sp>
        <p:nvSpPr>
          <p:cNvPr id="35" name="p2-overworld-access">
            <a:extLst xmlns:a="http://schemas.openxmlformats.org/drawingml/2006/main">
              <a:ext uri="{FF2B5EF4-FFF2-40B4-BE49-F238E27FC236}">
                <a16:creationId xmlns:a16="http://schemas.microsoft.com/office/drawing/2014/main" id="{71705476-1B4A-4AA6-81FD-EDD87BAC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52800"/>
            <a:ext cx="6648450" cy="350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开放权重</a:t>
            </a:r>
          </a:p>
        </p:txBody>
      </p:sp>
      <p:sp>
        <p:nvSpPr>
          <p:cNvPr id="36" name="p2-odyssey-mark">
            <a:extLst xmlns:a="http://schemas.openxmlformats.org/drawingml/2006/main">
              <a:ext uri="{FF2B5EF4-FFF2-40B4-BE49-F238E27FC236}">
                <a16:creationId xmlns:a16="http://schemas.microsoft.com/office/drawing/2014/main" id="{5994C39F-976B-4F6D-991D-450285E5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433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37" name="p2-odyssey-name">
            <a:extLst xmlns:a="http://schemas.openxmlformats.org/drawingml/2006/main">
              <a:ext uri="{FF2B5EF4-FFF2-40B4-BE49-F238E27FC236}">
                <a16:creationId xmlns:a16="http://schemas.microsoft.com/office/drawing/2014/main" id="{73CB06D4-F143-4112-9314-F3C85428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38550"/>
            <a:ext cx="6648450" cy="3219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Odyssey</a:t>
            </a:r>
          </a:p>
        </p:txBody>
      </p:sp>
      <p:sp>
        <p:nvSpPr>
          <p:cNvPr id="38" name="p2-odyssey-access">
            <a:extLst xmlns:a="http://schemas.openxmlformats.org/drawingml/2006/main">
              <a:ext uri="{FF2B5EF4-FFF2-40B4-BE49-F238E27FC236}">
                <a16:creationId xmlns:a16="http://schemas.microsoft.com/office/drawing/2014/main" id="{E2E89592-0265-41A3-9B96-8AABC5FA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62400"/>
            <a:ext cx="6648450" cy="28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开发者文档
账户未独立确认</a:t>
            </a:r>
          </a:p>
        </p:txBody>
      </p:sp>
      <p:sp>
        <p:nvSpPr>
          <p:cNvPr id="39" name="p2-decart-mark">
            <a:extLst xmlns:a="http://schemas.openxmlformats.org/drawingml/2006/main">
              <a:ext uri="{FF2B5EF4-FFF2-40B4-BE49-F238E27FC236}">
                <a16:creationId xmlns:a16="http://schemas.microsoft.com/office/drawing/2014/main" id="{AC1B067F-5630-4AE0-8536-EA0A6E0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053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40" name="p2-decart-name">
            <a:extLst xmlns:a="http://schemas.openxmlformats.org/drawingml/2006/main">
              <a:ext uri="{FF2B5EF4-FFF2-40B4-BE49-F238E27FC236}">
                <a16:creationId xmlns:a16="http://schemas.microsoft.com/office/drawing/2014/main" id="{E0D97874-2B23-4741-80E7-06BCBDC4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00550"/>
            <a:ext cx="6648450" cy="2457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Decart</a:t>
            </a:r>
          </a:p>
        </p:txBody>
      </p:sp>
      <p:sp>
        <p:nvSpPr>
          <p:cNvPr id="41" name="p2-decart-access">
            <a:extLst xmlns:a="http://schemas.openxmlformats.org/drawingml/2006/main">
              <a:ext uri="{FF2B5EF4-FFF2-40B4-BE49-F238E27FC236}">
                <a16:creationId xmlns:a16="http://schemas.microsoft.com/office/drawing/2014/main" id="{1CC7D4B5-1AC6-4BB3-B8D7-AF389709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667250"/>
            <a:ext cx="66484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公开计价接口</a:t>
            </a:r>
          </a:p>
        </p:txBody>
      </p:sp>
      <p:sp>
        <p:nvSpPr>
          <p:cNvPr id="42" name="p2-cosmos-mark">
            <a:extLst xmlns:a="http://schemas.openxmlformats.org/drawingml/2006/main">
              <a:ext uri="{FF2B5EF4-FFF2-40B4-BE49-F238E27FC236}">
                <a16:creationId xmlns:a16="http://schemas.microsoft.com/office/drawing/2014/main" id="{6CC17CDB-204A-4CF2-B81D-FC16FE1A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433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43" name="p2-cosmos-name">
            <a:extLst xmlns:a="http://schemas.openxmlformats.org/drawingml/2006/main">
              <a:ext uri="{FF2B5EF4-FFF2-40B4-BE49-F238E27FC236}">
                <a16:creationId xmlns:a16="http://schemas.microsoft.com/office/drawing/2014/main" id="{888C35D3-C7C1-4236-B7FF-2C8DAF02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3390900" cy="3219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NVIDIA Cosmos 3</a:t>
            </a:r>
          </a:p>
        </p:txBody>
      </p:sp>
      <p:sp>
        <p:nvSpPr>
          <p:cNvPr id="44" name="p2-cosmos-access">
            <a:extLst xmlns:a="http://schemas.openxmlformats.org/drawingml/2006/main">
              <a:ext uri="{FF2B5EF4-FFF2-40B4-BE49-F238E27FC236}">
                <a16:creationId xmlns:a16="http://schemas.microsoft.com/office/drawing/2014/main" id="{66C89901-13A2-4D6B-BA7A-F3087A5F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62400"/>
            <a:ext cx="3390900" cy="28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可下载 / 自托管</a:t>
            </a:r>
          </a:p>
        </p:txBody>
      </p:sp>
      <p:sp>
        <p:nvSpPr>
          <p:cNvPr id="45" name="p2-cosmos-secondary">
            <a:extLst xmlns:a="http://schemas.openxmlformats.org/drawingml/2006/main">
              <a:ext uri="{FF2B5EF4-FFF2-40B4-BE49-F238E27FC236}">
                <a16:creationId xmlns:a16="http://schemas.microsoft.com/office/drawing/2014/main" id="{6BD39336-D23A-43E0-82DE-EC1EEF3A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48150"/>
            <a:ext cx="33909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规划控制为次级任务</a:t>
            </a:r>
          </a:p>
        </p:txBody>
      </p:sp>
      <p:sp>
        <p:nvSpPr>
          <p:cNvPr id="46" name="p2-mira-circle">
            <a:extLst xmlns:a="http://schemas.openxmlformats.org/drawingml/2006/main">
              <a:ext uri="{FF2B5EF4-FFF2-40B4-BE49-F238E27FC236}">
                <a16:creationId xmlns:a16="http://schemas.microsoft.com/office/drawing/2014/main" id="{55AC75C6-FF8E-40AC-A9D7-C4D45620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29150"/>
            <a:ext cx="3638550" cy="2228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○</a:t>
            </a:r>
          </a:p>
        </p:txBody>
      </p:sp>
      <p:sp>
        <p:nvSpPr>
          <p:cNvPr id="47" name="p2-mira-name">
            <a:extLst xmlns:a="http://schemas.openxmlformats.org/drawingml/2006/main">
              <a:ext uri="{FF2B5EF4-FFF2-40B4-BE49-F238E27FC236}">
                <a16:creationId xmlns:a16="http://schemas.microsoft.com/office/drawing/2014/main" id="{3A47F2E1-5D64-43BB-93CD-0CD9DAFB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339090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MIRA</a:t>
            </a:r>
          </a:p>
        </p:txBody>
      </p:sp>
      <p:sp>
        <p:nvSpPr>
          <p:cNvPr id="48" name="p2-mira-access">
            <a:extLst xmlns:a="http://schemas.openxmlformats.org/drawingml/2006/main">
              <a:ext uri="{FF2B5EF4-FFF2-40B4-BE49-F238E27FC236}">
                <a16:creationId xmlns:a16="http://schemas.microsoft.com/office/drawing/2014/main" id="{9772789C-B7A4-4A2C-BDAA-C69487EC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91050"/>
            <a:ext cx="26479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外部入口未核</a:t>
            </a:r>
          </a:p>
        </p:txBody>
      </p:sp>
      <p:sp>
        <p:nvSpPr>
          <p:cNvPr id="49" name="p2-meta-circle">
            <a:extLst xmlns:a="http://schemas.openxmlformats.org/drawingml/2006/main">
              <a:ext uri="{FF2B5EF4-FFF2-40B4-BE49-F238E27FC236}">
                <a16:creationId xmlns:a16="http://schemas.microsoft.com/office/drawing/2014/main" id="{132F9DD9-E9D2-4579-9FCC-F73E83B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05400"/>
            <a:ext cx="36385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○</a:t>
            </a:r>
          </a:p>
        </p:txBody>
      </p:sp>
      <p:sp>
        <p:nvSpPr>
          <p:cNvPr id="50" name="p2-meta-name">
            <a:extLst xmlns:a="http://schemas.openxmlformats.org/drawingml/2006/main">
              <a:ext uri="{FF2B5EF4-FFF2-40B4-BE49-F238E27FC236}">
                <a16:creationId xmlns:a16="http://schemas.microsoft.com/office/drawing/2014/main" id="{21454742-C5CD-4D6F-BD04-36E584FD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48250"/>
            <a:ext cx="33909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Meta V-JEPA</a:t>
            </a:r>
          </a:p>
        </p:txBody>
      </p:sp>
      <p:sp>
        <p:nvSpPr>
          <p:cNvPr id="51" name="p2-meta-access">
            <a:extLst xmlns:a="http://schemas.openxmlformats.org/drawingml/2006/main">
              <a:ext uri="{FF2B5EF4-FFF2-40B4-BE49-F238E27FC236}">
                <a16:creationId xmlns:a16="http://schemas.microsoft.com/office/drawing/2014/main" id="{0DC53D9D-857D-45EB-ABF9-B044D646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34000"/>
            <a:ext cx="33909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checkpoint 可下载
许可待核</a:t>
            </a:r>
          </a:p>
        </p:txBody>
      </p:sp>
      <p:sp>
        <p:nvSpPr>
          <p:cNvPr id="52" name="p2-ami-bg">
            <a:extLst xmlns:a="http://schemas.openxmlformats.org/drawingml/2006/main">
              <a:ext uri="{FF2B5EF4-FFF2-40B4-BE49-F238E27FC236}">
                <a16:creationId xmlns:a16="http://schemas.microsoft.com/office/drawing/2014/main" id="{AD3F33BA-3C3D-4F9D-B94E-CD1F17F3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102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6"/>
          </a:solidFill>
        </p:spPr>
      </p:sp>
      <p:sp>
        <p:nvSpPr>
          <p:cNvPr id="53" name="p2-ami-accent">
            <a:extLst xmlns:a="http://schemas.openxmlformats.org/drawingml/2006/main">
              <a:ext uri="{FF2B5EF4-FFF2-40B4-BE49-F238E27FC236}">
                <a16:creationId xmlns:a16="http://schemas.microsoft.com/office/drawing/2014/main" id="{F7090ED7-AE22-4250-9249-43D02E47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1025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8755"/>
          </a:solidFill>
        </p:spPr>
      </p:sp>
      <p:sp>
        <p:nvSpPr>
          <p:cNvPr id="54" name="p2-ami-name">
            <a:extLst xmlns:a="http://schemas.openxmlformats.org/drawingml/2006/main">
              <a:ext uri="{FF2B5EF4-FFF2-40B4-BE49-F238E27FC236}">
                <a16:creationId xmlns:a16="http://schemas.microsoft.com/office/drawing/2014/main" id="{7564EE4E-B0F4-48C5-9C70-26FAC8B7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67400"/>
            <a:ext cx="98488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A48755"/>
                </a:solidFill>
                <a:latin typeface="Noto Sans SC"/>
                <a:ea typeface="Noto Sans SC"/>
                <a:cs typeface="Noto Sans SC"/>
              </a:defRPr>
            </a:pPr>
            <a:r>
              <a:t>早期信号 · AMI Labs</a:t>
            </a:r>
          </a:p>
        </p:txBody>
      </p:sp>
      <p:sp>
        <p:nvSpPr>
          <p:cNvPr id="55" name="p2-ami-detail">
            <a:extLst xmlns:a="http://schemas.openxmlformats.org/drawingml/2006/main">
              <a:ext uri="{FF2B5EF4-FFF2-40B4-BE49-F238E27FC236}">
                <a16:creationId xmlns:a16="http://schemas.microsoft.com/office/drawing/2014/main" id="{FE11DA3D-B137-4EE5-B830-FF623C2C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7239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自有技术资产与外部入口待核</a:t>
            </a:r>
          </a:p>
        </p:txBody>
      </p:sp>
      <p:sp>
        <p:nvSpPr>
          <p:cNvPr id="56" name="p2-scope">
            <a:extLst xmlns:a="http://schemas.openxmlformats.org/drawingml/2006/main">
              <a:ext uri="{FF2B5EF4-FFF2-40B4-BE49-F238E27FC236}">
                <a16:creationId xmlns:a16="http://schemas.microsoft.com/office/drawing/2014/main" id="{7D1D9FBD-CD43-402C-9B08-DE8EC0D6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582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固定五席：粗体＋色线｜观察对象：○｜早期信号：单列｜5/4/1；中国大陆公司与类别外路线不作节点；Manifold 只作公开锚点。</a:t>
            </a:r>
          </a:p>
        </p:txBody>
      </p:sp>
      <p:sp>
        <p:nvSpPr>
          <p:cNvPr id="57" name="p2-footer-rule">
            <a:extLst xmlns:a="http://schemas.openxmlformats.org/drawingml/2006/main">
              <a:ext uri="{FF2B5EF4-FFF2-40B4-BE49-F238E27FC236}">
                <a16:creationId xmlns:a16="http://schemas.microsoft.com/office/drawing/2014/main" id="{C5990C0C-51DB-48F9-B3DA-49C2BD33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58" name="p2-footer-source">
            <a:extLst xmlns:a="http://schemas.openxmlformats.org/drawingml/2006/main">
              <a:ext uri="{FF2B5EF4-FFF2-40B4-BE49-F238E27FC236}">
                <a16:creationId xmlns:a16="http://schemas.microsoft.com/office/drawing/2014/main" id="{105B3451-738C-473D-8EC3-980EDB4F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来源：官方项目、产品、代码仓库、开发者资料及公司/地域资料</a:t>
            </a:r>
          </a:p>
        </p:txBody>
      </p:sp>
      <p:sp>
        <p:nvSpPr>
          <p:cNvPr id="59" name="p2-footer-page">
            <a:extLst xmlns:a="http://schemas.openxmlformats.org/drawingml/2006/main">
              <a:ext uri="{FF2B5EF4-FFF2-40B4-BE49-F238E27FC236}">
                <a16:creationId xmlns:a16="http://schemas.microsoft.com/office/drawing/2014/main" id="{D38B1330-4C94-4FE3-9D9A-4E9D869F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02</a:t>
            </a:r>
          </a:p>
        </p:txBody>
      </p:sp>
    </p:spTree>
    <p:extLst>
      <p:ext uri="{BB962C8B-B14F-4D97-AF65-F5344CB8AC3E}">
        <p14:creationId xmlns:p14="http://schemas.microsoft.com/office/powerpoint/2010/main" val="7187234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3-eyebrow">
            <a:extLst xmlns:a="http://schemas.openxmlformats.org/drawingml/2006/main">
              <a:ext uri="{FF2B5EF4-FFF2-40B4-BE49-F238E27FC236}">
                <a16:creationId xmlns:a16="http://schemas.microsoft.com/office/drawing/2014/main" id="{9A9B0FA6-1215-4DE5-837A-C5F28964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1582400" cy="661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FIVE PATHS · NO RANKING</a:t>
            </a:r>
          </a:p>
        </p:txBody>
      </p:sp>
      <p:sp>
        <p:nvSpPr>
          <p:cNvPr id="2" name="p3-title">
            <a:extLst xmlns:a="http://schemas.openxmlformats.org/drawingml/2006/main">
              <a:ext uri="{FF2B5EF4-FFF2-40B4-BE49-F238E27FC236}">
                <a16:creationId xmlns:a16="http://schemas.microsoft.com/office/drawing/2014/main" id="{ED196D02-7D7D-483B-A815-33C87CE1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582400" cy="638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五席走五条路，差异在产品形态和证据成熟度</a:t>
            </a:r>
          </a:p>
        </p:txBody>
      </p:sp>
      <p:sp>
        <p:nvSpPr>
          <p:cNvPr id="3" name="p3-subtitle">
            <a:extLst xmlns:a="http://schemas.openxmlformats.org/drawingml/2006/main">
              <a:ext uri="{FF2B5EF4-FFF2-40B4-BE49-F238E27FC236}">
                <a16:creationId xmlns:a16="http://schemas.microsoft.com/office/drawing/2014/main" id="{C3B3E207-F275-469A-B624-FC9D7E71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582400" cy="588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固定五席体现路线互补，不构成能力、公司或商业成熟度排名。</a:t>
            </a:r>
          </a:p>
        </p:txBody>
      </p:sp>
      <p:sp>
        <p:nvSpPr>
          <p:cNvPr id="4" name="p3-header-bg">
            <a:extLst xmlns:a="http://schemas.openxmlformats.org/drawingml/2006/main">
              <a:ext uri="{FF2B5EF4-FFF2-40B4-BE49-F238E27FC236}">
                <a16:creationId xmlns:a16="http://schemas.microsoft.com/office/drawing/2014/main" id="{A0049C81-E53A-43F8-9C6E-5933A03A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5" name="p3-header-accent-0">
            <a:extLst xmlns:a="http://schemas.openxmlformats.org/drawingml/2006/main">
              <a:ext uri="{FF2B5EF4-FFF2-40B4-BE49-F238E27FC236}">
                <a16:creationId xmlns:a16="http://schemas.microsoft.com/office/drawing/2014/main" id="{49951AF9-5E72-4DB2-85FC-845ABCCF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1"/>
          </a:solidFill>
        </p:spPr>
      </p:sp>
      <p:sp>
        <p:nvSpPr>
          <p:cNvPr id="6" name="p3-header-0">
            <a:extLst xmlns:a="http://schemas.openxmlformats.org/drawingml/2006/main">
              <a:ext uri="{FF2B5EF4-FFF2-40B4-BE49-F238E27FC236}">
                <a16:creationId xmlns:a16="http://schemas.microsoft.com/office/drawing/2014/main" id="{50B7912C-24F9-40BB-9A2E-0ABFB9CF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146810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比较维度</a:t>
            </a:r>
          </a:p>
        </p:txBody>
      </p:sp>
      <p:sp>
        <p:nvSpPr>
          <p:cNvPr id="7" name="p3-header-accent-1">
            <a:extLst xmlns:a="http://schemas.openxmlformats.org/drawingml/2006/main">
              <a:ext uri="{FF2B5EF4-FFF2-40B4-BE49-F238E27FC236}">
                <a16:creationId xmlns:a16="http://schemas.microsoft.com/office/drawing/2014/main" id="{780E1950-4632-461C-825D-D006AE2A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8" name="p3-header-1">
            <a:extLst xmlns:a="http://schemas.openxmlformats.org/drawingml/2006/main">
              <a:ext uri="{FF2B5EF4-FFF2-40B4-BE49-F238E27FC236}">
                <a16:creationId xmlns:a16="http://schemas.microsoft.com/office/drawing/2014/main" id="{79EC99B3-32F6-4931-B0FF-D4BE7CE6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466850"/>
            <a:ext cx="1015365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 Labs</a:t>
            </a:r>
          </a:p>
        </p:txBody>
      </p:sp>
      <p:sp>
        <p:nvSpPr>
          <p:cNvPr id="9" name="p3-header-accent-2">
            <a:extLst xmlns:a="http://schemas.openxmlformats.org/drawingml/2006/main">
              <a:ext uri="{FF2B5EF4-FFF2-40B4-BE49-F238E27FC236}">
                <a16:creationId xmlns:a16="http://schemas.microsoft.com/office/drawing/2014/main" id="{E6BEB439-64FE-493E-8E4A-A28DE30F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10" name="p3-header-2">
            <a:extLst xmlns:a="http://schemas.openxmlformats.org/drawingml/2006/main">
              <a:ext uri="{FF2B5EF4-FFF2-40B4-BE49-F238E27FC236}">
                <a16:creationId xmlns:a16="http://schemas.microsoft.com/office/drawing/2014/main" id="{020AEA49-EBEF-4862-B58D-49669B91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1466850"/>
            <a:ext cx="822198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Odyssey</a:t>
            </a:r>
          </a:p>
        </p:txBody>
      </p:sp>
      <p:sp>
        <p:nvSpPr>
          <p:cNvPr id="11" name="p3-header-accent-3">
            <a:extLst xmlns:a="http://schemas.openxmlformats.org/drawingml/2006/main">
              <a:ext uri="{FF2B5EF4-FFF2-40B4-BE49-F238E27FC236}">
                <a16:creationId xmlns:a16="http://schemas.microsoft.com/office/drawing/2014/main" id="{A76BCD15-42B3-48FF-8E1E-89B9DDA0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12" name="p3-header-3">
            <a:extLst xmlns:a="http://schemas.openxmlformats.org/drawingml/2006/main">
              <a:ext uri="{FF2B5EF4-FFF2-40B4-BE49-F238E27FC236}">
                <a16:creationId xmlns:a16="http://schemas.microsoft.com/office/drawing/2014/main" id="{AE0C8EF1-2D2B-496F-B2CB-3D78BBF8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1466850"/>
            <a:ext cx="629031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Runway</a:t>
            </a:r>
          </a:p>
        </p:txBody>
      </p:sp>
      <p:sp>
        <p:nvSpPr>
          <p:cNvPr id="13" name="p3-header-accent-4">
            <a:extLst xmlns:a="http://schemas.openxmlformats.org/drawingml/2006/main">
              <a:ext uri="{FF2B5EF4-FFF2-40B4-BE49-F238E27FC236}">
                <a16:creationId xmlns:a16="http://schemas.microsoft.com/office/drawing/2014/main" id="{3E8FF936-B3F9-4D3D-87AB-408083EA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14" name="p3-header-4">
            <a:extLst xmlns:a="http://schemas.openxmlformats.org/drawingml/2006/main">
              <a:ext uri="{FF2B5EF4-FFF2-40B4-BE49-F238E27FC236}">
                <a16:creationId xmlns:a16="http://schemas.microsoft.com/office/drawing/2014/main" id="{9CCA0E33-4C21-43C5-ACA9-D7D2C61F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1466850"/>
            <a:ext cx="435864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Decart</a:t>
            </a:r>
          </a:p>
        </p:txBody>
      </p:sp>
      <p:sp>
        <p:nvSpPr>
          <p:cNvPr id="15" name="p3-header-accent-5">
            <a:extLst xmlns:a="http://schemas.openxmlformats.org/drawingml/2006/main">
              <a:ext uri="{FF2B5EF4-FFF2-40B4-BE49-F238E27FC236}">
                <a16:creationId xmlns:a16="http://schemas.microsoft.com/office/drawing/2014/main" id="{9E3EF7ED-1C3B-4567-BD17-6A975A93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13620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16" name="p3-header-5">
            <a:extLst xmlns:a="http://schemas.openxmlformats.org/drawingml/2006/main">
              <a:ext uri="{FF2B5EF4-FFF2-40B4-BE49-F238E27FC236}">
                <a16:creationId xmlns:a16="http://schemas.microsoft.com/office/drawing/2014/main" id="{F5B18555-D487-4E0F-92A7-8B159E90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1466850"/>
            <a:ext cx="2426970" cy="539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NVIDIA Cosmos 3</a:t>
            </a:r>
          </a:p>
        </p:txBody>
      </p:sp>
      <p:sp>
        <p:nvSpPr>
          <p:cNvPr id="17" name="p3-row-bg-0">
            <a:extLst xmlns:a="http://schemas.openxmlformats.org/drawingml/2006/main">
              <a:ext uri="{FF2B5EF4-FFF2-40B4-BE49-F238E27FC236}">
                <a16:creationId xmlns:a16="http://schemas.microsoft.com/office/drawing/2014/main" id="{661AD110-E06D-4C56-B34B-08A19012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18" name="p3-rowhead-0">
            <a:extLst xmlns:a="http://schemas.openxmlformats.org/drawingml/2006/main">
              <a:ext uri="{FF2B5EF4-FFF2-40B4-BE49-F238E27FC236}">
                <a16:creationId xmlns:a16="http://schemas.microsoft.com/office/drawing/2014/main" id="{B7AFDE59-AE6E-4AED-B1B0-A53ADC76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146810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技术证据</a:t>
            </a:r>
          </a:p>
        </p:txBody>
      </p:sp>
      <p:sp>
        <p:nvSpPr>
          <p:cNvPr id="19" name="p3-cell-0-0">
            <a:extLst xmlns:a="http://schemas.openxmlformats.org/drawingml/2006/main">
              <a:ext uri="{FF2B5EF4-FFF2-40B4-BE49-F238E27FC236}">
                <a16:creationId xmlns:a16="http://schemas.microsoft.com/office/drawing/2014/main" id="{1BCBE0B7-E22B-4B27-B86F-3A3D7F79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05000"/>
            <a:ext cx="1015365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位姿条件导航与
空间记忆；动态物体
仍待证</a:t>
            </a:r>
          </a:p>
        </p:txBody>
      </p:sp>
      <p:sp>
        <p:nvSpPr>
          <p:cNvPr id="20" name="p3-cell-0-1">
            <a:extLst xmlns:a="http://schemas.openxmlformats.org/drawingml/2006/main">
              <a:ext uri="{FF2B5EF4-FFF2-40B4-BE49-F238E27FC236}">
                <a16:creationId xmlns:a16="http://schemas.microsoft.com/office/drawing/2014/main" id="{5301F6D2-E40E-4759-B503-D0D79E16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1905000"/>
            <a:ext cx="822198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历史帧和动作条件
未来；长时稳定性
未独立验证</a:t>
            </a:r>
          </a:p>
        </p:txBody>
      </p:sp>
      <p:sp>
        <p:nvSpPr>
          <p:cNvPr id="21" name="p3-cell-0-2">
            <a:extLst xmlns:a="http://schemas.openxmlformats.org/drawingml/2006/main">
              <a:ext uri="{FF2B5EF4-FFF2-40B4-BE49-F238E27FC236}">
                <a16:creationId xmlns:a16="http://schemas.microsoft.com/office/drawing/2014/main" id="{0B8FE25B-7E16-4F9A-8611-782772F1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1905000"/>
            <a:ext cx="629031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Worlds 支持导航
条件未来；Robotics
证据单列</a:t>
            </a:r>
          </a:p>
        </p:txBody>
      </p:sp>
      <p:sp>
        <p:nvSpPr>
          <p:cNvPr id="22" name="p3-cell-0-3">
            <a:extLst xmlns:a="http://schemas.openxmlformats.org/drawingml/2006/main">
              <a:ext uri="{FF2B5EF4-FFF2-40B4-BE49-F238E27FC236}">
                <a16:creationId xmlns:a16="http://schemas.microsoft.com/office/drawing/2014/main" id="{55D9C13A-6833-427F-8887-57B7E532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1905000"/>
            <a:ext cx="435864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油门/转向驱动
三向后续视图；
动作域较窄</a:t>
            </a:r>
          </a:p>
        </p:txBody>
      </p:sp>
      <p:sp>
        <p:nvSpPr>
          <p:cNvPr id="23" name="p3-cell-0-4">
            <a:extLst xmlns:a="http://schemas.openxmlformats.org/drawingml/2006/main">
              <a:ext uri="{FF2B5EF4-FFF2-40B4-BE49-F238E27FC236}">
                <a16:creationId xmlns:a16="http://schemas.microsoft.com/office/drawing/2014/main" id="{73DE0597-D496-44E3-9AD1-767E7A1F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1905000"/>
            <a:ext cx="242697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动作条件前向预测；
漂移、几何和碰撞
仍有限</a:t>
            </a:r>
          </a:p>
        </p:txBody>
      </p:sp>
      <p:sp>
        <p:nvSpPr>
          <p:cNvPr id="24" name="p3-row-bg-1">
            <a:extLst xmlns:a="http://schemas.openxmlformats.org/drawingml/2006/main">
              <a:ext uri="{FF2B5EF4-FFF2-40B4-BE49-F238E27FC236}">
                <a16:creationId xmlns:a16="http://schemas.microsoft.com/office/drawing/2014/main" id="{8755C83E-8DAB-4722-BA0B-7F3806DC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6"/>
          </a:solidFill>
        </p:spPr>
      </p:sp>
      <p:sp>
        <p:nvSpPr>
          <p:cNvPr id="25" name="p3-rowhead-1">
            <a:extLst xmlns:a="http://schemas.openxmlformats.org/drawingml/2006/main">
              <a:ext uri="{FF2B5EF4-FFF2-40B4-BE49-F238E27FC236}">
                <a16:creationId xmlns:a16="http://schemas.microsoft.com/office/drawing/2014/main" id="{52710BB8-2054-48FC-8AE2-5DEF6B5D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146810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外部
可获得性</a:t>
            </a:r>
          </a:p>
        </p:txBody>
      </p:sp>
      <p:sp>
        <p:nvSpPr>
          <p:cNvPr id="26" name="p3-cell-1-0">
            <a:extLst xmlns:a="http://schemas.openxmlformats.org/drawingml/2006/main">
              <a:ext uri="{FF2B5EF4-FFF2-40B4-BE49-F238E27FC236}">
                <a16:creationId xmlns:a16="http://schemas.microsoft.com/office/drawing/2014/main" id="{599A81C5-DCA9-481E-8503-A4C7369D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28950"/>
            <a:ext cx="1015365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公开计价的
专有世界接口</a:t>
            </a:r>
          </a:p>
        </p:txBody>
      </p:sp>
      <p:sp>
        <p:nvSpPr>
          <p:cNvPr id="27" name="p3-cell-1-1">
            <a:extLst xmlns:a="http://schemas.openxmlformats.org/drawingml/2006/main">
              <a:ext uri="{FF2B5EF4-FFF2-40B4-BE49-F238E27FC236}">
                <a16:creationId xmlns:a16="http://schemas.microsoft.com/office/drawing/2014/main" id="{0E0B4E2F-6A19-4BE2-B37F-11D87002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3028950"/>
            <a:ext cx="822198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厂商文档化
原型接口；实际账户
未确认</a:t>
            </a:r>
          </a:p>
        </p:txBody>
      </p:sp>
      <p:sp>
        <p:nvSpPr>
          <p:cNvPr id="28" name="p3-cell-1-2">
            <a:extLst xmlns:a="http://schemas.openxmlformats.org/drawingml/2006/main">
              <a:ext uri="{FF2B5EF4-FFF2-40B4-BE49-F238E27FC236}">
                <a16:creationId xmlns:a16="http://schemas.microsoft.com/office/drawing/2014/main" id="{9C09597A-489A-47CB-9231-55EEE17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3028950"/>
            <a:ext cx="629031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Worlds 申请制；
Robotics 需洽谈</a:t>
            </a:r>
          </a:p>
        </p:txBody>
      </p:sp>
      <p:sp>
        <p:nvSpPr>
          <p:cNvPr id="29" name="p3-cell-1-3">
            <a:extLst xmlns:a="http://schemas.openxmlformats.org/drawingml/2006/main">
              <a:ext uri="{FF2B5EF4-FFF2-40B4-BE49-F238E27FC236}">
                <a16:creationId xmlns:a16="http://schemas.microsoft.com/office/drawing/2014/main" id="{7DEAAA5A-8B49-465F-8AD7-7CD25AC9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3028950"/>
            <a:ext cx="435864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公开账户、按秒
计费的预览接口</a:t>
            </a:r>
          </a:p>
        </p:txBody>
      </p:sp>
      <p:sp>
        <p:nvSpPr>
          <p:cNvPr id="30" name="p3-cell-1-4">
            <a:extLst xmlns:a="http://schemas.openxmlformats.org/drawingml/2006/main">
              <a:ext uri="{FF2B5EF4-FFF2-40B4-BE49-F238E27FC236}">
                <a16:creationId xmlns:a16="http://schemas.microsoft.com/office/drawing/2014/main" id="{4EA979B7-BC0D-4B9D-A91B-379D908C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3028950"/>
            <a:ext cx="2426970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模型材料可下载
并可自托管；
Generator NIM 1.0.0
只含文生/图生视频</a:t>
            </a:r>
          </a:p>
        </p:txBody>
      </p:sp>
      <p:sp>
        <p:nvSpPr>
          <p:cNvPr id="31" name="p3-row-bg-2">
            <a:extLst xmlns:a="http://schemas.openxmlformats.org/drawingml/2006/main">
              <a:ext uri="{FF2B5EF4-FFF2-40B4-BE49-F238E27FC236}">
                <a16:creationId xmlns:a16="http://schemas.microsoft.com/office/drawing/2014/main" id="{0589B701-080F-44A7-9F62-F44932BF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32" name="p3-rowhead-2">
            <a:extLst xmlns:a="http://schemas.openxmlformats.org/drawingml/2006/main">
              <a:ext uri="{FF2B5EF4-FFF2-40B4-BE49-F238E27FC236}">
                <a16:creationId xmlns:a16="http://schemas.microsoft.com/office/drawing/2014/main" id="{18321F71-A898-46A1-BBA9-F67259A1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146810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商业采用
上限</a:t>
            </a:r>
          </a:p>
        </p:txBody>
      </p:sp>
      <p:sp>
        <p:nvSpPr>
          <p:cNvPr id="33" name="p3-cell-2-0">
            <a:extLst xmlns:a="http://schemas.openxmlformats.org/drawingml/2006/main">
              <a:ext uri="{FF2B5EF4-FFF2-40B4-BE49-F238E27FC236}">
                <a16:creationId xmlns:a16="http://schemas.microsoft.com/office/drawing/2014/main" id="{9882395C-628B-4F85-92F0-4F2D3CFE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62450"/>
            <a:ext cx="1015365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供应商托管原型；
无客户第一方
生产证据</a:t>
            </a:r>
          </a:p>
        </p:txBody>
      </p:sp>
      <p:sp>
        <p:nvSpPr>
          <p:cNvPr id="34" name="p3-cell-2-1">
            <a:extLst xmlns:a="http://schemas.openxmlformats.org/drawingml/2006/main">
              <a:ext uri="{FF2B5EF4-FFF2-40B4-BE49-F238E27FC236}">
                <a16:creationId xmlns:a16="http://schemas.microsoft.com/office/drawing/2014/main" id="{A1A542B4-C683-4D9F-A515-E36899FA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4362450"/>
            <a:ext cx="822198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合同框架与
自报云合作；
无具名采用证据</a:t>
            </a:r>
          </a:p>
        </p:txBody>
      </p:sp>
      <p:sp>
        <p:nvSpPr>
          <p:cNvPr id="35" name="p3-cell-2-2">
            <a:extLst xmlns:a="http://schemas.openxmlformats.org/drawingml/2006/main">
              <a:ext uri="{FF2B5EF4-FFF2-40B4-BE49-F238E27FC236}">
                <a16:creationId xmlns:a16="http://schemas.microsoft.com/office/drawing/2014/main" id="{C6CF05AD-24DF-45CB-8693-6947F8FD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4362450"/>
            <a:ext cx="629031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公司自报合作；
无伙伴侧
部署证据</a:t>
            </a:r>
          </a:p>
        </p:txBody>
      </p:sp>
      <p:sp>
        <p:nvSpPr>
          <p:cNvPr id="36" name="p3-cell-2-3">
            <a:extLst xmlns:a="http://schemas.openxmlformats.org/drawingml/2006/main">
              <a:ext uri="{FF2B5EF4-FFF2-40B4-BE49-F238E27FC236}">
                <a16:creationId xmlns:a16="http://schemas.microsoft.com/office/drawing/2014/main" id="{CFD4EC8B-6442-41D1-8B34-78990788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4362450"/>
            <a:ext cx="435864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有价格与独立体验；
无付费客户或
生产证据</a:t>
            </a:r>
          </a:p>
        </p:txBody>
      </p:sp>
      <p:sp>
        <p:nvSpPr>
          <p:cNvPr id="37" name="p3-cell-2-4">
            <a:extLst xmlns:a="http://schemas.openxmlformats.org/drawingml/2006/main">
              <a:ext uri="{FF2B5EF4-FFF2-40B4-BE49-F238E27FC236}">
                <a16:creationId xmlns:a16="http://schemas.microsoft.com/office/drawing/2014/main" id="{94787868-E13E-4328-B787-DFD6D410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4362450"/>
            <a:ext cx="242697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伙伴自报早期测试 /
内部部署；无客户
第一方付费生产证据</a:t>
            </a:r>
          </a:p>
        </p:txBody>
      </p:sp>
      <p:sp>
        <p:nvSpPr>
          <p:cNvPr id="38" name="p3-row-bg-3">
            <a:extLst xmlns:a="http://schemas.openxmlformats.org/drawingml/2006/main">
              <a:ext uri="{FF2B5EF4-FFF2-40B4-BE49-F238E27FC236}">
                <a16:creationId xmlns:a16="http://schemas.microsoft.com/office/drawing/2014/main" id="{A9368567-F367-41D9-8B6A-EF1BFBD1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6"/>
          </a:solidFill>
        </p:spPr>
      </p:sp>
      <p:sp>
        <p:nvSpPr>
          <p:cNvPr id="39" name="p3-rowhead-3">
            <a:extLst xmlns:a="http://schemas.openxmlformats.org/drawingml/2006/main">
              <a:ext uri="{FF2B5EF4-FFF2-40B4-BE49-F238E27FC236}">
                <a16:creationId xmlns:a16="http://schemas.microsoft.com/office/drawing/2014/main" id="{36EC4521-E26F-435B-BC2E-D841137C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14681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
的意义</a:t>
            </a:r>
          </a:p>
        </p:txBody>
      </p:sp>
      <p:sp>
        <p:nvSpPr>
          <p:cNvPr id="40" name="p3-cell-3-0">
            <a:extLst xmlns:a="http://schemas.openxmlformats.org/drawingml/2006/main">
              <a:ext uri="{FF2B5EF4-FFF2-40B4-BE49-F238E27FC236}">
                <a16:creationId xmlns:a16="http://schemas.microsoft.com/office/drawing/2014/main" id="{15CA4F8C-C402-46F6-8B4B-9A6C6F85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101536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空间世界接口可能
绕行生成与交付</a:t>
            </a:r>
          </a:p>
        </p:txBody>
      </p:sp>
      <p:sp>
        <p:nvSpPr>
          <p:cNvPr id="41" name="p3-cell-3-1">
            <a:extLst xmlns:a="http://schemas.openxmlformats.org/drawingml/2006/main">
              <a:ext uri="{FF2B5EF4-FFF2-40B4-BE49-F238E27FC236}">
                <a16:creationId xmlns:a16="http://schemas.microsoft.com/office/drawing/2014/main" id="{A70FCE72-EFA7-480B-9DBF-B8CAEFC8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5619750"/>
            <a:ext cx="822198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若接口稳定，可成为
实时世界流基础设施</a:t>
            </a:r>
          </a:p>
        </p:txBody>
      </p:sp>
      <p:sp>
        <p:nvSpPr>
          <p:cNvPr id="42" name="p3-cell-3-2">
            <a:extLst xmlns:a="http://schemas.openxmlformats.org/drawingml/2006/main">
              <a:ext uri="{FF2B5EF4-FFF2-40B4-BE49-F238E27FC236}">
                <a16:creationId xmlns:a16="http://schemas.microsoft.com/office/drawing/2014/main" id="{91813EDA-8B45-4B0D-A2C3-E8A7E803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690" y="5619750"/>
            <a:ext cx="629031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内容平台向可探索
世界和机器人应用延伸</a:t>
            </a:r>
          </a:p>
        </p:txBody>
      </p:sp>
      <p:sp>
        <p:nvSpPr>
          <p:cNvPr id="43" name="p3-cell-3-3">
            <a:extLst xmlns:a="http://schemas.openxmlformats.org/drawingml/2006/main">
              <a:ext uri="{FF2B5EF4-FFF2-40B4-BE49-F238E27FC236}">
                <a16:creationId xmlns:a16="http://schemas.microsoft.com/office/drawing/2014/main" id="{D918BF84-B13C-407C-8C4B-F52E5B2C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5619750"/>
            <a:ext cx="435864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可计费驾驶接口把
竞争推向具体任务</a:t>
            </a:r>
          </a:p>
        </p:txBody>
      </p:sp>
      <p:sp>
        <p:nvSpPr>
          <p:cNvPr id="44" name="p3-cell-3-4">
            <a:extLst xmlns:a="http://schemas.openxmlformats.org/drawingml/2006/main">
              <a:ext uri="{FF2B5EF4-FFF2-40B4-BE49-F238E27FC236}">
                <a16:creationId xmlns:a16="http://schemas.microsoft.com/office/drawing/2014/main" id="{0372E042-CAF0-4F62-99C5-F8D9157F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5619750"/>
            <a:ext cx="242697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自托管组件可绕行
供应商，也可成为底层</a:t>
            </a:r>
          </a:p>
        </p:txBody>
      </p:sp>
      <p:sp>
        <p:nvSpPr>
          <p:cNvPr id="45" name="p3-h-0">
            <a:extLst xmlns:a="http://schemas.openxmlformats.org/drawingml/2006/main">
              <a:ext uri="{FF2B5EF4-FFF2-40B4-BE49-F238E27FC236}">
                <a16:creationId xmlns:a16="http://schemas.microsoft.com/office/drawing/2014/main" id="{033AD2EB-64CB-4A28-857A-01EEF61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6" name="p3-h-1">
            <a:extLst xmlns:a="http://schemas.openxmlformats.org/drawingml/2006/main">
              <a:ext uri="{FF2B5EF4-FFF2-40B4-BE49-F238E27FC236}">
                <a16:creationId xmlns:a16="http://schemas.microsoft.com/office/drawing/2014/main" id="{DA626300-8CB9-4988-8367-D8CCA119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7" name="p3-h-2">
            <a:extLst xmlns:a="http://schemas.openxmlformats.org/drawingml/2006/main">
              <a:ext uri="{FF2B5EF4-FFF2-40B4-BE49-F238E27FC236}">
                <a16:creationId xmlns:a16="http://schemas.microsoft.com/office/drawing/2014/main" id="{6D32C119-01D1-47ED-9A4D-C8776F5E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8" name="p3-h-3">
            <a:extLst xmlns:a="http://schemas.openxmlformats.org/drawingml/2006/main">
              <a:ext uri="{FF2B5EF4-FFF2-40B4-BE49-F238E27FC236}">
                <a16:creationId xmlns:a16="http://schemas.microsoft.com/office/drawing/2014/main" id="{2767A952-F8B2-4C7C-840B-5C5BFD4C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9" name="p3-footer-rule">
            <a:extLst xmlns:a="http://schemas.openxmlformats.org/drawingml/2006/main">
              <a:ext uri="{FF2B5EF4-FFF2-40B4-BE49-F238E27FC236}">
                <a16:creationId xmlns:a16="http://schemas.microsoft.com/office/drawing/2014/main" id="{A16DDF5A-2F7B-4516-AA84-9726135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50" name="p3-footer-source">
            <a:extLst xmlns:a="http://schemas.openxmlformats.org/drawingml/2006/main">
              <a:ext uri="{FF2B5EF4-FFF2-40B4-BE49-F238E27FC236}">
                <a16:creationId xmlns:a16="http://schemas.microsoft.com/office/drawing/2014/main" id="{E1E543B4-BD3A-44DF-B52F-FBC79343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来源：官方技术、产品、接入、价格和条款资料；公司/伙伴自报及独立体验</a:t>
            </a:r>
          </a:p>
        </p:txBody>
      </p:sp>
      <p:sp>
        <p:nvSpPr>
          <p:cNvPr id="51" name="p3-footer-page">
            <a:extLst xmlns:a="http://schemas.openxmlformats.org/drawingml/2006/main">
              <a:ext uri="{FF2B5EF4-FFF2-40B4-BE49-F238E27FC236}">
                <a16:creationId xmlns:a16="http://schemas.microsoft.com/office/drawing/2014/main" id="{9C00BF27-F939-41C0-8465-E8DF6CA0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03</a:t>
            </a:r>
          </a:p>
        </p:txBody>
      </p:sp>
    </p:spTree>
    <p:extLst>
      <p:ext uri="{BB962C8B-B14F-4D97-AF65-F5344CB8AC3E}">
        <p14:creationId xmlns:p14="http://schemas.microsoft.com/office/powerpoint/2010/main" val="2871005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4-identity">
            <a:extLst xmlns:a="http://schemas.openxmlformats.org/drawingml/2006/main">
              <a:ext uri="{FF2B5EF4-FFF2-40B4-BE49-F238E27FC236}">
                <a16:creationId xmlns:a16="http://schemas.microsoft.com/office/drawing/2014/main" id="{3812E220-F796-48D7-BF08-B9626081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创业公司 1/4 · WORLD LABS</a:t>
            </a:r>
          </a:p>
        </p:txBody>
      </p:sp>
      <p:sp>
        <p:nvSpPr>
          <p:cNvPr id="2" name="p4-title">
            <a:extLst xmlns:a="http://schemas.openxmlformats.org/drawingml/2006/main">
              <a:ext uri="{FF2B5EF4-FFF2-40B4-BE49-F238E27FC236}">
                <a16:creationId xmlns:a16="http://schemas.microsoft.com/office/drawing/2014/main" id="{73985927-E5F5-458C-817C-0534408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1582400" cy="624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World API 已开放计价；
动态交互和客户采用仍待证</a:t>
            </a:r>
          </a:p>
        </p:txBody>
      </p:sp>
      <p:sp>
        <p:nvSpPr>
          <p:cNvPr id="3" name="p4-route-line">
            <a:extLst xmlns:a="http://schemas.openxmlformats.org/drawingml/2006/main">
              <a:ext uri="{FF2B5EF4-FFF2-40B4-BE49-F238E27FC236}">
                <a16:creationId xmlns:a16="http://schemas.microsoft.com/office/drawing/2014/main" id="{500A6B76-841D-4D90-9977-6711E095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4" name="p4-route">
            <a:extLst xmlns:a="http://schemas.openxmlformats.org/drawingml/2006/main">
              <a:ext uri="{FF2B5EF4-FFF2-40B4-BE49-F238E27FC236}">
                <a16:creationId xmlns:a16="http://schemas.microsoft.com/office/drawing/2014/main" id="{46125F7E-BEE5-485F-AB82-5FE77879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11049000" cy="523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持久空间世界 · 公开计价接口</a:t>
            </a:r>
          </a:p>
        </p:txBody>
      </p:sp>
      <p:sp>
        <p:nvSpPr>
          <p:cNvPr id="5" name="p4-established-bg">
            <a:extLst xmlns:a="http://schemas.openxmlformats.org/drawingml/2006/main">
              <a:ext uri="{FF2B5EF4-FFF2-40B4-BE49-F238E27FC236}">
                <a16:creationId xmlns:a16="http://schemas.microsoft.com/office/drawing/2014/main" id="{50E2C89C-461D-48A4-867C-4158B35E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8199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6" name="p4-established-rule">
            <a:extLst xmlns:a="http://schemas.openxmlformats.org/drawingml/2006/main">
              <a:ext uri="{FF2B5EF4-FFF2-40B4-BE49-F238E27FC236}">
                <a16:creationId xmlns:a16="http://schemas.microsoft.com/office/drawing/2014/main" id="{A2B09602-3868-45AD-AD6B-827263FE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7" name="p4-established-label">
            <a:extLst xmlns:a="http://schemas.openxmlformats.org/drawingml/2006/main">
              <a:ext uri="{FF2B5EF4-FFF2-40B4-BE49-F238E27FC236}">
                <a16:creationId xmlns:a16="http://schemas.microsoft.com/office/drawing/2014/main" id="{D560332F-6254-4FB6-BD67-76A78287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1315700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8" name="p4-component-divider">
            <a:extLst xmlns:a="http://schemas.openxmlformats.org/drawingml/2006/main">
              <a:ext uri="{FF2B5EF4-FFF2-40B4-BE49-F238E27FC236}">
                <a16:creationId xmlns:a16="http://schemas.microsoft.com/office/drawing/2014/main" id="{B546AE03-0671-4345-8FBB-6DD1801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00350"/>
            <a:ext cx="95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9" name="p4-rtfm-name">
            <a:extLst xmlns:a="http://schemas.openxmlformats.org/drawingml/2006/main">
              <a:ext uri="{FF2B5EF4-FFF2-40B4-BE49-F238E27FC236}">
                <a16:creationId xmlns:a16="http://schemas.microsoft.com/office/drawing/2014/main" id="{B7186897-249F-4C2C-9D37-A47E16F5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13157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RTFM</a:t>
            </a:r>
          </a:p>
        </p:txBody>
      </p:sp>
      <p:sp>
        <p:nvSpPr>
          <p:cNvPr id="10" name="p4-rtfm-body">
            <a:extLst xmlns:a="http://schemas.openxmlformats.org/drawingml/2006/main">
              <a:ext uri="{FF2B5EF4-FFF2-40B4-BE49-F238E27FC236}">
                <a16:creationId xmlns:a16="http://schemas.microsoft.com/office/drawing/2014/main" id="{642451C0-868E-4FD0-A24E-60E60049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11315700" cy="3562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位姿条件未来视图
与空间记忆已经公开；
动态物体仍待证。</a:t>
            </a:r>
          </a:p>
        </p:txBody>
      </p:sp>
      <p:sp>
        <p:nvSpPr>
          <p:cNvPr id="11" name="p4-api-name">
            <a:extLst xmlns:a="http://schemas.openxmlformats.org/drawingml/2006/main">
              <a:ext uri="{FF2B5EF4-FFF2-40B4-BE49-F238E27FC236}">
                <a16:creationId xmlns:a16="http://schemas.microsoft.com/office/drawing/2014/main" id="{600F5E5A-6159-4793-9AC5-7AF27747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794385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Marble / World API</a:t>
            </a:r>
          </a:p>
        </p:txBody>
      </p:sp>
      <p:sp>
        <p:nvSpPr>
          <p:cNvPr id="12" name="p4-api-body">
            <a:extLst xmlns:a="http://schemas.openxmlformats.org/drawingml/2006/main">
              <a:ext uri="{FF2B5EF4-FFF2-40B4-BE49-F238E27FC236}">
                <a16:creationId xmlns:a16="http://schemas.microsoft.com/office/drawing/2014/main" id="{E81845D9-E9E6-4F8D-B708-371DAC10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7943850" cy="3562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已有公开计价；
与 RTFM 分立，
两条路线需单独判断。</a:t>
            </a:r>
          </a:p>
        </p:txBody>
      </p:sp>
      <p:sp>
        <p:nvSpPr>
          <p:cNvPr id="13" name="p4-not-bg">
            <a:extLst xmlns:a="http://schemas.openxmlformats.org/drawingml/2006/main">
              <a:ext uri="{FF2B5EF4-FFF2-40B4-BE49-F238E27FC236}">
                <a16:creationId xmlns:a16="http://schemas.microsoft.com/office/drawing/2014/main" id="{19B0D582-160F-4618-8D67-5F87E262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38350"/>
            <a:ext cx="3619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4" name="p4-not-rule">
            <a:extLst xmlns:a="http://schemas.openxmlformats.org/drawingml/2006/main">
              <a:ext uri="{FF2B5EF4-FFF2-40B4-BE49-F238E27FC236}">
                <a16:creationId xmlns:a16="http://schemas.microsoft.com/office/drawing/2014/main" id="{C6628126-D7CA-4EBE-8A9F-3A500DB1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1"/>
          </a:solidFill>
        </p:spPr>
      </p:sp>
      <p:sp>
        <p:nvSpPr>
          <p:cNvPr id="15" name="p4-not-label">
            <a:extLst xmlns:a="http://schemas.openxmlformats.org/drawingml/2006/main">
              <a:ext uri="{FF2B5EF4-FFF2-40B4-BE49-F238E27FC236}">
                <a16:creationId xmlns:a16="http://schemas.microsoft.com/office/drawing/2014/main" id="{97F6152E-458C-42C1-AF1F-82DDACA6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4267200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16" name="p4-not-list-dot-0">
            <a:extLst xmlns:a="http://schemas.openxmlformats.org/drawingml/2006/main">
              <a:ext uri="{FF2B5EF4-FFF2-40B4-BE49-F238E27FC236}">
                <a16:creationId xmlns:a16="http://schemas.microsoft.com/office/drawing/2014/main" id="{5A30FD51-88D9-4368-84E9-D48F2562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4267200" cy="407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17" name="p4-not-list-text-0">
            <a:extLst xmlns:a="http://schemas.openxmlformats.org/drawingml/2006/main">
              <a:ext uri="{FF2B5EF4-FFF2-40B4-BE49-F238E27FC236}">
                <a16:creationId xmlns:a16="http://schemas.microsoft.com/office/drawing/2014/main" id="{B5E57E6C-9299-4CA8-B00D-571D5192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4038600" cy="407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持久动态物体</a:t>
            </a:r>
          </a:p>
        </p:txBody>
      </p:sp>
      <p:sp>
        <p:nvSpPr>
          <p:cNvPr id="18" name="p4-not-list-dot-1">
            <a:extLst xmlns:a="http://schemas.openxmlformats.org/drawingml/2006/main">
              <a:ext uri="{FF2B5EF4-FFF2-40B4-BE49-F238E27FC236}">
                <a16:creationId xmlns:a16="http://schemas.microsoft.com/office/drawing/2014/main" id="{43B44F73-20A4-43FA-BB96-67FA32DA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42672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19" name="p4-not-list-text-1">
            <a:extLst xmlns:a="http://schemas.openxmlformats.org/drawingml/2006/main">
              <a:ext uri="{FF2B5EF4-FFF2-40B4-BE49-F238E27FC236}">
                <a16:creationId xmlns:a16="http://schemas.microsoft.com/office/drawing/2014/main" id="{088361D8-15DF-4597-8A71-8BC86F6C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40386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独立系统复现</a:t>
            </a:r>
          </a:p>
        </p:txBody>
      </p:sp>
      <p:sp>
        <p:nvSpPr>
          <p:cNvPr id="20" name="p4-not-list-dot-2">
            <a:extLst xmlns:a="http://schemas.openxmlformats.org/drawingml/2006/main">
              <a:ext uri="{FF2B5EF4-FFF2-40B4-BE49-F238E27FC236}">
                <a16:creationId xmlns:a16="http://schemas.microsoft.com/office/drawing/2014/main" id="{51AC0D95-D379-46DC-BB05-C4CD2F35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05200"/>
            <a:ext cx="4267200" cy="335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1" name="p4-not-list-text-2">
            <a:extLst xmlns:a="http://schemas.openxmlformats.org/drawingml/2006/main">
              <a:ext uri="{FF2B5EF4-FFF2-40B4-BE49-F238E27FC236}">
                <a16:creationId xmlns:a16="http://schemas.microsoft.com/office/drawing/2014/main" id="{54E7E3B0-E36A-4BBF-BA68-F65B9369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05200"/>
            <a:ext cx="4038600" cy="335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客户第一方付费生产采用</a:t>
            </a:r>
          </a:p>
        </p:txBody>
      </p:sp>
      <p:sp>
        <p:nvSpPr>
          <p:cNvPr id="22" name="p4-not-list-dot-3">
            <a:extLst xmlns:a="http://schemas.openxmlformats.org/drawingml/2006/main">
              <a:ext uri="{FF2B5EF4-FFF2-40B4-BE49-F238E27FC236}">
                <a16:creationId xmlns:a16="http://schemas.microsoft.com/office/drawing/2014/main" id="{E56D49EB-E02A-45DB-A340-BC97EBF3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4267200" cy="2990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3" name="p4-not-list-text-3">
            <a:extLst xmlns:a="http://schemas.openxmlformats.org/drawingml/2006/main">
              <a:ext uri="{FF2B5EF4-FFF2-40B4-BE49-F238E27FC236}">
                <a16:creationId xmlns:a16="http://schemas.microsoft.com/office/drawing/2014/main" id="{AFE8A41C-6711-455C-B862-49D58D03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67150"/>
            <a:ext cx="4038600" cy="2990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服务与内容权仍有采购摩擦</a:t>
            </a:r>
          </a:p>
        </p:txBody>
      </p:sp>
      <p:sp>
        <p:nvSpPr>
          <p:cNvPr id="24" name="p4-meaning-bg">
            <a:extLst xmlns:a="http://schemas.openxmlformats.org/drawingml/2006/main">
              <a:ext uri="{FF2B5EF4-FFF2-40B4-BE49-F238E27FC236}">
                <a16:creationId xmlns:a16="http://schemas.microsoft.com/office/drawing/2014/main" id="{5906645B-F306-4E95-89F0-61C6F953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6819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25" name="p4-meaning-rule">
            <a:extLst xmlns:a="http://schemas.openxmlformats.org/drawingml/2006/main">
              <a:ext uri="{FF2B5EF4-FFF2-40B4-BE49-F238E27FC236}">
                <a16:creationId xmlns:a16="http://schemas.microsoft.com/office/drawing/2014/main" id="{8EA7AA0D-A90C-483F-85E8-78F35845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26" name="p4-meaning-label">
            <a:extLst xmlns:a="http://schemas.openxmlformats.org/drawingml/2006/main">
              <a:ext uri="{FF2B5EF4-FFF2-40B4-BE49-F238E27FC236}">
                <a16:creationId xmlns:a16="http://schemas.microsoft.com/office/drawing/2014/main" id="{8AE9AA08-8368-47EF-AEF7-2956DD28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131570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27" name="p4-meaning-body">
            <a:extLst xmlns:a="http://schemas.openxmlformats.org/drawingml/2006/main">
              <a:ext uri="{FF2B5EF4-FFF2-40B4-BE49-F238E27FC236}">
                <a16:creationId xmlns:a16="http://schemas.microsoft.com/office/drawing/2014/main" id="{B0AFDC70-BBBE-4C5B-9065-D34E4B54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13157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空间世界接口可能绕行专有生成与交付；
但仍不能确认双方已争夺相同客户或预算。</a:t>
            </a:r>
          </a:p>
        </p:txBody>
      </p:sp>
      <p:sp>
        <p:nvSpPr>
          <p:cNvPr id="28" name="p4-trigger-bg">
            <a:extLst xmlns:a="http://schemas.openxmlformats.org/drawingml/2006/main">
              <a:ext uri="{FF2B5EF4-FFF2-40B4-BE49-F238E27FC236}">
                <a16:creationId xmlns:a16="http://schemas.microsoft.com/office/drawing/2014/main" id="{445E597B-A8F7-4EA8-92ED-361920A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14850"/>
            <a:ext cx="3619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29" name="p4-trigger-rule">
            <a:extLst xmlns:a="http://schemas.openxmlformats.org/drawingml/2006/main">
              <a:ext uri="{FF2B5EF4-FFF2-40B4-BE49-F238E27FC236}">
                <a16:creationId xmlns:a16="http://schemas.microsoft.com/office/drawing/2014/main" id="{816B01EA-A67C-4534-9349-5758678E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244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30" name="p4-trigger-label">
            <a:extLst xmlns:a="http://schemas.openxmlformats.org/drawingml/2006/main">
              <a:ext uri="{FF2B5EF4-FFF2-40B4-BE49-F238E27FC236}">
                <a16:creationId xmlns:a16="http://schemas.microsoft.com/office/drawing/2014/main" id="{DFAB0858-F665-4043-BBE9-31C4E667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19650"/>
            <a:ext cx="426720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31" name="p4-trigger-body">
            <a:extLst xmlns:a="http://schemas.openxmlformats.org/drawingml/2006/main">
              <a:ext uri="{FF2B5EF4-FFF2-40B4-BE49-F238E27FC236}">
                <a16:creationId xmlns:a16="http://schemas.microsoft.com/office/drawing/2014/main" id="{86B3DD9C-F399-433A-9037-88DC569E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19700"/>
            <a:ext cx="42672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RTFM 获得独立复现，
或 World API 形成版本化服务。</a:t>
            </a:r>
          </a:p>
        </p:txBody>
      </p:sp>
      <p:sp>
        <p:nvSpPr>
          <p:cNvPr id="32" name="p4-footer-rule">
            <a:extLst xmlns:a="http://schemas.openxmlformats.org/drawingml/2006/main">
              <a:ext uri="{FF2B5EF4-FFF2-40B4-BE49-F238E27FC236}">
                <a16:creationId xmlns:a16="http://schemas.microsoft.com/office/drawing/2014/main" id="{DC46A98F-9CF7-489F-B62B-AD68EBCB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3" name="p4-footer-source">
            <a:extLst xmlns:a="http://schemas.openxmlformats.org/drawingml/2006/main">
              <a:ext uri="{FF2B5EF4-FFF2-40B4-BE49-F238E27FC236}">
                <a16:creationId xmlns:a16="http://schemas.microsoft.com/office/drawing/2014/main" id="{9C39CDD4-2F97-4EC1-A4C6-325724E3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RTFM 与 World API 分立｜来源：官方研究/项目页、API、价格、条款及厂商案例</a:t>
            </a:r>
          </a:p>
        </p:txBody>
      </p:sp>
      <p:sp>
        <p:nvSpPr>
          <p:cNvPr id="34" name="p4-footer-page">
            <a:extLst xmlns:a="http://schemas.openxmlformats.org/drawingml/2006/main">
              <a:ext uri="{FF2B5EF4-FFF2-40B4-BE49-F238E27FC236}">
                <a16:creationId xmlns:a16="http://schemas.microsoft.com/office/drawing/2014/main" id="{F2FDFF78-285F-457E-A0D7-6A9FB145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04</a:t>
            </a:r>
          </a:p>
        </p:txBody>
      </p:sp>
    </p:spTree>
    <p:extLst>
      <p:ext uri="{BB962C8B-B14F-4D97-AF65-F5344CB8AC3E}">
        <p14:creationId xmlns:p14="http://schemas.microsoft.com/office/powerpoint/2010/main" val="4284859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5-identity">
            <a:extLst xmlns:a="http://schemas.openxmlformats.org/drawingml/2006/main">
              <a:ext uri="{FF2B5EF4-FFF2-40B4-BE49-F238E27FC236}">
                <a16:creationId xmlns:a16="http://schemas.microsoft.com/office/drawing/2014/main" id="{1EAB1E2B-9CBA-4ED7-85AF-FA6F0C76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创业公司 2/4 · ODYSSEY</a:t>
            </a:r>
          </a:p>
        </p:txBody>
      </p:sp>
      <p:sp>
        <p:nvSpPr>
          <p:cNvPr id="2" name="p5-title">
            <a:extLst xmlns:a="http://schemas.openxmlformats.org/drawingml/2006/main">
              <a:ext uri="{FF2B5EF4-FFF2-40B4-BE49-F238E27FC236}">
                <a16:creationId xmlns:a16="http://schemas.microsoft.com/office/drawing/2014/main" id="{0545FAB2-46BD-4299-99D1-1A32F831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1582400" cy="624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实时世界流已写进开发者接口；
账户、稳定性和服务等级仍待证</a:t>
            </a:r>
          </a:p>
        </p:txBody>
      </p:sp>
      <p:sp>
        <p:nvSpPr>
          <p:cNvPr id="3" name="p5-route-line">
            <a:extLst xmlns:a="http://schemas.openxmlformats.org/drawingml/2006/main">
              <a:ext uri="{FF2B5EF4-FFF2-40B4-BE49-F238E27FC236}">
                <a16:creationId xmlns:a16="http://schemas.microsoft.com/office/drawing/2014/main" id="{FC58D9D4-0BF0-4FDF-B3F8-36D6FD50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4" name="p5-route">
            <a:extLst xmlns:a="http://schemas.openxmlformats.org/drawingml/2006/main">
              <a:ext uri="{FF2B5EF4-FFF2-40B4-BE49-F238E27FC236}">
                <a16:creationId xmlns:a16="http://schemas.microsoft.com/office/drawing/2014/main" id="{63CF009C-CCC2-4A34-BF65-138FE6EA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11049000" cy="523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实时世界流 · 文档化接口</a:t>
            </a:r>
          </a:p>
        </p:txBody>
      </p:sp>
      <p:sp>
        <p:nvSpPr>
          <p:cNvPr id="5" name="p5-left-bg">
            <a:extLst xmlns:a="http://schemas.openxmlformats.org/drawingml/2006/main">
              <a:ext uri="{FF2B5EF4-FFF2-40B4-BE49-F238E27FC236}">
                <a16:creationId xmlns:a16="http://schemas.microsoft.com/office/drawing/2014/main" id="{972DDC90-E5AD-43EF-A6F7-86609401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38175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6" name="p5-established-rule">
            <a:extLst xmlns:a="http://schemas.openxmlformats.org/drawingml/2006/main">
              <a:ext uri="{FF2B5EF4-FFF2-40B4-BE49-F238E27FC236}">
                <a16:creationId xmlns:a16="http://schemas.microsoft.com/office/drawing/2014/main" id="{E99C95AE-DA95-45E1-89AF-029CBE10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7" name="p5-established-label">
            <a:extLst xmlns:a="http://schemas.openxmlformats.org/drawingml/2006/main">
              <a:ext uri="{FF2B5EF4-FFF2-40B4-BE49-F238E27FC236}">
                <a16:creationId xmlns:a16="http://schemas.microsoft.com/office/drawing/2014/main" id="{79BE35A9-920E-450C-8617-7C32B26B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1315700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8" name="p5-established-body">
            <a:extLst xmlns:a="http://schemas.openxmlformats.org/drawingml/2006/main">
              <a:ext uri="{FF2B5EF4-FFF2-40B4-BE49-F238E27FC236}">
                <a16:creationId xmlns:a16="http://schemas.microsoft.com/office/drawing/2014/main" id="{C9A2D2A1-D99F-44FF-920B-0B43147A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13157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Odyssey-2 Pro 根据历史状态与用户动作生成后续画面。
厂商文档给出密钥、JavaScript / Python 接入和连接规则。</a:t>
            </a:r>
          </a:p>
        </p:txBody>
      </p:sp>
      <p:sp>
        <p:nvSpPr>
          <p:cNvPr id="9" name="p5-left-rule">
            <a:extLst xmlns:a="http://schemas.openxmlformats.org/drawingml/2006/main">
              <a:ext uri="{FF2B5EF4-FFF2-40B4-BE49-F238E27FC236}">
                <a16:creationId xmlns:a16="http://schemas.microsoft.com/office/drawing/2014/main" id="{03A1F60A-1D80-41B5-9C29-398E5B69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0" name="p5-meaning-rule">
            <a:extLst xmlns:a="http://schemas.openxmlformats.org/drawingml/2006/main">
              <a:ext uri="{FF2B5EF4-FFF2-40B4-BE49-F238E27FC236}">
                <a16:creationId xmlns:a16="http://schemas.microsoft.com/office/drawing/2014/main" id="{BB05077C-ADCB-4F42-9408-D988504E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11" name="p5-meaning-label">
            <a:extLst xmlns:a="http://schemas.openxmlformats.org/drawingml/2006/main">
              <a:ext uri="{FF2B5EF4-FFF2-40B4-BE49-F238E27FC236}">
                <a16:creationId xmlns:a16="http://schemas.microsoft.com/office/drawing/2014/main" id="{9BC55FB0-6C3E-4A74-87C2-287E7352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1315700" cy="28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12" name="p5-meaning-body">
            <a:extLst xmlns:a="http://schemas.openxmlformats.org/drawingml/2006/main">
              <a:ext uri="{FF2B5EF4-FFF2-40B4-BE49-F238E27FC236}">
                <a16:creationId xmlns:a16="http://schemas.microsoft.com/office/drawing/2014/main" id="{6848C9F3-1DDB-4FBB-AA0A-8B694E38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131570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若账户、可靠性和单位经济性闭合，
它可能成为实时世界流基础设施；
目前只能作条件性判断。</a:t>
            </a:r>
          </a:p>
        </p:txBody>
      </p:sp>
      <p:sp>
        <p:nvSpPr>
          <p:cNvPr id="13" name="p5-trigger-top">
            <a:extLst xmlns:a="http://schemas.openxmlformats.org/drawingml/2006/main">
              <a:ext uri="{FF2B5EF4-FFF2-40B4-BE49-F238E27FC236}">
                <a16:creationId xmlns:a16="http://schemas.microsoft.com/office/drawing/2014/main" id="{99D1D030-2E3E-49AF-9E0C-0F3117B1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14" name="p5-trigger-label">
            <a:extLst xmlns:a="http://schemas.openxmlformats.org/drawingml/2006/main">
              <a:ext uri="{FF2B5EF4-FFF2-40B4-BE49-F238E27FC236}">
                <a16:creationId xmlns:a16="http://schemas.microsoft.com/office/drawing/2014/main" id="{1223AD93-9408-4B27-9147-DD686E7A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131570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15" name="p5-trigger-body">
            <a:extLst xmlns:a="http://schemas.openxmlformats.org/drawingml/2006/main">
              <a:ext uri="{FF2B5EF4-FFF2-40B4-BE49-F238E27FC236}">
                <a16:creationId xmlns:a16="http://schemas.microsoft.com/office/drawing/2014/main" id="{F3EC84D3-62BE-4263-AA35-7E5F79FA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13157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独立账户在公开价格和服务等级下
完成长时稳定调用。</a:t>
            </a:r>
          </a:p>
        </p:txBody>
      </p:sp>
      <p:sp>
        <p:nvSpPr>
          <p:cNvPr id="16" name="p5-limits-bg">
            <a:extLst xmlns:a="http://schemas.openxmlformats.org/drawingml/2006/main">
              <a:ext uri="{FF2B5EF4-FFF2-40B4-BE49-F238E27FC236}">
                <a16:creationId xmlns:a16="http://schemas.microsoft.com/office/drawing/2014/main" id="{E1A0CD78-D4BF-4E7C-9643-1998452F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405765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7" name="p5-limits-title">
            <a:extLst xmlns:a="http://schemas.openxmlformats.org/drawingml/2006/main">
              <a:ext uri="{FF2B5EF4-FFF2-40B4-BE49-F238E27FC236}">
                <a16:creationId xmlns:a16="http://schemas.microsoft.com/office/drawing/2014/main" id="{3C6D6CE7-53C0-4306-8472-96550328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86000"/>
            <a:ext cx="4686300" cy="45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仍未闭合的服务条件</a:t>
            </a:r>
          </a:p>
        </p:txBody>
      </p:sp>
      <p:sp>
        <p:nvSpPr>
          <p:cNvPr id="18" name="p5-limit-big-0">
            <a:extLst xmlns:a="http://schemas.openxmlformats.org/drawingml/2006/main">
              <a:ext uri="{FF2B5EF4-FFF2-40B4-BE49-F238E27FC236}">
                <a16:creationId xmlns:a16="http://schemas.microsoft.com/office/drawing/2014/main" id="{2FD20C25-2C63-46AD-86CF-368D58C6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46863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账户</a:t>
            </a:r>
          </a:p>
        </p:txBody>
      </p:sp>
      <p:sp>
        <p:nvSpPr>
          <p:cNvPr id="19" name="p5-limit-small-0">
            <a:extLst xmlns:a="http://schemas.openxmlformats.org/drawingml/2006/main">
              <a:ext uri="{FF2B5EF4-FFF2-40B4-BE49-F238E27FC236}">
                <a16:creationId xmlns:a16="http://schemas.microsoft.com/office/drawing/2014/main" id="{237F84F4-695F-4038-A3A1-C34F5A70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0"/>
            <a:ext cx="3467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实际账户与持续调用未独立确认</a:t>
            </a:r>
          </a:p>
        </p:txBody>
      </p:sp>
      <p:sp>
        <p:nvSpPr>
          <p:cNvPr id="20" name="p5-limit-rule-1">
            <a:extLst xmlns:a="http://schemas.openxmlformats.org/drawingml/2006/main">
              <a:ext uri="{FF2B5EF4-FFF2-40B4-BE49-F238E27FC236}">
                <a16:creationId xmlns:a16="http://schemas.microsoft.com/office/drawing/2014/main" id="{5BD4010F-DD42-4253-9D5F-E7DDEA33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909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21" name="p5-limit-big-1">
            <a:extLst xmlns:a="http://schemas.openxmlformats.org/drawingml/2006/main">
              <a:ext uri="{FF2B5EF4-FFF2-40B4-BE49-F238E27FC236}">
                <a16:creationId xmlns:a16="http://schemas.microsoft.com/office/drawing/2014/main" id="{177F99ED-4F2D-4422-AFA4-8CFF3014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86150"/>
            <a:ext cx="468630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150 秒</a:t>
            </a:r>
          </a:p>
        </p:txBody>
      </p:sp>
      <p:sp>
        <p:nvSpPr>
          <p:cNvPr id="22" name="p5-limit-small-1">
            <a:extLst xmlns:a="http://schemas.openxmlformats.org/drawingml/2006/main">
              <a:ext uri="{FF2B5EF4-FFF2-40B4-BE49-F238E27FC236}">
                <a16:creationId xmlns:a16="http://schemas.microsoft.com/office/drawing/2014/main" id="{F3119DB7-4358-4C16-A4D9-3D7F480A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86150"/>
            <a:ext cx="346710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当前默认单流上限</a:t>
            </a:r>
          </a:p>
        </p:txBody>
      </p:sp>
      <p:sp>
        <p:nvSpPr>
          <p:cNvPr id="23" name="p5-limit-rule-2">
            <a:extLst xmlns:a="http://schemas.openxmlformats.org/drawingml/2006/main">
              <a:ext uri="{FF2B5EF4-FFF2-40B4-BE49-F238E27FC236}">
                <a16:creationId xmlns:a16="http://schemas.microsoft.com/office/drawing/2014/main" id="{86E0C01D-134E-479F-AB11-17086D56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9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24" name="p5-limit-big-2">
            <a:extLst xmlns:a="http://schemas.openxmlformats.org/drawingml/2006/main">
              <a:ext uri="{FF2B5EF4-FFF2-40B4-BE49-F238E27FC236}">
                <a16:creationId xmlns:a16="http://schemas.microsoft.com/office/drawing/2014/main" id="{DC532C24-ACF4-4A8D-B8DD-483D344C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14800"/>
            <a:ext cx="4686300" cy="274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60 分钟</a:t>
            </a:r>
          </a:p>
        </p:txBody>
      </p:sp>
      <p:sp>
        <p:nvSpPr>
          <p:cNvPr id="25" name="p5-limit-small-2">
            <a:extLst xmlns:a="http://schemas.openxmlformats.org/drawingml/2006/main">
              <a:ext uri="{FF2B5EF4-FFF2-40B4-BE49-F238E27FC236}">
                <a16:creationId xmlns:a16="http://schemas.microsoft.com/office/drawing/2014/main" id="{65EE4433-232C-4254-B34A-31356CC7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14800"/>
            <a:ext cx="3467100" cy="274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当前默认单连接上限</a:t>
            </a:r>
          </a:p>
        </p:txBody>
      </p:sp>
      <p:sp>
        <p:nvSpPr>
          <p:cNvPr id="26" name="p5-limit-rule-3">
            <a:extLst xmlns:a="http://schemas.openxmlformats.org/drawingml/2006/main">
              <a:ext uri="{FF2B5EF4-FFF2-40B4-BE49-F238E27FC236}">
                <a16:creationId xmlns:a16="http://schemas.microsoft.com/office/drawing/2014/main" id="{26B9A54D-552A-408F-8D99-61A98449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48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27" name="p5-limit-big-3">
            <a:extLst xmlns:a="http://schemas.openxmlformats.org/drawingml/2006/main">
              <a:ext uri="{FF2B5EF4-FFF2-40B4-BE49-F238E27FC236}">
                <a16:creationId xmlns:a16="http://schemas.microsoft.com/office/drawing/2014/main" id="{89FCCAF5-F5EC-456B-8ABA-29556CF4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43450"/>
            <a:ext cx="468630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15 分钟</a:t>
            </a:r>
          </a:p>
        </p:txBody>
      </p:sp>
      <p:sp>
        <p:nvSpPr>
          <p:cNvPr id="28" name="p5-limit-small-3">
            <a:extLst xmlns:a="http://schemas.openxmlformats.org/drawingml/2006/main">
              <a:ext uri="{FF2B5EF4-FFF2-40B4-BE49-F238E27FC236}">
                <a16:creationId xmlns:a16="http://schemas.microsoft.com/office/drawing/2014/main" id="{253AAC61-C7F3-49D6-8681-13874857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43450"/>
            <a:ext cx="346710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无活动流自动断开</a:t>
            </a:r>
          </a:p>
        </p:txBody>
      </p:sp>
      <p:sp>
        <p:nvSpPr>
          <p:cNvPr id="29" name="p5-limit-note">
            <a:extLst xmlns:a="http://schemas.openxmlformats.org/drawingml/2006/main">
              <a:ext uri="{FF2B5EF4-FFF2-40B4-BE49-F238E27FC236}">
                <a16:creationId xmlns:a16="http://schemas.microsoft.com/office/drawing/2014/main" id="{76A84377-FB1F-4FB2-A559-0B9D39CA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581650"/>
            <a:ext cx="46863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这些运营限制均不构成服务等级保证。</a:t>
            </a:r>
          </a:p>
        </p:txBody>
      </p:sp>
      <p:sp>
        <p:nvSpPr>
          <p:cNvPr id="30" name="p5-footer-rule">
            <a:extLst xmlns:a="http://schemas.openxmlformats.org/drawingml/2006/main">
              <a:ext uri="{FF2B5EF4-FFF2-40B4-BE49-F238E27FC236}">
                <a16:creationId xmlns:a16="http://schemas.microsoft.com/office/drawing/2014/main" id="{6E2CD7B9-C22B-4BBE-83C2-93C464F5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1" name="p5-footer-source">
            <a:extLst xmlns:a="http://schemas.openxmlformats.org/drawingml/2006/main">
              <a:ext uri="{FF2B5EF4-FFF2-40B4-BE49-F238E27FC236}">
                <a16:creationId xmlns:a16="http://schemas.microsoft.com/office/drawing/2014/main" id="{35DA76AE-8C22-4811-A0CF-9A3D0057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来源：官方开发者文档、运营限制与条款；公司自报云合作</a:t>
            </a:r>
          </a:p>
        </p:txBody>
      </p:sp>
      <p:sp>
        <p:nvSpPr>
          <p:cNvPr id="32" name="p5-footer-page">
            <a:extLst xmlns:a="http://schemas.openxmlformats.org/drawingml/2006/main">
              <a:ext uri="{FF2B5EF4-FFF2-40B4-BE49-F238E27FC236}">
                <a16:creationId xmlns:a16="http://schemas.microsoft.com/office/drawing/2014/main" id="{65342165-DE37-4AB6-9C23-984FD959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05</a:t>
            </a:r>
          </a:p>
        </p:txBody>
      </p:sp>
    </p:spTree>
    <p:extLst>
      <p:ext uri="{BB962C8B-B14F-4D97-AF65-F5344CB8AC3E}">
        <p14:creationId xmlns:p14="http://schemas.microsoft.com/office/powerpoint/2010/main" val="749202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6-identity">
            <a:extLst xmlns:a="http://schemas.openxmlformats.org/drawingml/2006/main">
              <a:ext uri="{FF2B5EF4-FFF2-40B4-BE49-F238E27FC236}">
                <a16:creationId xmlns:a16="http://schemas.microsoft.com/office/drawing/2014/main" id="{50B6E9C3-6EE7-4255-878F-EB501773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创业公司 3/4 · RUNWAY</a:t>
            </a:r>
          </a:p>
        </p:txBody>
      </p:sp>
      <p:sp>
        <p:nvSpPr>
          <p:cNvPr id="2" name="p6-title">
            <a:extLst xmlns:a="http://schemas.openxmlformats.org/drawingml/2006/main">
              <a:ext uri="{FF2B5EF4-FFF2-40B4-BE49-F238E27FC236}">
                <a16:creationId xmlns:a16="http://schemas.microsoft.com/office/drawing/2014/main" id="{E4EB3368-4041-4490-A9B2-24115AA5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1582400" cy="624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Runway 同时押注 Worlds 与 Robotics；
两条路线都还处在早期</a:t>
            </a:r>
          </a:p>
        </p:txBody>
      </p:sp>
      <p:sp>
        <p:nvSpPr>
          <p:cNvPr id="3" name="p6-route-line">
            <a:extLst xmlns:a="http://schemas.openxmlformats.org/drawingml/2006/main">
              <a:ext uri="{FF2B5EF4-FFF2-40B4-BE49-F238E27FC236}">
                <a16:creationId xmlns:a16="http://schemas.microsoft.com/office/drawing/2014/main" id="{559B293A-CF3D-4C73-9944-E3498E62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4" name="p6-route">
            <a:extLst xmlns:a="http://schemas.openxmlformats.org/drawingml/2006/main">
              <a:ext uri="{FF2B5EF4-FFF2-40B4-BE49-F238E27FC236}">
                <a16:creationId xmlns:a16="http://schemas.microsoft.com/office/drawing/2014/main" id="{564D2A68-67C4-46B6-A522-279598AA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11049000" cy="523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内容平台外延 · 申请制入口</a:t>
            </a:r>
          </a:p>
        </p:txBody>
      </p:sp>
      <p:sp>
        <p:nvSpPr>
          <p:cNvPr id="5" name="p6-worlds-bg">
            <a:extLst xmlns:a="http://schemas.openxmlformats.org/drawingml/2006/main">
              <a:ext uri="{FF2B5EF4-FFF2-40B4-BE49-F238E27FC236}">
                <a16:creationId xmlns:a16="http://schemas.microsoft.com/office/drawing/2014/main" id="{25B91A33-1722-4F4C-9DCA-BC277833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143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D"/>
          </a:solidFill>
        </p:spPr>
      </p:sp>
      <p:sp>
        <p:nvSpPr>
          <p:cNvPr id="6" name="p6-worlds-kicker">
            <a:extLst xmlns:a="http://schemas.openxmlformats.org/drawingml/2006/main">
              <a:ext uri="{FF2B5EF4-FFF2-40B4-BE49-F238E27FC236}">
                <a16:creationId xmlns:a16="http://schemas.microsoft.com/office/drawing/2014/main" id="{558A0E91-F9CA-4F96-B60F-F021AF49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1315700" cy="459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已成立 · 路线 A</a:t>
            </a:r>
          </a:p>
        </p:txBody>
      </p:sp>
      <p:sp>
        <p:nvSpPr>
          <p:cNvPr id="7" name="p6-worlds-name">
            <a:extLst xmlns:a="http://schemas.openxmlformats.org/drawingml/2006/main">
              <a:ext uri="{FF2B5EF4-FFF2-40B4-BE49-F238E27FC236}">
                <a16:creationId xmlns:a16="http://schemas.microsoft.com/office/drawing/2014/main" id="{5A104EBC-CB52-4A8D-A447-233B6164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1315700" cy="424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Worlds</a:t>
            </a:r>
          </a:p>
        </p:txBody>
      </p:sp>
      <p:sp>
        <p:nvSpPr>
          <p:cNvPr id="8" name="p6-worlds-access">
            <a:extLst xmlns:a="http://schemas.openxmlformats.org/drawingml/2006/main">
              <a:ext uri="{FF2B5EF4-FFF2-40B4-BE49-F238E27FC236}">
                <a16:creationId xmlns:a16="http://schemas.microsoft.com/office/drawing/2014/main" id="{C64CC19F-6511-44C2-9BFB-CD60AEC0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1315700" cy="3790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公开申请制 early access；
实际访问未独立确认。</a:t>
            </a:r>
          </a:p>
        </p:txBody>
      </p:sp>
      <p:sp>
        <p:nvSpPr>
          <p:cNvPr id="9" name="p6-robotics-bg">
            <a:extLst xmlns:a="http://schemas.openxmlformats.org/drawingml/2006/main">
              <a:ext uri="{FF2B5EF4-FFF2-40B4-BE49-F238E27FC236}">
                <a16:creationId xmlns:a16="http://schemas.microsoft.com/office/drawing/2014/main" id="{D208A1E1-F167-4C2F-B8CE-C7EA24AE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529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0" name="p6-robotics-kicker">
            <a:extLst xmlns:a="http://schemas.openxmlformats.org/drawingml/2006/main">
              <a:ext uri="{FF2B5EF4-FFF2-40B4-BE49-F238E27FC236}">
                <a16:creationId xmlns:a16="http://schemas.microsoft.com/office/drawing/2014/main" id="{50D32EEE-48BA-4897-8F87-85E613C8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5943600" cy="459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5867A"/>
                </a:solidFill>
                <a:latin typeface="Noto Sans SC"/>
                <a:ea typeface="Noto Sans SC"/>
                <a:cs typeface="Noto Sans SC"/>
              </a:defRPr>
            </a:pPr>
            <a:r>
              <a:t>已成立 · 路线 B</a:t>
            </a:r>
          </a:p>
        </p:txBody>
      </p:sp>
      <p:sp>
        <p:nvSpPr>
          <p:cNvPr id="11" name="p6-robotics-name">
            <a:extLst xmlns:a="http://schemas.openxmlformats.org/drawingml/2006/main">
              <a:ext uri="{FF2B5EF4-FFF2-40B4-BE49-F238E27FC236}">
                <a16:creationId xmlns:a16="http://schemas.microsoft.com/office/drawing/2014/main" id="{63E2B835-F72C-4DE3-8583-692FE1F8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5943600" cy="424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Robotics</a:t>
            </a:r>
          </a:p>
        </p:txBody>
      </p:sp>
      <p:sp>
        <p:nvSpPr>
          <p:cNvPr id="12" name="p6-robotics-access">
            <a:extLst xmlns:a="http://schemas.openxmlformats.org/drawingml/2006/main">
              <a:ext uri="{FF2B5EF4-FFF2-40B4-BE49-F238E27FC236}">
                <a16:creationId xmlns:a16="http://schemas.microsoft.com/office/drawing/2014/main" id="{9D124577-0000-4D37-AF46-03624C0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5943600" cy="3790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动作条件展开与 Python SDK；
云端、定制和本地部署均需洽谈。</a:t>
            </a:r>
          </a:p>
        </p:txBody>
      </p:sp>
      <p:sp>
        <p:nvSpPr>
          <p:cNvPr id="13" name="p6-gap-bg">
            <a:extLst xmlns:a="http://schemas.openxmlformats.org/drawingml/2006/main">
              <a:ext uri="{FF2B5EF4-FFF2-40B4-BE49-F238E27FC236}">
                <a16:creationId xmlns:a16="http://schemas.microsoft.com/office/drawing/2014/main" id="{3341071B-94B4-43E0-B07B-E65D028D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4" name="p6-gap-title">
            <a:extLst xmlns:a="http://schemas.openxmlformats.org/drawingml/2006/main">
              <a:ext uri="{FF2B5EF4-FFF2-40B4-BE49-F238E27FC236}">
                <a16:creationId xmlns:a16="http://schemas.microsoft.com/office/drawing/2014/main" id="{22ED56C0-CD0C-49CE-BEA8-A2847A1C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113157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共同缺口</a:t>
            </a:r>
          </a:p>
        </p:txBody>
      </p:sp>
      <p:sp>
        <p:nvSpPr>
          <p:cNvPr id="15" name="p6-gap-body">
            <a:extLst xmlns:a="http://schemas.openxmlformats.org/drawingml/2006/main">
              <a:ext uri="{FF2B5EF4-FFF2-40B4-BE49-F238E27FC236}">
                <a16:creationId xmlns:a16="http://schemas.microsoft.com/office/drawing/2014/main" id="{B54C6734-4150-4D5D-9BB6-CE6839C7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48150"/>
            <a:ext cx="96012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两条路线都缺公开价格、服务等级和独立复现；
合作证据仍停在 Runway 单方说明。</a:t>
            </a:r>
          </a:p>
        </p:txBody>
      </p:sp>
      <p:sp>
        <p:nvSpPr>
          <p:cNvPr id="16" name="p6-meaning-bg">
            <a:extLst xmlns:a="http://schemas.openxmlformats.org/drawingml/2006/main">
              <a:ext uri="{FF2B5EF4-FFF2-40B4-BE49-F238E27FC236}">
                <a16:creationId xmlns:a16="http://schemas.microsoft.com/office/drawing/2014/main" id="{72C6E77C-13EA-406E-B7C5-893D5E4D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6819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17" name="p6-meaning-title">
            <a:extLst xmlns:a="http://schemas.openxmlformats.org/drawingml/2006/main">
              <a:ext uri="{FF2B5EF4-FFF2-40B4-BE49-F238E27FC236}">
                <a16:creationId xmlns:a16="http://schemas.microsoft.com/office/drawing/2014/main" id="{1BC0C182-7584-4F2F-BBB3-43FF6264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13157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18" name="p6-meaning-body">
            <a:extLst xmlns:a="http://schemas.openxmlformats.org/drawingml/2006/main">
              <a:ext uri="{FF2B5EF4-FFF2-40B4-BE49-F238E27FC236}">
                <a16:creationId xmlns:a16="http://schemas.microsoft.com/office/drawing/2014/main" id="{4F3C8ADE-1AA0-4E51-ACCF-0579C07C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13157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内容平台可能延伸到可探索世界；
机器人路线不能借证给 Worlds。</a:t>
            </a:r>
          </a:p>
        </p:txBody>
      </p:sp>
      <p:sp>
        <p:nvSpPr>
          <p:cNvPr id="19" name="p6-trigger-bg">
            <a:extLst xmlns:a="http://schemas.openxmlformats.org/drawingml/2006/main">
              <a:ext uri="{FF2B5EF4-FFF2-40B4-BE49-F238E27FC236}">
                <a16:creationId xmlns:a16="http://schemas.microsoft.com/office/drawing/2014/main" id="{054889CA-B548-4AC3-AD02-E2ACF56A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61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20" name="p6-trigger-title">
            <a:extLst xmlns:a="http://schemas.openxmlformats.org/drawingml/2006/main">
              <a:ext uri="{FF2B5EF4-FFF2-40B4-BE49-F238E27FC236}">
                <a16:creationId xmlns:a16="http://schemas.microsoft.com/office/drawing/2014/main" id="{5DCE22DC-24FB-4686-BDC2-CADCA942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10200"/>
            <a:ext cx="42672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21" name="p6-trigger-body">
            <a:extLst xmlns:a="http://schemas.openxmlformats.org/drawingml/2006/main">
              <a:ext uri="{FF2B5EF4-FFF2-40B4-BE49-F238E27FC236}">
                <a16:creationId xmlns:a16="http://schemas.microsoft.com/office/drawing/2014/main" id="{F511E809-EFB1-4D01-B8EC-50A27E26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95950"/>
            <a:ext cx="42672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任一组件获得独立调用，
并获得伙伴侧生产确认。</a:t>
            </a:r>
          </a:p>
        </p:txBody>
      </p:sp>
      <p:sp>
        <p:nvSpPr>
          <p:cNvPr id="22" name="p6-footer-rule">
            <a:extLst xmlns:a="http://schemas.openxmlformats.org/drawingml/2006/main">
              <a:ext uri="{FF2B5EF4-FFF2-40B4-BE49-F238E27FC236}">
                <a16:creationId xmlns:a16="http://schemas.microsoft.com/office/drawing/2014/main" id="{4FF76D36-5774-45F4-99A4-D7454E9A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3" name="p6-footer-source">
            <a:extLst xmlns:a="http://schemas.openxmlformats.org/drawingml/2006/main">
              <a:ext uri="{FF2B5EF4-FFF2-40B4-BE49-F238E27FC236}">
                <a16:creationId xmlns:a16="http://schemas.microsoft.com/office/drawing/2014/main" id="{4F8A041E-EABE-4AF8-962C-25B7088C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Worlds ≠ Robotics｜来源：官方产品、申请入口、SDK/部署资料及公司自报</a:t>
            </a:r>
          </a:p>
        </p:txBody>
      </p:sp>
      <p:sp>
        <p:nvSpPr>
          <p:cNvPr id="24" name="p6-footer-page">
            <a:extLst xmlns:a="http://schemas.openxmlformats.org/drawingml/2006/main">
              <a:ext uri="{FF2B5EF4-FFF2-40B4-BE49-F238E27FC236}">
                <a16:creationId xmlns:a16="http://schemas.microsoft.com/office/drawing/2014/main" id="{88EC00B7-AF38-46C7-BFC1-BFA12021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06</a:t>
            </a:r>
          </a:p>
        </p:txBody>
      </p:sp>
    </p:spTree>
    <p:extLst>
      <p:ext uri="{BB962C8B-B14F-4D97-AF65-F5344CB8AC3E}">
        <p14:creationId xmlns:p14="http://schemas.microsoft.com/office/powerpoint/2010/main" val="680685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7-identity">
            <a:extLst xmlns:a="http://schemas.openxmlformats.org/drawingml/2006/main">
              <a:ext uri="{FF2B5EF4-FFF2-40B4-BE49-F238E27FC236}">
                <a16:creationId xmlns:a16="http://schemas.microsoft.com/office/drawing/2014/main" id="{2B91B3A8-F455-48C5-A47F-1D30D15C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创业公司 4/4 · DECART</a:t>
            </a:r>
          </a:p>
        </p:txBody>
      </p:sp>
      <p:sp>
        <p:nvSpPr>
          <p:cNvPr id="2" name="p7-title">
            <a:extLst xmlns:a="http://schemas.openxmlformats.org/drawingml/2006/main">
              <a:ext uri="{FF2B5EF4-FFF2-40B4-BE49-F238E27FC236}">
                <a16:creationId xmlns:a16="http://schemas.microsoft.com/office/drawing/2014/main" id="{36EB4962-2B65-4B8F-998B-F64CDEC7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1582400" cy="624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驾驶场景已经按秒计费；
企业可靠性仍待证</a:t>
            </a:r>
          </a:p>
        </p:txBody>
      </p:sp>
      <p:sp>
        <p:nvSpPr>
          <p:cNvPr id="3" name="p7-route-line">
            <a:extLst xmlns:a="http://schemas.openxmlformats.org/drawingml/2006/main">
              <a:ext uri="{FF2B5EF4-FFF2-40B4-BE49-F238E27FC236}">
                <a16:creationId xmlns:a16="http://schemas.microsoft.com/office/drawing/2014/main" id="{75F61326-1A3B-484F-8A60-D5FFCE30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4" name="p7-route">
            <a:extLst xmlns:a="http://schemas.openxmlformats.org/drawingml/2006/main">
              <a:ext uri="{FF2B5EF4-FFF2-40B4-BE49-F238E27FC236}">
                <a16:creationId xmlns:a16="http://schemas.microsoft.com/office/drawing/2014/main" id="{DB11AA6F-C4F6-437A-A921-03B20758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11049000" cy="523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具体驾驶任务 · 公开计价接口</a:t>
            </a:r>
          </a:p>
        </p:txBody>
      </p:sp>
      <p:sp>
        <p:nvSpPr>
          <p:cNvPr id="5" name="p7-price-bg">
            <a:extLst xmlns:a="http://schemas.openxmlformats.org/drawingml/2006/main">
              <a:ext uri="{FF2B5EF4-FFF2-40B4-BE49-F238E27FC236}">
                <a16:creationId xmlns:a16="http://schemas.microsoft.com/office/drawing/2014/main" id="{3424BABE-425A-4831-A31E-01AE5E1F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1432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6" name="p7-price-kicker">
            <a:extLst xmlns:a="http://schemas.openxmlformats.org/drawingml/2006/main">
              <a:ext uri="{FF2B5EF4-FFF2-40B4-BE49-F238E27FC236}">
                <a16:creationId xmlns:a16="http://schemas.microsoft.com/office/drawing/2014/main" id="{2EFC380E-121B-4BB8-AF4E-F5F34BFF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1315700" cy="45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价格锚点</a:t>
            </a:r>
          </a:p>
        </p:txBody>
      </p:sp>
      <p:sp>
        <p:nvSpPr>
          <p:cNvPr id="7" name="p7-price">
            <a:extLst xmlns:a="http://schemas.openxmlformats.org/drawingml/2006/main">
              <a:ext uri="{FF2B5EF4-FFF2-40B4-BE49-F238E27FC236}">
                <a16:creationId xmlns:a16="http://schemas.microsoft.com/office/drawing/2014/main" id="{21180D07-1FE7-4CB7-83C4-CAF47399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13157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00" b="1" i="0">
                <a:solidFill>
                  <a:srgbClr val="C56B4D"/>
                </a:solidFill>
                <a:latin typeface="Noto Serif SC"/>
                <a:ea typeface="Noto Serif SC"/>
                <a:cs typeface="Noto Serif SC"/>
              </a:defRPr>
            </a:pPr>
            <a:r>
              <a:t>0.02</a:t>
            </a:r>
          </a:p>
        </p:txBody>
      </p:sp>
      <p:sp>
        <p:nvSpPr>
          <p:cNvPr id="8" name="p7-price-unit">
            <a:extLst xmlns:a="http://schemas.openxmlformats.org/drawingml/2006/main">
              <a:ext uri="{FF2B5EF4-FFF2-40B4-BE49-F238E27FC236}">
                <a16:creationId xmlns:a16="http://schemas.microsoft.com/office/drawing/2014/main" id="{0699F4A8-5FEE-4A28-94BB-2F3A1C26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13157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美元 / 秒</a:t>
            </a:r>
          </a:p>
        </p:txBody>
      </p:sp>
      <p:sp>
        <p:nvSpPr>
          <p:cNvPr id="9" name="p7-price-rule">
            <a:extLst xmlns:a="http://schemas.openxmlformats.org/drawingml/2006/main">
              <a:ext uri="{FF2B5EF4-FFF2-40B4-BE49-F238E27FC236}">
                <a16:creationId xmlns:a16="http://schemas.microsoft.com/office/drawing/2014/main" id="{56D2F8AB-78F6-40A1-AF4A-D16D9758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10" name="p7-flow">
            <a:extLst xmlns:a="http://schemas.openxmlformats.org/drawingml/2006/main">
              <a:ext uri="{FF2B5EF4-FFF2-40B4-BE49-F238E27FC236}">
                <a16:creationId xmlns:a16="http://schemas.microsoft.com/office/drawing/2014/main" id="{6524FF37-31A9-488D-B467-4DCD71F2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11315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油门 / 转向
↓
有状态会话
↓
前 / 左 / 右后续视图</a:t>
            </a:r>
          </a:p>
        </p:txBody>
      </p:sp>
      <p:sp>
        <p:nvSpPr>
          <p:cNvPr id="11" name="p7-scope">
            <a:extLst xmlns:a="http://schemas.openxmlformats.org/drawingml/2006/main">
              <a:ext uri="{FF2B5EF4-FFF2-40B4-BE49-F238E27FC236}">
                <a16:creationId xmlns:a16="http://schemas.microsoft.com/office/drawing/2014/main" id="{0FC00820-A9E0-4FC7-981F-208967A4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13157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具体驾驶任务，
不外推为通用世界能力。</a:t>
            </a:r>
          </a:p>
        </p:txBody>
      </p:sp>
      <p:sp>
        <p:nvSpPr>
          <p:cNvPr id="12" name="p7-established-bg">
            <a:extLst xmlns:a="http://schemas.openxmlformats.org/drawingml/2006/main">
              <a:ext uri="{FF2B5EF4-FFF2-40B4-BE49-F238E27FC236}">
                <a16:creationId xmlns:a16="http://schemas.microsoft.com/office/drawing/2014/main" id="{BE346195-45BC-4E20-A6D5-C7A4467C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38350"/>
            <a:ext cx="7296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13" name="p7-established-title">
            <a:extLst xmlns:a="http://schemas.openxmlformats.org/drawingml/2006/main">
              <a:ext uri="{FF2B5EF4-FFF2-40B4-BE49-F238E27FC236}">
                <a16:creationId xmlns:a16="http://schemas.microsoft.com/office/drawing/2014/main" id="{E71E3E11-D919-40E7-A2C8-0453D2E1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7943850" cy="45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14" name="p7-established-body">
            <a:extLst xmlns:a="http://schemas.openxmlformats.org/drawingml/2006/main">
              <a:ext uri="{FF2B5EF4-FFF2-40B4-BE49-F238E27FC236}">
                <a16:creationId xmlns:a16="http://schemas.microsoft.com/office/drawing/2014/main" id="{B6EB9FD9-BC7A-4FAB-BBD6-19ABB1B2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66950"/>
            <a:ext cx="6400800" cy="459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公开账户按 0.02 美元 / 秒计费；有状态会话接收油门和转向动作，
生成前、左、右后续视图。</a:t>
            </a:r>
          </a:p>
        </p:txBody>
      </p:sp>
      <p:sp>
        <p:nvSpPr>
          <p:cNvPr id="15" name="p7-not-bg">
            <a:extLst xmlns:a="http://schemas.openxmlformats.org/drawingml/2006/main">
              <a:ext uri="{FF2B5EF4-FFF2-40B4-BE49-F238E27FC236}">
                <a16:creationId xmlns:a16="http://schemas.microsoft.com/office/drawing/2014/main" id="{6957BEDF-32CA-4E50-8C1F-DF525E2D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14700"/>
            <a:ext cx="7296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6" name="p7-not-title">
            <a:extLst xmlns:a="http://schemas.openxmlformats.org/drawingml/2006/main">
              <a:ext uri="{FF2B5EF4-FFF2-40B4-BE49-F238E27FC236}">
                <a16:creationId xmlns:a16="http://schemas.microsoft.com/office/drawing/2014/main" id="{7ECCD881-2DCF-4F3C-8A21-D33040C6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62350"/>
            <a:ext cx="7943850" cy="3295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17" name="p7-not-body">
            <a:extLst xmlns:a="http://schemas.openxmlformats.org/drawingml/2006/main">
              <a:ext uri="{FF2B5EF4-FFF2-40B4-BE49-F238E27FC236}">
                <a16:creationId xmlns:a16="http://schemas.microsoft.com/office/drawing/2014/main" id="{16F03B72-9B29-415D-B38F-AC6FF08A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43300"/>
            <a:ext cx="640080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预览服务可撤销，且无连续性保证；输入 / 输出可用于训练改进。
独立体验仍报告路线记忆、控制、漂移和碰撞问题；未见付费客户或生产部署。</a:t>
            </a:r>
          </a:p>
        </p:txBody>
      </p:sp>
      <p:sp>
        <p:nvSpPr>
          <p:cNvPr id="18" name="p7-meaning-bg">
            <a:extLst xmlns:a="http://schemas.openxmlformats.org/drawingml/2006/main">
              <a:ext uri="{FF2B5EF4-FFF2-40B4-BE49-F238E27FC236}">
                <a16:creationId xmlns:a16="http://schemas.microsoft.com/office/drawing/2014/main" id="{DCE38884-D895-4532-AC16-334D543A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72050"/>
            <a:ext cx="4476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E5"/>
          </a:solidFill>
        </p:spPr>
      </p:sp>
      <p:sp>
        <p:nvSpPr>
          <p:cNvPr id="19" name="p7-meaning-title">
            <a:extLst xmlns:a="http://schemas.openxmlformats.org/drawingml/2006/main">
              <a:ext uri="{FF2B5EF4-FFF2-40B4-BE49-F238E27FC236}">
                <a16:creationId xmlns:a16="http://schemas.microsoft.com/office/drawing/2014/main" id="{94DE12C1-590B-49C3-B3D4-92F33AE8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81600"/>
            <a:ext cx="79438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20" name="p7-meaning-body">
            <a:extLst xmlns:a="http://schemas.openxmlformats.org/drawingml/2006/main">
              <a:ext uri="{FF2B5EF4-FFF2-40B4-BE49-F238E27FC236}">
                <a16:creationId xmlns:a16="http://schemas.microsoft.com/office/drawing/2014/main" id="{4A098074-8D2F-489E-AD48-54E59DF6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62600"/>
            <a:ext cx="79438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竞争已进入可计量的驾驶任务；
不能外推为通用能力或企业级采用。</a:t>
            </a:r>
          </a:p>
        </p:txBody>
      </p:sp>
      <p:sp>
        <p:nvSpPr>
          <p:cNvPr id="21" name="p7-trigger-bg">
            <a:extLst xmlns:a="http://schemas.openxmlformats.org/drawingml/2006/main">
              <a:ext uri="{FF2B5EF4-FFF2-40B4-BE49-F238E27FC236}">
                <a16:creationId xmlns:a16="http://schemas.microsoft.com/office/drawing/2014/main" id="{08B7B99F-44BE-46C7-82FE-00C704BA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72050"/>
            <a:ext cx="2590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22" name="p7-trigger-title">
            <a:extLst xmlns:a="http://schemas.openxmlformats.org/drawingml/2006/main">
              <a:ext uri="{FF2B5EF4-FFF2-40B4-BE49-F238E27FC236}">
                <a16:creationId xmlns:a16="http://schemas.microsoft.com/office/drawing/2014/main" id="{02CD7F78-A4BE-435D-B4CA-BDE6BEED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81600"/>
            <a:ext cx="323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23" name="p7-trigger-body">
            <a:extLst xmlns:a="http://schemas.openxmlformats.org/drawingml/2006/main">
              <a:ext uri="{FF2B5EF4-FFF2-40B4-BE49-F238E27FC236}">
                <a16:creationId xmlns:a16="http://schemas.microsoft.com/office/drawing/2014/main" id="{82C80383-DCEC-4ECC-8112-C3FA927C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24500"/>
            <a:ext cx="3238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预览接口正式商用，
并闭合服务等级、
数据和责任边界。</a:t>
            </a:r>
          </a:p>
        </p:txBody>
      </p:sp>
      <p:sp>
        <p:nvSpPr>
          <p:cNvPr id="24" name="p7-footer-rule">
            <a:extLst xmlns:a="http://schemas.openxmlformats.org/drawingml/2006/main">
              <a:ext uri="{FF2B5EF4-FFF2-40B4-BE49-F238E27FC236}">
                <a16:creationId xmlns:a16="http://schemas.microsoft.com/office/drawing/2014/main" id="{932952DE-0A25-4893-AE42-C9A83844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5" name="p7-footer-source">
            <a:extLst xmlns:a="http://schemas.openxmlformats.org/drawingml/2006/main">
              <a:ext uri="{FF2B5EF4-FFF2-40B4-BE49-F238E27FC236}">
                <a16:creationId xmlns:a16="http://schemas.microsoft.com/office/drawing/2014/main" id="{A4C175AB-70A5-43AE-AAC3-2E1D091B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来源：官方产品/API、价格、条款及独立产品体验</a:t>
            </a:r>
          </a:p>
        </p:txBody>
      </p:sp>
      <p:sp>
        <p:nvSpPr>
          <p:cNvPr id="26" name="p7-footer-page">
            <a:extLst xmlns:a="http://schemas.openxmlformats.org/drawingml/2006/main">
              <a:ext uri="{FF2B5EF4-FFF2-40B4-BE49-F238E27FC236}">
                <a16:creationId xmlns:a16="http://schemas.microsoft.com/office/drawing/2014/main" id="{2D68A1F3-8E18-4705-8257-92B7222B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07</a:t>
            </a:r>
          </a:p>
        </p:txBody>
      </p:sp>
    </p:spTree>
    <p:extLst>
      <p:ext uri="{BB962C8B-B14F-4D97-AF65-F5344CB8AC3E}">
        <p14:creationId xmlns:p14="http://schemas.microsoft.com/office/powerpoint/2010/main" val="1713048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8-identity">
            <a:extLst xmlns:a="http://schemas.openxmlformats.org/drawingml/2006/main">
              <a:ext uri="{FF2B5EF4-FFF2-40B4-BE49-F238E27FC236}">
                <a16:creationId xmlns:a16="http://schemas.microsoft.com/office/drawing/2014/main" id="{5DAA46FA-9EDC-4EF3-8A5B-C2482BB3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5824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大厂项目 1/1 · NVIDIA COSMOS 3</a:t>
            </a:r>
          </a:p>
        </p:txBody>
      </p:sp>
      <p:sp>
        <p:nvSpPr>
          <p:cNvPr id="2" name="p8-title">
            <a:extLst xmlns:a="http://schemas.openxmlformats.org/drawingml/2006/main">
              <a:ext uri="{FF2B5EF4-FFF2-40B4-BE49-F238E27FC236}">
                <a16:creationId xmlns:a16="http://schemas.microsoft.com/office/drawing/2014/main" id="{4E5D0D28-4521-464D-958C-11841FD2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1582400" cy="624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Cosmos 3 已形成自托管路径；
动作产品仍未闭合</a:t>
            </a:r>
          </a:p>
        </p:txBody>
      </p:sp>
      <p:sp>
        <p:nvSpPr>
          <p:cNvPr id="3" name="p8-route-line">
            <a:extLst xmlns:a="http://schemas.openxmlformats.org/drawingml/2006/main">
              <a:ext uri="{FF2B5EF4-FFF2-40B4-BE49-F238E27FC236}">
                <a16:creationId xmlns:a16="http://schemas.microsoft.com/office/drawing/2014/main" id="{93AA0362-1CE3-4214-BB05-AED4D9D4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4" name="p8-route">
            <a:extLst xmlns:a="http://schemas.openxmlformats.org/drawingml/2006/main">
              <a:ext uri="{FF2B5EF4-FFF2-40B4-BE49-F238E27FC236}">
                <a16:creationId xmlns:a16="http://schemas.microsoft.com/office/drawing/2014/main" id="{F1C409E5-9784-4DFD-8ADC-02BE0362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11049000" cy="523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动作条件物理智能组件 · 可下载 / 自托管</a:t>
            </a:r>
          </a:p>
        </p:txBody>
      </p:sp>
      <p:sp>
        <p:nvSpPr>
          <p:cNvPr id="5" name="p8-stack-bg">
            <a:extLst xmlns:a="http://schemas.openxmlformats.org/drawingml/2006/main">
              <a:ext uri="{FF2B5EF4-FFF2-40B4-BE49-F238E27FC236}">
                <a16:creationId xmlns:a16="http://schemas.microsoft.com/office/drawing/2014/main" id="{7DF6112A-154B-4CB6-8863-DC3DF03F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66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D"/>
          </a:solidFill>
        </p:spPr>
      </p:sp>
      <p:sp>
        <p:nvSpPr>
          <p:cNvPr id="6" name="p8-established-label">
            <a:extLst xmlns:a="http://schemas.openxmlformats.org/drawingml/2006/main">
              <a:ext uri="{FF2B5EF4-FFF2-40B4-BE49-F238E27FC236}">
                <a16:creationId xmlns:a16="http://schemas.microsoft.com/office/drawing/2014/main" id="{63CEB77E-7781-4D19-9AA8-31FF1345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1315700" cy="45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已成立 · 三层证据必须分开看</a:t>
            </a:r>
          </a:p>
        </p:txBody>
      </p:sp>
      <p:sp>
        <p:nvSpPr>
          <p:cNvPr id="7" name="p8-stack-num-0">
            <a:extLst xmlns:a="http://schemas.openxmlformats.org/drawingml/2006/main">
              <a:ext uri="{FF2B5EF4-FFF2-40B4-BE49-F238E27FC236}">
                <a16:creationId xmlns:a16="http://schemas.microsoft.com/office/drawing/2014/main" id="{338012BE-5EE1-45C0-9BFC-623BD1EB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1315700" cy="413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01</a:t>
            </a:r>
          </a:p>
        </p:txBody>
      </p:sp>
      <p:sp>
        <p:nvSpPr>
          <p:cNvPr id="8" name="p8-stack-head-0">
            <a:extLst xmlns:a="http://schemas.openxmlformats.org/drawingml/2006/main">
              <a:ext uri="{FF2B5EF4-FFF2-40B4-BE49-F238E27FC236}">
                <a16:creationId xmlns:a16="http://schemas.microsoft.com/office/drawing/2014/main" id="{897EEE8C-8DD8-4E9C-B29F-C7D7D153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24150"/>
            <a:ext cx="10782300" cy="413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动作条件前向动力学</a:t>
            </a:r>
          </a:p>
        </p:txBody>
      </p:sp>
      <p:sp>
        <p:nvSpPr>
          <p:cNvPr id="9" name="p8-stack-body-0">
            <a:extLst xmlns:a="http://schemas.openxmlformats.org/drawingml/2006/main">
              <a:ext uri="{FF2B5EF4-FFF2-40B4-BE49-F238E27FC236}">
                <a16:creationId xmlns:a16="http://schemas.microsoft.com/office/drawing/2014/main" id="{21BBCB28-3F77-4FF5-B4A2-EA6633C6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7620000" cy="413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已有可运行材料</a:t>
            </a:r>
          </a:p>
        </p:txBody>
      </p:sp>
      <p:sp>
        <p:nvSpPr>
          <p:cNvPr id="10" name="p8-stack-rule-0">
            <a:extLst xmlns:a="http://schemas.openxmlformats.org/drawingml/2006/main">
              <a:ext uri="{FF2B5EF4-FFF2-40B4-BE49-F238E27FC236}">
                <a16:creationId xmlns:a16="http://schemas.microsoft.com/office/drawing/2014/main" id="{B099B7C9-8649-4083-940B-FAD581C9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1" name="p8-stack-num-1">
            <a:extLst xmlns:a="http://schemas.openxmlformats.org/drawingml/2006/main">
              <a:ext uri="{FF2B5EF4-FFF2-40B4-BE49-F238E27FC236}">
                <a16:creationId xmlns:a16="http://schemas.microsoft.com/office/drawing/2014/main" id="{FA8E20B3-D29C-4079-8396-48A7377B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1315700" cy="346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02</a:t>
            </a:r>
          </a:p>
        </p:txBody>
      </p:sp>
      <p:sp>
        <p:nvSpPr>
          <p:cNvPr id="12" name="p8-stack-head-1">
            <a:extLst xmlns:a="http://schemas.openxmlformats.org/drawingml/2006/main">
              <a:ext uri="{FF2B5EF4-FFF2-40B4-BE49-F238E27FC236}">
                <a16:creationId xmlns:a16="http://schemas.microsoft.com/office/drawing/2014/main" id="{75C82AF1-D545-4A84-833C-B1EF6FF5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90900"/>
            <a:ext cx="10782300" cy="346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自托管路径</a:t>
            </a:r>
          </a:p>
        </p:txBody>
      </p:sp>
      <p:sp>
        <p:nvSpPr>
          <p:cNvPr id="13" name="p8-stack-body-1">
            <a:extLst xmlns:a="http://schemas.openxmlformats.org/drawingml/2006/main">
              <a:ext uri="{FF2B5EF4-FFF2-40B4-BE49-F238E27FC236}">
                <a16:creationId xmlns:a16="http://schemas.microsoft.com/office/drawing/2014/main" id="{4D25D59B-2ED6-48B7-AFF0-65EB91F6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7620000" cy="346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模型材料与代码可在本地运行</a:t>
            </a:r>
          </a:p>
        </p:txBody>
      </p:sp>
      <p:sp>
        <p:nvSpPr>
          <p:cNvPr id="14" name="p8-stack-rule-1">
            <a:extLst xmlns:a="http://schemas.openxmlformats.org/drawingml/2006/main">
              <a:ext uri="{FF2B5EF4-FFF2-40B4-BE49-F238E27FC236}">
                <a16:creationId xmlns:a16="http://schemas.microsoft.com/office/drawing/2014/main" id="{FA408110-E90C-4E24-99C4-5E69FF85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5" name="p8-stack-num-2">
            <a:extLst xmlns:a="http://schemas.openxmlformats.org/drawingml/2006/main">
              <a:ext uri="{FF2B5EF4-FFF2-40B4-BE49-F238E27FC236}">
                <a16:creationId xmlns:a16="http://schemas.microsoft.com/office/drawing/2014/main" id="{859CF7AD-2225-4A33-90D6-E4623B26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1315700" cy="280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766F82"/>
                </a:solidFill>
                <a:latin typeface="Noto Sans SC"/>
                <a:ea typeface="Noto Sans SC"/>
                <a:cs typeface="Noto Sans SC"/>
              </a:defRPr>
            </a:pPr>
            <a:r>
              <a:t>03</a:t>
            </a:r>
          </a:p>
        </p:txBody>
      </p:sp>
      <p:sp>
        <p:nvSpPr>
          <p:cNvPr id="16" name="p8-stack-head-2">
            <a:extLst xmlns:a="http://schemas.openxmlformats.org/drawingml/2006/main">
              <a:ext uri="{FF2B5EF4-FFF2-40B4-BE49-F238E27FC236}">
                <a16:creationId xmlns:a16="http://schemas.microsoft.com/office/drawing/2014/main" id="{92CD723A-4F92-4746-B9FC-36498E18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10782300" cy="280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Cosmos3-Generator
Release 1.0.0</a:t>
            </a:r>
          </a:p>
        </p:txBody>
      </p:sp>
      <p:sp>
        <p:nvSpPr>
          <p:cNvPr id="17" name="p8-stack-body-2">
            <a:extLst xmlns:a="http://schemas.openxmlformats.org/drawingml/2006/main">
              <a:ext uri="{FF2B5EF4-FFF2-40B4-BE49-F238E27FC236}">
                <a16:creationId xmlns:a16="http://schemas.microsoft.com/office/drawing/2014/main" id="{ADFFD6B1-DD64-41EF-A07A-879EAFC6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7620000" cy="280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初始 GA；只含文生 / 图生视频；
未列动作模式</a:t>
            </a:r>
          </a:p>
        </p:txBody>
      </p:sp>
      <p:sp>
        <p:nvSpPr>
          <p:cNvPr id="18" name="p8-not-bg">
            <a:extLst xmlns:a="http://schemas.openxmlformats.org/drawingml/2006/main">
              <a:ext uri="{FF2B5EF4-FFF2-40B4-BE49-F238E27FC236}">
                <a16:creationId xmlns:a16="http://schemas.microsoft.com/office/drawing/2014/main" id="{30E82503-7286-4D6E-8162-E7598B0D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38350"/>
            <a:ext cx="3771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9" name="p8-not-rule">
            <a:extLst xmlns:a="http://schemas.openxmlformats.org/drawingml/2006/main">
              <a:ext uri="{FF2B5EF4-FFF2-40B4-BE49-F238E27FC236}">
                <a16:creationId xmlns:a16="http://schemas.microsoft.com/office/drawing/2014/main" id="{F20EE1F5-CF85-4816-BCD1-36EC13CA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60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1"/>
          </a:solidFill>
        </p:spPr>
      </p:sp>
      <p:sp>
        <p:nvSpPr>
          <p:cNvPr id="20" name="p8-not-label">
            <a:extLst xmlns:a="http://schemas.openxmlformats.org/drawingml/2006/main">
              <a:ext uri="{FF2B5EF4-FFF2-40B4-BE49-F238E27FC236}">
                <a16:creationId xmlns:a16="http://schemas.microsoft.com/office/drawing/2014/main" id="{E067835C-0CB5-42DA-A2B2-E5EB1081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4419600" cy="447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21" name="p8-not-list-dot-0">
            <a:extLst xmlns:a="http://schemas.openxmlformats.org/drawingml/2006/main">
              <a:ext uri="{FF2B5EF4-FFF2-40B4-BE49-F238E27FC236}">
                <a16:creationId xmlns:a16="http://schemas.microsoft.com/office/drawing/2014/main" id="{1314F052-E4B1-4B7E-B3B0-B444F05E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7500"/>
            <a:ext cx="44196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2" name="p8-not-list-text-0">
            <a:extLst xmlns:a="http://schemas.openxmlformats.org/drawingml/2006/main">
              <a:ext uri="{FF2B5EF4-FFF2-40B4-BE49-F238E27FC236}">
                <a16:creationId xmlns:a16="http://schemas.microsoft.com/office/drawing/2014/main" id="{793724B3-C7EA-4896-8991-E2F36C24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419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稳定动作运行时或动作 NIM</a:t>
            </a:r>
          </a:p>
        </p:txBody>
      </p:sp>
      <p:sp>
        <p:nvSpPr>
          <p:cNvPr id="23" name="p8-not-list-dot-1">
            <a:extLst xmlns:a="http://schemas.openxmlformats.org/drawingml/2006/main">
              <a:ext uri="{FF2B5EF4-FFF2-40B4-BE49-F238E27FC236}">
                <a16:creationId xmlns:a16="http://schemas.microsoft.com/office/drawing/2014/main" id="{2C1779F6-E362-4E00-9134-93131550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4419600" cy="3581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4" name="p8-not-list-text-1">
            <a:extLst xmlns:a="http://schemas.openxmlformats.org/drawingml/2006/main">
              <a:ext uri="{FF2B5EF4-FFF2-40B4-BE49-F238E27FC236}">
                <a16:creationId xmlns:a16="http://schemas.microsoft.com/office/drawing/2014/main" id="{39C87809-D109-4AEE-BAC8-EF608132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4191000" cy="3581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第三方依赖的完整许可链</a:t>
            </a:r>
          </a:p>
        </p:txBody>
      </p:sp>
      <p:sp>
        <p:nvSpPr>
          <p:cNvPr id="25" name="p8-not-list-dot-2">
            <a:extLst xmlns:a="http://schemas.openxmlformats.org/drawingml/2006/main">
              <a:ext uri="{FF2B5EF4-FFF2-40B4-BE49-F238E27FC236}">
                <a16:creationId xmlns:a16="http://schemas.microsoft.com/office/drawing/2014/main" id="{9D48C34F-020F-4072-98BA-FDA65634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95700"/>
            <a:ext cx="441960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6" name="p8-not-list-text-2">
            <a:extLst xmlns:a="http://schemas.openxmlformats.org/drawingml/2006/main">
              <a:ext uri="{FF2B5EF4-FFF2-40B4-BE49-F238E27FC236}">
                <a16:creationId xmlns:a16="http://schemas.microsoft.com/office/drawing/2014/main" id="{CC3FA7F1-B01C-41A9-B82D-EFDB0D6E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419100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硬件范围与总体拥有成本</a:t>
            </a:r>
          </a:p>
        </p:txBody>
      </p:sp>
      <p:sp>
        <p:nvSpPr>
          <p:cNvPr id="27" name="p8-not-list-dot-3">
            <a:extLst xmlns:a="http://schemas.openxmlformats.org/drawingml/2006/main">
              <a:ext uri="{FF2B5EF4-FFF2-40B4-BE49-F238E27FC236}">
                <a16:creationId xmlns:a16="http://schemas.microsoft.com/office/drawing/2014/main" id="{0A579145-36C6-4309-ADFC-8AD38483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4419600" cy="274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•</a:t>
            </a:r>
          </a:p>
        </p:txBody>
      </p:sp>
      <p:sp>
        <p:nvSpPr>
          <p:cNvPr id="28" name="p8-not-list-text-3">
            <a:extLst xmlns:a="http://schemas.openxmlformats.org/drawingml/2006/main">
              <a:ext uri="{FF2B5EF4-FFF2-40B4-BE49-F238E27FC236}">
                <a16:creationId xmlns:a16="http://schemas.microsoft.com/office/drawing/2014/main" id="{A49DE924-191E-4C54-8C84-E8A7AB67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4191000" cy="274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独立复现与客户第一方采用</a:t>
            </a:r>
          </a:p>
        </p:txBody>
      </p:sp>
      <p:sp>
        <p:nvSpPr>
          <p:cNvPr id="29" name="p8-meaning-bg">
            <a:extLst xmlns:a="http://schemas.openxmlformats.org/drawingml/2006/main">
              <a:ext uri="{FF2B5EF4-FFF2-40B4-BE49-F238E27FC236}">
                <a16:creationId xmlns:a16="http://schemas.microsoft.com/office/drawing/2014/main" id="{BB793E4C-0246-4F42-B179-D15C8646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6819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30" name="p8-meaning-title">
            <a:extLst xmlns:a="http://schemas.openxmlformats.org/drawingml/2006/main">
              <a:ext uri="{FF2B5EF4-FFF2-40B4-BE49-F238E27FC236}">
                <a16:creationId xmlns:a16="http://schemas.microsoft.com/office/drawing/2014/main" id="{A8540AD6-4742-4C32-9355-C8097420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1131570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 Manifold 的意义</a:t>
            </a:r>
          </a:p>
        </p:txBody>
      </p:sp>
      <p:sp>
        <p:nvSpPr>
          <p:cNvPr id="31" name="p8-meaning-body">
            <a:extLst xmlns:a="http://schemas.openxmlformats.org/drawingml/2006/main">
              <a:ext uri="{FF2B5EF4-FFF2-40B4-BE49-F238E27FC236}">
                <a16:creationId xmlns:a16="http://schemas.microsoft.com/office/drawing/2014/main" id="{06A35698-1FFC-4A8A-8A23-E5FB0348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13157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自托管组件可能绕行专有供应商，也可能成为部署与验证底层；
实际关系取决于 Manifold 的交付单元。</a:t>
            </a:r>
          </a:p>
        </p:txBody>
      </p:sp>
      <p:sp>
        <p:nvSpPr>
          <p:cNvPr id="32" name="p8-trigger-bg">
            <a:extLst xmlns:a="http://schemas.openxmlformats.org/drawingml/2006/main">
              <a:ext uri="{FF2B5EF4-FFF2-40B4-BE49-F238E27FC236}">
                <a16:creationId xmlns:a16="http://schemas.microsoft.com/office/drawing/2014/main" id="{08255656-2506-4315-9602-896D5E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72050"/>
            <a:ext cx="361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5"/>
          </a:solidFill>
        </p:spPr>
      </p:sp>
      <p:sp>
        <p:nvSpPr>
          <p:cNvPr id="33" name="p8-trigger-title">
            <a:extLst xmlns:a="http://schemas.openxmlformats.org/drawingml/2006/main">
              <a:ext uri="{FF2B5EF4-FFF2-40B4-BE49-F238E27FC236}">
                <a16:creationId xmlns:a16="http://schemas.microsoft.com/office/drawing/2014/main" id="{A5B0347C-55B0-4975-B18F-76D44C85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62550"/>
            <a:ext cx="426720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关键触发器</a:t>
            </a:r>
          </a:p>
        </p:txBody>
      </p:sp>
      <p:sp>
        <p:nvSpPr>
          <p:cNvPr id="34" name="p8-trigger-body">
            <a:extLst xmlns:a="http://schemas.openxmlformats.org/drawingml/2006/main">
              <a:ext uri="{FF2B5EF4-FFF2-40B4-BE49-F238E27FC236}">
                <a16:creationId xmlns:a16="http://schemas.microsoft.com/office/drawing/2014/main" id="{67521F36-383A-4B53-9662-40CDB883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24500"/>
            <a:ext cx="42672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稳定动作运行时或动作 NIM 正式发布，
并获得独立复现。</a:t>
            </a:r>
          </a:p>
        </p:txBody>
      </p:sp>
      <p:sp>
        <p:nvSpPr>
          <p:cNvPr id="35" name="p8-footer-rule">
            <a:extLst xmlns:a="http://schemas.openxmlformats.org/drawingml/2006/main">
              <a:ext uri="{FF2B5EF4-FFF2-40B4-BE49-F238E27FC236}">
                <a16:creationId xmlns:a16="http://schemas.microsoft.com/office/drawing/2014/main" id="{D5291EFD-9732-4A63-AA19-CC9F3798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6" name="p8-footer-source">
            <a:extLst xmlns:a="http://schemas.openxmlformats.org/drawingml/2006/main">
              <a:ext uri="{FF2B5EF4-FFF2-40B4-BE49-F238E27FC236}">
                <a16:creationId xmlns:a16="http://schemas.microsoft.com/office/drawing/2014/main" id="{AC9BE116-5869-4831-8907-F0375827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Generator NIM ≠ action runtime｜来源：官方研究、模型、自托管文档、Release Notes、许可及伙伴自报</a:t>
            </a:r>
          </a:p>
        </p:txBody>
      </p:sp>
      <p:sp>
        <p:nvSpPr>
          <p:cNvPr id="37" name="p8-footer-page">
            <a:extLst xmlns:a="http://schemas.openxmlformats.org/drawingml/2006/main">
              <a:ext uri="{FF2B5EF4-FFF2-40B4-BE49-F238E27FC236}">
                <a16:creationId xmlns:a16="http://schemas.microsoft.com/office/drawing/2014/main" id="{0F6189DA-143D-4918-B906-59929925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08</a:t>
            </a:r>
          </a:p>
        </p:txBody>
      </p:sp>
    </p:spTree>
    <p:extLst>
      <p:ext uri="{BB962C8B-B14F-4D97-AF65-F5344CB8AC3E}">
        <p14:creationId xmlns:p14="http://schemas.microsoft.com/office/powerpoint/2010/main" val="3689240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9-eyebrow">
            <a:extLst xmlns:a="http://schemas.openxmlformats.org/drawingml/2006/main">
              <a:ext uri="{FF2B5EF4-FFF2-40B4-BE49-F238E27FC236}">
                <a16:creationId xmlns:a16="http://schemas.microsoft.com/office/drawing/2014/main" id="{F4497011-D53E-4FD6-8CE5-67B72812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1582400" cy="661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WATCHLIST · FACT-TRIGGERED</a:t>
            </a:r>
          </a:p>
        </p:txBody>
      </p:sp>
      <p:sp>
        <p:nvSpPr>
          <p:cNvPr id="2" name="p9-title">
            <a:extLst xmlns:a="http://schemas.openxmlformats.org/drawingml/2006/main">
              <a:ext uri="{FF2B5EF4-FFF2-40B4-BE49-F238E27FC236}">
                <a16:creationId xmlns:a16="http://schemas.microsoft.com/office/drawing/2014/main" id="{3BFD344C-6144-4CDA-A40B-685DDB47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582400" cy="638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四个观察对象和一个早期信号，只在证据变化时重审</a:t>
            </a:r>
          </a:p>
        </p:txBody>
      </p:sp>
      <p:sp>
        <p:nvSpPr>
          <p:cNvPr id="3" name="p9-subtitle">
            <a:extLst xmlns:a="http://schemas.openxmlformats.org/drawingml/2006/main">
              <a:ext uri="{FF2B5EF4-FFF2-40B4-BE49-F238E27FC236}">
                <a16:creationId xmlns:a16="http://schemas.microsoft.com/office/drawing/2014/main" id="{D7C87C93-A2B0-4D6B-97F5-71EED01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582400" cy="588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触发条件只启动事实重审，不自动改变固定五席或 4+1 结构。</a:t>
            </a:r>
          </a:p>
        </p:txBody>
      </p:sp>
      <p:sp>
        <p:nvSpPr>
          <p:cNvPr id="4" name="p9-header-bg">
            <a:extLst xmlns:a="http://schemas.openxmlformats.org/drawingml/2006/main">
              <a:ext uri="{FF2B5EF4-FFF2-40B4-BE49-F238E27FC236}">
                <a16:creationId xmlns:a16="http://schemas.microsoft.com/office/drawing/2014/main" id="{C40EEC18-8431-4F1A-8942-D9EEA0FA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5" name="p9-header-0">
            <a:extLst xmlns:a="http://schemas.openxmlformats.org/drawingml/2006/main">
              <a:ext uri="{FF2B5EF4-FFF2-40B4-BE49-F238E27FC236}">
                <a16:creationId xmlns:a16="http://schemas.microsoft.com/office/drawing/2014/main" id="{1A04DF29-BF4B-4B02-B267-4D03D23B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1430000" cy="542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对象</a:t>
            </a:r>
          </a:p>
        </p:txBody>
      </p:sp>
      <p:sp>
        <p:nvSpPr>
          <p:cNvPr id="6" name="p9-header-1">
            <a:extLst xmlns:a="http://schemas.openxmlformats.org/drawingml/2006/main">
              <a:ext uri="{FF2B5EF4-FFF2-40B4-BE49-F238E27FC236}">
                <a16:creationId xmlns:a16="http://schemas.microsoft.com/office/drawing/2014/main" id="{C6B21840-FCFB-42C1-9FB4-3FB34D00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28750"/>
            <a:ext cx="9029700" cy="542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当前关注点</a:t>
            </a:r>
          </a:p>
        </p:txBody>
      </p:sp>
      <p:sp>
        <p:nvSpPr>
          <p:cNvPr id="7" name="p9-header-2">
            <a:extLst xmlns:a="http://schemas.openxmlformats.org/drawingml/2006/main">
              <a:ext uri="{FF2B5EF4-FFF2-40B4-BE49-F238E27FC236}">
                <a16:creationId xmlns:a16="http://schemas.microsoft.com/office/drawing/2014/main" id="{3FFBA009-514A-4C3C-8E76-74431997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4857750" cy="542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重审所需证据</a:t>
            </a:r>
          </a:p>
        </p:txBody>
      </p:sp>
      <p:sp>
        <p:nvSpPr>
          <p:cNvPr id="8" name="p9-row-bg-0">
            <a:extLst xmlns:a="http://schemas.openxmlformats.org/drawingml/2006/main">
              <a:ext uri="{FF2B5EF4-FFF2-40B4-BE49-F238E27FC236}">
                <a16:creationId xmlns:a16="http://schemas.microsoft.com/office/drawing/2014/main" id="{61ED4430-B2F5-41E4-9FE3-792F87B4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9" name="p9-name-bg-0">
            <a:extLst xmlns:a="http://schemas.openxmlformats.org/drawingml/2006/main">
              <a:ext uri="{FF2B5EF4-FFF2-40B4-BE49-F238E27FC236}">
                <a16:creationId xmlns:a16="http://schemas.microsoft.com/office/drawing/2014/main" id="{BC506E97-D86D-49B6-8AE8-5121B532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10" name="p9-cell-0-0">
            <a:extLst xmlns:a="http://schemas.openxmlformats.org/drawingml/2006/main">
              <a:ext uri="{FF2B5EF4-FFF2-40B4-BE49-F238E27FC236}">
                <a16:creationId xmlns:a16="http://schemas.microsoft.com/office/drawing/2014/main" id="{0FC10751-2704-497A-B2FD-06B830F3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1430000" cy="493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Genie 3 /
Project Genie</a:t>
            </a:r>
          </a:p>
        </p:txBody>
      </p:sp>
      <p:sp>
        <p:nvSpPr>
          <p:cNvPr id="11" name="p9-cell-0-1">
            <a:extLst xmlns:a="http://schemas.openxmlformats.org/drawingml/2006/main">
              <a:ext uri="{FF2B5EF4-FFF2-40B4-BE49-F238E27FC236}">
                <a16:creationId xmlns:a16="http://schemas.microsoft.com/office/drawing/2014/main" id="{CCC9B9A5-47C5-4A98-B536-246217E5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9029700" cy="493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封闭模型与消费者原型；
企业/开发者路径和外部采用未证</a:t>
            </a:r>
          </a:p>
        </p:txBody>
      </p:sp>
      <p:sp>
        <p:nvSpPr>
          <p:cNvPr id="12" name="p9-trigger-mark-0">
            <a:extLst xmlns:a="http://schemas.openxmlformats.org/drawingml/2006/main">
              <a:ext uri="{FF2B5EF4-FFF2-40B4-BE49-F238E27FC236}">
                <a16:creationId xmlns:a16="http://schemas.microsoft.com/office/drawing/2014/main" id="{9F264419-359A-44C7-A4CC-6198FDFF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13" name="p9-cell-0-2">
            <a:extLst xmlns:a="http://schemas.openxmlformats.org/drawingml/2006/main">
              <a:ext uri="{FF2B5EF4-FFF2-40B4-BE49-F238E27FC236}">
                <a16:creationId xmlns:a16="http://schemas.microsoft.com/office/drawing/2014/main" id="{759359A6-3F14-452B-BC10-D400D450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24050"/>
            <a:ext cx="4552950" cy="493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企业/开发者接口、SDK 或权重；
具名外部集成</a:t>
            </a:r>
          </a:p>
        </p:txBody>
      </p:sp>
      <p:sp>
        <p:nvSpPr>
          <p:cNvPr id="14" name="p9-row-rule-0">
            <a:extLst xmlns:a="http://schemas.openxmlformats.org/drawingml/2006/main">
              <a:ext uri="{FF2B5EF4-FFF2-40B4-BE49-F238E27FC236}">
                <a16:creationId xmlns:a16="http://schemas.microsoft.com/office/drawing/2014/main" id="{00D39D33-EA0B-4C40-AA3F-A0D770FB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5" name="p9-row-bg-1">
            <a:extLst xmlns:a="http://schemas.openxmlformats.org/drawingml/2006/main">
              <a:ext uri="{FF2B5EF4-FFF2-40B4-BE49-F238E27FC236}">
                <a16:creationId xmlns:a16="http://schemas.microsoft.com/office/drawing/2014/main" id="{FEB9E427-17D9-405B-81DB-88B4CB14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6"/>
          </a:solidFill>
        </p:spPr>
      </p:sp>
      <p:sp>
        <p:nvSpPr>
          <p:cNvPr id="16" name="p9-name-bg-1">
            <a:extLst xmlns:a="http://schemas.openxmlformats.org/drawingml/2006/main">
              <a:ext uri="{FF2B5EF4-FFF2-40B4-BE49-F238E27FC236}">
                <a16:creationId xmlns:a16="http://schemas.microsoft.com/office/drawing/2014/main" id="{9691BFC6-1861-48BD-A2F6-07C695D1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17" name="p9-cell-1-0">
            <a:extLst xmlns:a="http://schemas.openxmlformats.org/drawingml/2006/main">
              <a:ext uri="{FF2B5EF4-FFF2-40B4-BE49-F238E27FC236}">
                <a16:creationId xmlns:a16="http://schemas.microsoft.com/office/drawing/2014/main" id="{369F7B94-7C2D-4360-A74D-1A133475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1430000" cy="401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General Intuition /
MIRA</a:t>
            </a:r>
          </a:p>
        </p:txBody>
      </p:sp>
      <p:sp>
        <p:nvSpPr>
          <p:cNvPr id="18" name="p9-cell-1-1">
            <a:extLst xmlns:a="http://schemas.openxmlformats.org/drawingml/2006/main">
              <a:ext uri="{FF2B5EF4-FFF2-40B4-BE49-F238E27FC236}">
                <a16:creationId xmlns:a16="http://schemas.microsoft.com/office/drawing/2014/main" id="{22E85D30-71C5-4D9B-A822-00A7335B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38450"/>
            <a:ext cx="9029700" cy="401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证据集中在 Rocket League 虚拟物理域；
商业接口归属和采用未证</a:t>
            </a:r>
          </a:p>
        </p:txBody>
      </p:sp>
      <p:sp>
        <p:nvSpPr>
          <p:cNvPr id="19" name="p9-trigger-mark-1">
            <a:extLst xmlns:a="http://schemas.openxmlformats.org/drawingml/2006/main">
              <a:ext uri="{FF2B5EF4-FFF2-40B4-BE49-F238E27FC236}">
                <a16:creationId xmlns:a16="http://schemas.microsoft.com/office/drawing/2014/main" id="{E96B341B-3128-4C94-B286-C80F5497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20" name="p9-cell-1-2">
            <a:extLst xmlns:a="http://schemas.openxmlformats.org/drawingml/2006/main">
              <a:ext uri="{FF2B5EF4-FFF2-40B4-BE49-F238E27FC236}">
                <a16:creationId xmlns:a16="http://schemas.microsoft.com/office/drawing/2014/main" id="{5F56F3C4-E5B0-4BFA-98D1-162DC429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38450"/>
            <a:ext cx="4552950" cy="401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第一方证据确认实际交付组件；
跨域独立验证、具名客户</a:t>
            </a:r>
          </a:p>
        </p:txBody>
      </p:sp>
      <p:sp>
        <p:nvSpPr>
          <p:cNvPr id="21" name="p9-row-rule-1">
            <a:extLst xmlns:a="http://schemas.openxmlformats.org/drawingml/2006/main">
              <a:ext uri="{FF2B5EF4-FFF2-40B4-BE49-F238E27FC236}">
                <a16:creationId xmlns:a16="http://schemas.microsoft.com/office/drawing/2014/main" id="{B9A745A9-526E-4872-9844-31B4E4FC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2" name="p9-row-bg-2">
            <a:extLst xmlns:a="http://schemas.openxmlformats.org/drawingml/2006/main">
              <a:ext uri="{FF2B5EF4-FFF2-40B4-BE49-F238E27FC236}">
                <a16:creationId xmlns:a16="http://schemas.microsoft.com/office/drawing/2014/main" id="{AE538BDB-D01E-441E-8C7C-F9AEB4FB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23" name="p9-name-bg-2">
            <a:extLst xmlns:a="http://schemas.openxmlformats.org/drawingml/2006/main">
              <a:ext uri="{FF2B5EF4-FFF2-40B4-BE49-F238E27FC236}">
                <a16:creationId xmlns:a16="http://schemas.microsoft.com/office/drawing/2014/main" id="{ABD001EC-C475-409E-96A3-B2DC7775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24" name="p9-cell-2-0">
            <a:extLst xmlns:a="http://schemas.openxmlformats.org/drawingml/2006/main">
              <a:ext uri="{FF2B5EF4-FFF2-40B4-BE49-F238E27FC236}">
                <a16:creationId xmlns:a16="http://schemas.microsoft.com/office/drawing/2014/main" id="{3728F21F-630D-4954-98C8-FEECADF2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1430000" cy="3105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Meta V-JEPA</a:t>
            </a:r>
          </a:p>
        </p:txBody>
      </p:sp>
      <p:sp>
        <p:nvSpPr>
          <p:cNvPr id="25" name="p9-cell-2-1">
            <a:extLst xmlns:a="http://schemas.openxmlformats.org/drawingml/2006/main">
              <a:ext uri="{FF2B5EF4-FFF2-40B4-BE49-F238E27FC236}">
                <a16:creationId xmlns:a16="http://schemas.microsoft.com/office/drawing/2014/main" id="{0EC848F2-47BD-4628-B704-8486FB70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9029700" cy="3105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仅 2-AC 提供动作条件路径；
窄域、许可与修正复现未闭合</a:t>
            </a:r>
          </a:p>
        </p:txBody>
      </p:sp>
      <p:sp>
        <p:nvSpPr>
          <p:cNvPr id="26" name="p9-trigger-mark-2">
            <a:extLst xmlns:a="http://schemas.openxmlformats.org/drawingml/2006/main">
              <a:ext uri="{FF2B5EF4-FFF2-40B4-BE49-F238E27FC236}">
                <a16:creationId xmlns:a16="http://schemas.microsoft.com/office/drawing/2014/main" id="{26F8141B-AB9F-4594-882D-893869D0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71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27" name="p9-cell-2-2">
            <a:extLst xmlns:a="http://schemas.openxmlformats.org/drawingml/2006/main">
              <a:ext uri="{FF2B5EF4-FFF2-40B4-BE49-F238E27FC236}">
                <a16:creationId xmlns:a16="http://schemas.microsoft.com/office/drawing/2014/main" id="{004DEC2D-44EF-46A6-B251-0CCF2F46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52850"/>
            <a:ext cx="4552950" cy="3105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跨动作域复现、许可闭合、
产品或客户入口</a:t>
            </a:r>
          </a:p>
        </p:txBody>
      </p:sp>
      <p:sp>
        <p:nvSpPr>
          <p:cNvPr id="28" name="p9-row-rule-2">
            <a:extLst xmlns:a="http://schemas.openxmlformats.org/drawingml/2006/main">
              <a:ext uri="{FF2B5EF4-FFF2-40B4-BE49-F238E27FC236}">
                <a16:creationId xmlns:a16="http://schemas.microsoft.com/office/drawing/2014/main" id="{2C10C213-C838-45D4-BD27-6E31A803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9" name="p9-row-bg-3">
            <a:extLst xmlns:a="http://schemas.openxmlformats.org/drawingml/2006/main">
              <a:ext uri="{FF2B5EF4-FFF2-40B4-BE49-F238E27FC236}">
                <a16:creationId xmlns:a16="http://schemas.microsoft.com/office/drawing/2014/main" id="{DC7704E8-F44A-4658-B93E-F51BC182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6"/>
          </a:solidFill>
        </p:spPr>
      </p:sp>
      <p:sp>
        <p:nvSpPr>
          <p:cNvPr id="30" name="p9-name-bg-3">
            <a:extLst xmlns:a="http://schemas.openxmlformats.org/drawingml/2006/main">
              <a:ext uri="{FF2B5EF4-FFF2-40B4-BE49-F238E27FC236}">
                <a16:creationId xmlns:a16="http://schemas.microsoft.com/office/drawing/2014/main" id="{9633AF39-93E4-4F02-B6AE-D1C60BA6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</p:spPr>
      </p:sp>
      <p:sp>
        <p:nvSpPr>
          <p:cNvPr id="31" name="p9-cell-3-0">
            <a:extLst xmlns:a="http://schemas.openxmlformats.org/drawingml/2006/main">
              <a:ext uri="{FF2B5EF4-FFF2-40B4-BE49-F238E27FC236}">
                <a16:creationId xmlns:a16="http://schemas.microsoft.com/office/drawing/2014/main" id="{D7D053CF-D057-431D-A44A-37094A41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1430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Overworld
（地域条件）</a:t>
            </a:r>
          </a:p>
        </p:txBody>
      </p:sp>
      <p:sp>
        <p:nvSpPr>
          <p:cNvPr id="32" name="p9-cell-3-1">
            <a:extLst xmlns:a="http://schemas.openxmlformats.org/drawingml/2006/main">
              <a:ext uri="{FF2B5EF4-FFF2-40B4-BE49-F238E27FC236}">
                <a16:creationId xmlns:a16="http://schemas.microsoft.com/office/drawing/2014/main" id="{7E6F6B58-AA83-4621-A1D6-CBC08158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67250"/>
            <a:ext cx="90297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开放权重和本地运行有平台价值；
法律主体、长时一致性和采用未证</a:t>
            </a:r>
          </a:p>
        </p:txBody>
      </p:sp>
      <p:sp>
        <p:nvSpPr>
          <p:cNvPr id="33" name="p9-trigger-mark-3">
            <a:extLst xmlns:a="http://schemas.openxmlformats.org/drawingml/2006/main">
              <a:ext uri="{FF2B5EF4-FFF2-40B4-BE49-F238E27FC236}">
                <a16:creationId xmlns:a16="http://schemas.microsoft.com/office/drawing/2014/main" id="{831AEFC5-21F8-451B-8B00-13A013CF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34" name="p9-cell-3-2">
            <a:extLst xmlns:a="http://schemas.openxmlformats.org/drawingml/2006/main">
              <a:ext uri="{FF2B5EF4-FFF2-40B4-BE49-F238E27FC236}">
                <a16:creationId xmlns:a16="http://schemas.microsoft.com/office/drawing/2014/main" id="{3C40E6DC-4A3F-4585-8183-9797A851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67250"/>
            <a:ext cx="45529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法律实体闭合、长时交互独立验证、
具名采用</a:t>
            </a:r>
          </a:p>
        </p:txBody>
      </p:sp>
      <p:sp>
        <p:nvSpPr>
          <p:cNvPr id="35" name="p9-row-rule-3">
            <a:extLst xmlns:a="http://schemas.openxmlformats.org/drawingml/2006/main">
              <a:ext uri="{FF2B5EF4-FFF2-40B4-BE49-F238E27FC236}">
                <a16:creationId xmlns:a16="http://schemas.microsoft.com/office/drawing/2014/main" id="{3C92D8B9-9E4D-488E-BBA8-07AA04C6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6" name="p9-row-bg-4">
            <a:extLst xmlns:a="http://schemas.openxmlformats.org/drawingml/2006/main">
              <a:ext uri="{FF2B5EF4-FFF2-40B4-BE49-F238E27FC236}">
                <a16:creationId xmlns:a16="http://schemas.microsoft.com/office/drawing/2014/main" id="{80F90338-EF78-447E-856C-452DC01F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37" name="p9-name-bg-4">
            <a:extLst xmlns:a="http://schemas.openxmlformats.org/drawingml/2006/main">
              <a:ext uri="{FF2B5EF4-FFF2-40B4-BE49-F238E27FC236}">
                <a16:creationId xmlns:a16="http://schemas.microsoft.com/office/drawing/2014/main" id="{41E4DD69-4C5C-460A-AC98-56CBF0B6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6"/>
          </a:solidFill>
        </p:spPr>
      </p:sp>
      <p:sp>
        <p:nvSpPr>
          <p:cNvPr id="38" name="p9-cell-4-0">
            <a:extLst xmlns:a="http://schemas.openxmlformats.org/drawingml/2006/main">
              <a:ext uri="{FF2B5EF4-FFF2-40B4-BE49-F238E27FC236}">
                <a16:creationId xmlns:a16="http://schemas.microsoft.com/office/drawing/2014/main" id="{BEAACDAF-28E3-435C-B99F-16DB715F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14300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AMI Labs
（早期信号）</a:t>
            </a:r>
          </a:p>
        </p:txBody>
      </p:sp>
      <p:sp>
        <p:nvSpPr>
          <p:cNvPr id="39" name="p9-cell-4-1">
            <a:extLst xmlns:a="http://schemas.openxmlformats.org/drawingml/2006/main">
              <a:ext uri="{FF2B5EF4-FFF2-40B4-BE49-F238E27FC236}">
                <a16:creationId xmlns:a16="http://schemas.microsoft.com/office/drawing/2014/main" id="{63B7C0DE-0976-43EC-8098-4244CA25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81650"/>
            <a:ext cx="90297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非中国地域已闭合，但无可验证的自有模型、
论文、演示、权重、接口或评测</a:t>
            </a:r>
          </a:p>
        </p:txBody>
      </p:sp>
      <p:sp>
        <p:nvSpPr>
          <p:cNvPr id="40" name="p9-trigger-mark-4">
            <a:extLst xmlns:a="http://schemas.openxmlformats.org/drawingml/2006/main">
              <a:ext uri="{FF2B5EF4-FFF2-40B4-BE49-F238E27FC236}">
                <a16:creationId xmlns:a16="http://schemas.microsoft.com/office/drawing/2014/main" id="{BE442952-F842-4952-A20C-2AB5A227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007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8755"/>
          </a:solidFill>
        </p:spPr>
      </p:sp>
      <p:sp>
        <p:nvSpPr>
          <p:cNvPr id="41" name="p9-cell-4-2">
            <a:extLst xmlns:a="http://schemas.openxmlformats.org/drawingml/2006/main">
              <a:ext uri="{FF2B5EF4-FFF2-40B4-BE49-F238E27FC236}">
                <a16:creationId xmlns:a16="http://schemas.microsoft.com/office/drawing/2014/main" id="{D0EB5E86-8CCD-4890-ADCF-1F01D644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81650"/>
            <a:ext cx="45529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可审计的自有技术资产
与外部入口</a:t>
            </a:r>
          </a:p>
        </p:txBody>
      </p:sp>
      <p:sp>
        <p:nvSpPr>
          <p:cNvPr id="42" name="p9-row-rule-4">
            <a:extLst xmlns:a="http://schemas.openxmlformats.org/drawingml/2006/main">
              <a:ext uri="{FF2B5EF4-FFF2-40B4-BE49-F238E27FC236}">
                <a16:creationId xmlns:a16="http://schemas.microsoft.com/office/drawing/2014/main" id="{918F4A09-02ED-4995-A0CC-B24B0F50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3" name="p9-footer-rule">
            <a:extLst xmlns:a="http://schemas.openxmlformats.org/drawingml/2006/main">
              <a:ext uri="{FF2B5EF4-FFF2-40B4-BE49-F238E27FC236}">
                <a16:creationId xmlns:a16="http://schemas.microsoft.com/office/drawing/2014/main" id="{C2CF22D2-62AD-4E78-9463-0D85C186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4" name="p9-footer-source">
            <a:extLst xmlns:a="http://schemas.openxmlformats.org/drawingml/2006/main">
              <a:ext uri="{FF2B5EF4-FFF2-40B4-BE49-F238E27FC236}">
                <a16:creationId xmlns:a16="http://schemas.microsoft.com/office/drawing/2014/main" id="{BA0C4EE0-FCC0-4845-87F1-754015C9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来源：官方研究、产品、代码仓库、公司及地域资料</a:t>
            </a:r>
          </a:p>
        </p:txBody>
      </p:sp>
      <p:sp>
        <p:nvSpPr>
          <p:cNvPr id="45" name="p9-footer-page">
            <a:extLst xmlns:a="http://schemas.openxmlformats.org/drawingml/2006/main">
              <a:ext uri="{FF2B5EF4-FFF2-40B4-BE49-F238E27FC236}">
                <a16:creationId xmlns:a16="http://schemas.microsoft.com/office/drawing/2014/main" id="{B2336AAF-4F64-40B7-8086-C25F738D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09</a:t>
            </a:r>
          </a:p>
        </p:txBody>
      </p:sp>
    </p:spTree>
    <p:extLst>
      <p:ext uri="{BB962C8B-B14F-4D97-AF65-F5344CB8AC3E}">
        <p14:creationId xmlns:p14="http://schemas.microsoft.com/office/powerpoint/2010/main" val="7396026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10-eyebrow">
            <a:extLst xmlns:a="http://schemas.openxmlformats.org/drawingml/2006/main">
              <a:ext uri="{FF2B5EF4-FFF2-40B4-BE49-F238E27FC236}">
                <a16:creationId xmlns:a16="http://schemas.microsoft.com/office/drawing/2014/main" id="{BB9054CC-8515-4787-8B56-9C86A07C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1582400" cy="661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C56B4D"/>
                </a:solidFill>
                <a:latin typeface="Noto Sans SC"/>
                <a:ea typeface="Noto Sans SC"/>
                <a:cs typeface="Noto Sans SC"/>
              </a:defRPr>
            </a:pPr>
            <a:r>
              <a:t>MANIFOLD · NOW / LATER</a:t>
            </a:r>
          </a:p>
        </p:txBody>
      </p:sp>
      <p:sp>
        <p:nvSpPr>
          <p:cNvPr id="2" name="p10-title">
            <a:extLst xmlns:a="http://schemas.openxmlformats.org/drawingml/2006/main">
              <a:ext uri="{FF2B5EF4-FFF2-40B4-BE49-F238E27FC236}">
                <a16:creationId xmlns:a16="http://schemas.microsoft.com/office/drawing/2014/main" id="{62E0C640-9FA1-472B-9944-8C6B1077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582400" cy="638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 i="0">
                <a:solidFill>
                  <a:srgbClr val="24211E"/>
                </a:solidFill>
                <a:latin typeface="Noto Serif SC"/>
                <a:ea typeface="Noto Serif SC"/>
                <a:cs typeface="Noto Serif SC"/>
              </a:defRPr>
            </a:pPr>
            <a:r>
              <a:t>Manifold 现在先做三件事；
五类证据出现时再重审</a:t>
            </a:r>
          </a:p>
        </p:txBody>
      </p:sp>
      <p:sp>
        <p:nvSpPr>
          <p:cNvPr id="3" name="p10-subtitle">
            <a:extLst xmlns:a="http://schemas.openxmlformats.org/drawingml/2006/main">
              <a:ext uri="{FF2B5EF4-FFF2-40B4-BE49-F238E27FC236}">
                <a16:creationId xmlns:a16="http://schemas.microsoft.com/office/drawing/2014/main" id="{D8FDC8ED-CE40-4CFA-A7AD-3BE5E3FA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582400" cy="542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上半页是现在要做的事；下半页只保留未来触发重审的证据。</a:t>
            </a:r>
          </a:p>
        </p:txBody>
      </p:sp>
      <p:sp>
        <p:nvSpPr>
          <p:cNvPr id="4" name="p10-actions-bg">
            <a:extLst xmlns:a="http://schemas.openxmlformats.org/drawingml/2006/main">
              <a:ext uri="{FF2B5EF4-FFF2-40B4-BE49-F238E27FC236}">
                <a16:creationId xmlns:a16="http://schemas.microsoft.com/office/drawing/2014/main" id="{4F3C9371-2CE6-48A5-AF11-5A31BB0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</p:spPr>
      </p:sp>
      <p:sp>
        <p:nvSpPr>
          <p:cNvPr id="5" name="p10-action-num-0">
            <a:extLst xmlns:a="http://schemas.openxmlformats.org/drawingml/2006/main">
              <a:ext uri="{FF2B5EF4-FFF2-40B4-BE49-F238E27FC236}">
                <a16:creationId xmlns:a16="http://schemas.microsoft.com/office/drawing/2014/main" id="{8B7C5A2F-033D-49E0-AE20-B9403EE0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1353800" cy="474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56B4D"/>
                </a:solidFill>
                <a:latin typeface="Noto Serif SC"/>
                <a:ea typeface="Noto Serif SC"/>
                <a:cs typeface="Noto Serif SC"/>
              </a:defRPr>
            </a:pPr>
            <a:r>
              <a:t>01</a:t>
            </a:r>
          </a:p>
        </p:txBody>
      </p:sp>
      <p:sp>
        <p:nvSpPr>
          <p:cNvPr id="6" name="p10-action-title-0">
            <a:extLst xmlns:a="http://schemas.openxmlformats.org/drawingml/2006/main">
              <a:ext uri="{FF2B5EF4-FFF2-40B4-BE49-F238E27FC236}">
                <a16:creationId xmlns:a16="http://schemas.microsoft.com/office/drawing/2014/main" id="{828D8405-0105-4C46-8733-8C49B67B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13538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定义标准交付单元</a:t>
            </a:r>
          </a:p>
        </p:txBody>
      </p:sp>
      <p:sp>
        <p:nvSpPr>
          <p:cNvPr id="7" name="p10-action-body-0">
            <a:extLst xmlns:a="http://schemas.openxmlformats.org/drawingml/2006/main">
              <a:ext uri="{FF2B5EF4-FFF2-40B4-BE49-F238E27FC236}">
                <a16:creationId xmlns:a16="http://schemas.microsoft.com/office/drawing/2014/main" id="{CBCF2F98-0312-409F-811E-9EA82429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13538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明确模型、接口、部署服务
和联合项目分别交付什么；
哪些层自有，哪些层集成或采购。</a:t>
            </a:r>
          </a:p>
        </p:txBody>
      </p:sp>
      <p:sp>
        <p:nvSpPr>
          <p:cNvPr id="8" name="p10-action-v-0">
            <a:extLst xmlns:a="http://schemas.openxmlformats.org/drawingml/2006/main">
              <a:ext uri="{FF2B5EF4-FFF2-40B4-BE49-F238E27FC236}">
                <a16:creationId xmlns:a16="http://schemas.microsoft.com/office/drawing/2014/main" id="{A7EFA53E-ECAE-45EC-BA2F-00C1BFBC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1455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9" name="p10-action-num-1">
            <a:extLst xmlns:a="http://schemas.openxmlformats.org/drawingml/2006/main">
              <a:ext uri="{FF2B5EF4-FFF2-40B4-BE49-F238E27FC236}">
                <a16:creationId xmlns:a16="http://schemas.microsoft.com/office/drawing/2014/main" id="{B0219217-A63A-48BD-BFFF-089471FC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7772400" cy="474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56B4D"/>
                </a:solidFill>
                <a:latin typeface="Noto Serif SC"/>
                <a:ea typeface="Noto Serif SC"/>
                <a:cs typeface="Noto Serif SC"/>
              </a:defRPr>
            </a:pPr>
            <a:r>
              <a:t>02</a:t>
            </a:r>
          </a:p>
        </p:txBody>
      </p:sp>
      <p:sp>
        <p:nvSpPr>
          <p:cNvPr id="10" name="p10-action-title-1">
            <a:extLst xmlns:a="http://schemas.openxmlformats.org/drawingml/2006/main">
              <a:ext uri="{FF2B5EF4-FFF2-40B4-BE49-F238E27FC236}">
                <a16:creationId xmlns:a16="http://schemas.microsoft.com/office/drawing/2014/main" id="{A8DA80B6-0000-4FAC-B582-8A867A92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77724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建立共同验证资产</a:t>
            </a:r>
          </a:p>
        </p:txBody>
      </p:sp>
      <p:sp>
        <p:nvSpPr>
          <p:cNvPr id="11" name="p10-action-body-1">
            <a:extLst xmlns:a="http://schemas.openxmlformats.org/drawingml/2006/main">
              <a:ext uri="{FF2B5EF4-FFF2-40B4-BE49-F238E27FC236}">
                <a16:creationId xmlns:a16="http://schemas.microsoft.com/office/drawing/2014/main" id="{D656424F-9852-4F7F-AA5F-49F2B67D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77724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把动作忠实度、持久状态、
几何 / 碰撞、失败率、延迟和 TCO
固化成验证协议，并保留负面结果。</a:t>
            </a:r>
          </a:p>
        </p:txBody>
      </p:sp>
      <p:sp>
        <p:nvSpPr>
          <p:cNvPr id="12" name="p10-action-v-1">
            <a:extLst xmlns:a="http://schemas.openxmlformats.org/drawingml/2006/main">
              <a:ext uri="{FF2B5EF4-FFF2-40B4-BE49-F238E27FC236}">
                <a16:creationId xmlns:a16="http://schemas.microsoft.com/office/drawing/2014/main" id="{09170925-873C-429D-9E9B-2C9A063F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13" name="p10-action-num-2">
            <a:extLst xmlns:a="http://schemas.openxmlformats.org/drawingml/2006/main">
              <a:ext uri="{FF2B5EF4-FFF2-40B4-BE49-F238E27FC236}">
                <a16:creationId xmlns:a16="http://schemas.microsoft.com/office/drawing/2014/main" id="{F0136468-394F-432A-B8F9-9326562B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4191000" cy="474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56B4D"/>
                </a:solidFill>
                <a:latin typeface="Noto Serif SC"/>
                <a:ea typeface="Noto Serif SC"/>
                <a:cs typeface="Noto Serif SC"/>
              </a:defRPr>
            </a:pPr>
            <a:r>
              <a:t>03</a:t>
            </a:r>
          </a:p>
        </p:txBody>
      </p:sp>
      <p:sp>
        <p:nvSpPr>
          <p:cNvPr id="14" name="p10-action-title-2">
            <a:extLst xmlns:a="http://schemas.openxmlformats.org/drawingml/2006/main">
              <a:ext uri="{FF2B5EF4-FFF2-40B4-BE49-F238E27FC236}">
                <a16:creationId xmlns:a16="http://schemas.microsoft.com/office/drawing/2014/main" id="{E6308934-5BFA-4A53-9CCF-6548962B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41910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锁定关键权利边界</a:t>
            </a:r>
          </a:p>
        </p:txBody>
      </p:sp>
      <p:sp>
        <p:nvSpPr>
          <p:cNvPr id="15" name="p10-action-body-2">
            <a:extLst xmlns:a="http://schemas.openxmlformats.org/drawingml/2006/main">
              <a:ext uri="{FF2B5EF4-FFF2-40B4-BE49-F238E27FC236}">
                <a16:creationId xmlns:a16="http://schemas.microsoft.com/office/drawing/2014/main" id="{93071433-D8CF-462D-93AE-A117D0E4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4191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合同先写清输入 / 输出数据权、
模型改进权、部署范围
和再分发规则。</a:t>
            </a:r>
          </a:p>
        </p:txBody>
      </p:sp>
      <p:sp>
        <p:nvSpPr>
          <p:cNvPr id="16" name="p10-trigger-kicker">
            <a:extLst xmlns:a="http://schemas.openxmlformats.org/drawingml/2006/main">
              <a:ext uri="{FF2B5EF4-FFF2-40B4-BE49-F238E27FC236}">
                <a16:creationId xmlns:a16="http://schemas.microsoft.com/office/drawing/2014/main" id="{62E4593C-7C6A-4900-AFFD-8DF960B1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1582400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未来出现什么证据时重审</a:t>
            </a:r>
          </a:p>
        </p:txBody>
      </p:sp>
      <p:sp>
        <p:nvSpPr>
          <p:cNvPr id="17" name="p10-trigger-heading-rule">
            <a:extLst xmlns:a="http://schemas.openxmlformats.org/drawingml/2006/main">
              <a:ext uri="{FF2B5EF4-FFF2-40B4-BE49-F238E27FC236}">
                <a16:creationId xmlns:a16="http://schemas.microsoft.com/office/drawing/2014/main" id="{96B73686-020E-4B9F-B4CC-B5F1E1FF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1007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A"/>
          </a:solidFill>
        </p:spPr>
      </p:sp>
      <p:sp>
        <p:nvSpPr>
          <p:cNvPr id="18" name="p10-triggers-bg">
            <a:extLst xmlns:a="http://schemas.openxmlformats.org/drawingml/2006/main">
              <a:ext uri="{FF2B5EF4-FFF2-40B4-BE49-F238E27FC236}">
                <a16:creationId xmlns:a16="http://schemas.microsoft.com/office/drawing/2014/main" id="{DA254170-D7FE-4921-92DE-A9A8717E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4"/>
          </a:solidFill>
        </p:spPr>
      </p:sp>
      <p:sp>
        <p:nvSpPr>
          <p:cNvPr id="19" name="p10-trigger-mark-0">
            <a:extLst xmlns:a="http://schemas.openxmlformats.org/drawingml/2006/main">
              <a:ext uri="{FF2B5EF4-FFF2-40B4-BE49-F238E27FC236}">
                <a16:creationId xmlns:a16="http://schemas.microsoft.com/office/drawing/2014/main" id="{46DFEB63-321E-438C-869E-559CEAF5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20" name="p10-trigger-title-0">
            <a:extLst xmlns:a="http://schemas.openxmlformats.org/drawingml/2006/main">
              <a:ext uri="{FF2B5EF4-FFF2-40B4-BE49-F238E27FC236}">
                <a16:creationId xmlns:a16="http://schemas.microsoft.com/office/drawing/2014/main" id="{C5D320BA-D6B7-48AC-8AE1-0178DDDF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14300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稳定接口</a:t>
            </a:r>
          </a:p>
        </p:txBody>
      </p:sp>
      <p:sp>
        <p:nvSpPr>
          <p:cNvPr id="21" name="p10-trigger-event-0">
            <a:extLst xmlns:a="http://schemas.openxmlformats.org/drawingml/2006/main">
              <a:ext uri="{FF2B5EF4-FFF2-40B4-BE49-F238E27FC236}">
                <a16:creationId xmlns:a16="http://schemas.microsoft.com/office/drawing/2014/main" id="{068B8255-041B-4EA3-9C6C-5F50B29D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1430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持续调用；
价格与服务等级公开</a:t>
            </a:r>
          </a:p>
        </p:txBody>
      </p:sp>
      <p:sp>
        <p:nvSpPr>
          <p:cNvPr id="22" name="p10-trigger-use-0">
            <a:extLst xmlns:a="http://schemas.openxmlformats.org/drawingml/2006/main">
              <a:ext uri="{FF2B5EF4-FFF2-40B4-BE49-F238E27FC236}">
                <a16:creationId xmlns:a16="http://schemas.microsoft.com/office/drawing/2014/main" id="{BF121415-0589-4986-8347-7C2A010F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14300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重审产品 / 平台
替代关系</a:t>
            </a:r>
          </a:p>
        </p:txBody>
      </p:sp>
      <p:sp>
        <p:nvSpPr>
          <p:cNvPr id="23" name="p10-trigger-v-0">
            <a:extLst xmlns:a="http://schemas.openxmlformats.org/drawingml/2006/main">
              <a:ext uri="{FF2B5EF4-FFF2-40B4-BE49-F238E27FC236}">
                <a16:creationId xmlns:a16="http://schemas.microsoft.com/office/drawing/2014/main" id="{CACF7D30-1B13-44E1-A872-CD551D3C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47815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4" name="p10-trigger-mark-1">
            <a:extLst xmlns:a="http://schemas.openxmlformats.org/drawingml/2006/main">
              <a:ext uri="{FF2B5EF4-FFF2-40B4-BE49-F238E27FC236}">
                <a16:creationId xmlns:a16="http://schemas.microsoft.com/office/drawing/2014/main" id="{FD00397F-2B83-42CF-BD81-A7377B7E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7A"/>
          </a:solidFill>
        </p:spPr>
      </p:sp>
      <p:sp>
        <p:nvSpPr>
          <p:cNvPr id="25" name="p10-trigger-title-1">
            <a:extLst xmlns:a="http://schemas.openxmlformats.org/drawingml/2006/main">
              <a:ext uri="{FF2B5EF4-FFF2-40B4-BE49-F238E27FC236}">
                <a16:creationId xmlns:a16="http://schemas.microsoft.com/office/drawing/2014/main" id="{DCD31A8B-ED32-40D4-A8B4-F445A7BC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4914900"/>
            <a:ext cx="920496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独立复现</a:t>
            </a:r>
          </a:p>
        </p:txBody>
      </p:sp>
      <p:sp>
        <p:nvSpPr>
          <p:cNvPr id="26" name="p10-trigger-event-1">
            <a:extLst xmlns:a="http://schemas.openxmlformats.org/drawingml/2006/main">
              <a:ext uri="{FF2B5EF4-FFF2-40B4-BE49-F238E27FC236}">
                <a16:creationId xmlns:a16="http://schemas.microsoft.com/office/drawing/2014/main" id="{16731F24-3CCC-4B25-AF84-73063629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5238750"/>
            <a:ext cx="920496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同一或可比协议下
复现关键结果</a:t>
            </a:r>
          </a:p>
        </p:txBody>
      </p:sp>
      <p:sp>
        <p:nvSpPr>
          <p:cNvPr id="27" name="p10-trigger-use-1">
            <a:extLst xmlns:a="http://schemas.openxmlformats.org/drawingml/2006/main">
              <a:ext uri="{FF2B5EF4-FFF2-40B4-BE49-F238E27FC236}">
                <a16:creationId xmlns:a16="http://schemas.microsoft.com/office/drawing/2014/main" id="{E06EA0E2-2226-4501-BB71-C7EB8DAA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5772150"/>
            <a:ext cx="920496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重审技术证据
成熟度</a:t>
            </a:r>
          </a:p>
        </p:txBody>
      </p:sp>
      <p:sp>
        <p:nvSpPr>
          <p:cNvPr id="28" name="p10-trigger-v-1">
            <a:extLst xmlns:a="http://schemas.openxmlformats.org/drawingml/2006/main">
              <a:ext uri="{FF2B5EF4-FFF2-40B4-BE49-F238E27FC236}">
                <a16:creationId xmlns:a16="http://schemas.microsoft.com/office/drawing/2014/main" id="{B22CB0DD-E661-42D5-A329-D76D8E69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7815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29" name="p10-trigger-mark-2">
            <a:extLst xmlns:a="http://schemas.openxmlformats.org/drawingml/2006/main">
              <a:ext uri="{FF2B5EF4-FFF2-40B4-BE49-F238E27FC236}">
                <a16:creationId xmlns:a16="http://schemas.microsoft.com/office/drawing/2014/main" id="{09C42155-813C-4E21-B64B-E7CB9307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30" name="p10-trigger-title-2">
            <a:extLst xmlns:a="http://schemas.openxmlformats.org/drawingml/2006/main">
              <a:ext uri="{FF2B5EF4-FFF2-40B4-BE49-F238E27FC236}">
                <a16:creationId xmlns:a16="http://schemas.microsoft.com/office/drawing/2014/main" id="{68F9B604-8952-4B45-986A-16180AB0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914900"/>
            <a:ext cx="697992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正式商用闭合</a:t>
            </a:r>
          </a:p>
        </p:txBody>
      </p:sp>
      <p:sp>
        <p:nvSpPr>
          <p:cNvPr id="31" name="p10-trigger-event-2">
            <a:extLst xmlns:a="http://schemas.openxmlformats.org/drawingml/2006/main">
              <a:ext uri="{FF2B5EF4-FFF2-40B4-BE49-F238E27FC236}">
                <a16:creationId xmlns:a16="http://schemas.microsoft.com/office/drawing/2014/main" id="{7BE2E2A4-D000-47BA-AC35-C5CE2560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238750"/>
            <a:ext cx="697992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许可、服务等级和
责任边界闭合</a:t>
            </a:r>
          </a:p>
        </p:txBody>
      </p:sp>
      <p:sp>
        <p:nvSpPr>
          <p:cNvPr id="32" name="p10-trigger-use-2">
            <a:extLst xmlns:a="http://schemas.openxmlformats.org/drawingml/2006/main">
              <a:ext uri="{FF2B5EF4-FFF2-40B4-BE49-F238E27FC236}">
                <a16:creationId xmlns:a16="http://schemas.microsoft.com/office/drawing/2014/main" id="{0570DA7F-CBC3-414F-BC55-A1D7A2FA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772150"/>
            <a:ext cx="697992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重审采购与
部署可行性</a:t>
            </a:r>
          </a:p>
        </p:txBody>
      </p:sp>
      <p:sp>
        <p:nvSpPr>
          <p:cNvPr id="33" name="p10-trigger-v-2">
            <a:extLst xmlns:a="http://schemas.openxmlformats.org/drawingml/2006/main">
              <a:ext uri="{FF2B5EF4-FFF2-40B4-BE49-F238E27FC236}">
                <a16:creationId xmlns:a16="http://schemas.microsoft.com/office/drawing/2014/main" id="{0DACA778-CAD3-42C1-A597-58590C86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47815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4" name="p10-trigger-mark-3">
            <a:extLst xmlns:a="http://schemas.openxmlformats.org/drawingml/2006/main">
              <a:ext uri="{FF2B5EF4-FFF2-40B4-BE49-F238E27FC236}">
                <a16:creationId xmlns:a16="http://schemas.microsoft.com/office/drawing/2014/main" id="{B0520602-5E82-482E-89CA-504F0659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4D"/>
          </a:solidFill>
        </p:spPr>
      </p:sp>
      <p:sp>
        <p:nvSpPr>
          <p:cNvPr id="35" name="p10-trigger-title-3">
            <a:extLst xmlns:a="http://schemas.openxmlformats.org/drawingml/2006/main">
              <a:ext uri="{FF2B5EF4-FFF2-40B4-BE49-F238E27FC236}">
                <a16:creationId xmlns:a16="http://schemas.microsoft.com/office/drawing/2014/main" id="{2DCE18F1-B1BB-460C-B576-DFDD2E7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914900"/>
            <a:ext cx="475488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客户第一方采用</a:t>
            </a:r>
          </a:p>
        </p:txBody>
      </p:sp>
      <p:sp>
        <p:nvSpPr>
          <p:cNvPr id="36" name="p10-trigger-event-3">
            <a:extLst xmlns:a="http://schemas.openxmlformats.org/drawingml/2006/main">
              <a:ext uri="{FF2B5EF4-FFF2-40B4-BE49-F238E27FC236}">
                <a16:creationId xmlns:a16="http://schemas.microsoft.com/office/drawing/2014/main" id="{1BE39AA7-F833-41E7-AE34-56EFC5CD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5238750"/>
            <a:ext cx="475488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具名客户确认
付费生产部署或续约</a:t>
            </a:r>
          </a:p>
        </p:txBody>
      </p:sp>
      <p:sp>
        <p:nvSpPr>
          <p:cNvPr id="37" name="p10-trigger-use-3">
            <a:extLst xmlns:a="http://schemas.openxmlformats.org/drawingml/2006/main">
              <a:ext uri="{FF2B5EF4-FFF2-40B4-BE49-F238E27FC236}">
                <a16:creationId xmlns:a16="http://schemas.microsoft.com/office/drawing/2014/main" id="{41433D45-4701-40EC-9DDF-7A41452C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5772150"/>
            <a:ext cx="475488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重审商业采用
与竞争关系</a:t>
            </a:r>
          </a:p>
        </p:txBody>
      </p:sp>
      <p:sp>
        <p:nvSpPr>
          <p:cNvPr id="38" name="p10-trigger-v-3">
            <a:extLst xmlns:a="http://schemas.openxmlformats.org/drawingml/2006/main">
              <a:ext uri="{FF2B5EF4-FFF2-40B4-BE49-F238E27FC236}">
                <a16:creationId xmlns:a16="http://schemas.microsoft.com/office/drawing/2014/main" id="{7EB0DC52-B274-4454-B165-24C365BE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47815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39" name="p10-trigger-mark-4">
            <a:extLst xmlns:a="http://schemas.openxmlformats.org/drawingml/2006/main">
              <a:ext uri="{FF2B5EF4-FFF2-40B4-BE49-F238E27FC236}">
                <a16:creationId xmlns:a16="http://schemas.microsoft.com/office/drawing/2014/main" id="{FE35B55D-50CC-4DE2-9D90-CC1F52BA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47815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F82"/>
          </a:solidFill>
        </p:spPr>
      </p:sp>
      <p:sp>
        <p:nvSpPr>
          <p:cNvPr id="40" name="p10-trigger-title-4">
            <a:extLst xmlns:a="http://schemas.openxmlformats.org/drawingml/2006/main">
              <a:ext uri="{FF2B5EF4-FFF2-40B4-BE49-F238E27FC236}">
                <a16:creationId xmlns:a16="http://schemas.microsoft.com/office/drawing/2014/main" id="{B3E3F278-EEE9-4B44-8707-4DAD948B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4914900"/>
            <a:ext cx="252984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稳定动作产品</a:t>
            </a:r>
          </a:p>
        </p:txBody>
      </p:sp>
      <p:sp>
        <p:nvSpPr>
          <p:cNvPr id="41" name="p10-trigger-event-4">
            <a:extLst xmlns:a="http://schemas.openxmlformats.org/drawingml/2006/main">
              <a:ext uri="{FF2B5EF4-FFF2-40B4-BE49-F238E27FC236}">
                <a16:creationId xmlns:a16="http://schemas.microsoft.com/office/drawing/2014/main" id="{0F027507-215F-4E34-9B4F-8BFFC843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5238750"/>
            <a:ext cx="252984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24211E"/>
                </a:solidFill>
                <a:latin typeface="Noto Sans SC"/>
                <a:ea typeface="Noto Sans SC"/>
                <a:cs typeface="Noto Sans SC"/>
              </a:defRPr>
            </a:pPr>
            <a:r>
              <a:t>动作运行时 / NIM
正式发布并获验证</a:t>
            </a:r>
          </a:p>
        </p:txBody>
      </p:sp>
      <p:sp>
        <p:nvSpPr>
          <p:cNvPr id="42" name="p10-trigger-use-4">
            <a:extLst xmlns:a="http://schemas.openxmlformats.org/drawingml/2006/main">
              <a:ext uri="{FF2B5EF4-FFF2-40B4-BE49-F238E27FC236}">
                <a16:creationId xmlns:a16="http://schemas.microsoft.com/office/drawing/2014/main" id="{273DB72B-225B-46EB-8137-48A974FF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5772150"/>
            <a:ext cx="252984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重审自托管
绕行风险</a:t>
            </a:r>
          </a:p>
        </p:txBody>
      </p:sp>
      <p:sp>
        <p:nvSpPr>
          <p:cNvPr id="43" name="p10-footer-rule">
            <a:extLst xmlns:a="http://schemas.openxmlformats.org/drawingml/2006/main">
              <a:ext uri="{FF2B5EF4-FFF2-40B4-BE49-F238E27FC236}">
                <a16:creationId xmlns:a16="http://schemas.microsoft.com/office/drawing/2014/main" id="{9DA24981-8176-4AA7-837F-B934B82E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6"/>
          </a:solidFill>
        </p:spPr>
      </p:sp>
      <p:sp>
        <p:nvSpPr>
          <p:cNvPr id="44" name="p10-footer-source">
            <a:extLst xmlns:a="http://schemas.openxmlformats.org/drawingml/2006/main">
              <a:ext uri="{FF2B5EF4-FFF2-40B4-BE49-F238E27FC236}">
                <a16:creationId xmlns:a16="http://schemas.microsoft.com/office/drawing/2014/main" id="{BFAAB9FE-31FB-478E-8AA6-64A55933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58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跨页综合：官方条款、开发者和技术资料；公司/伙伴自报及独立体验</a:t>
            </a:r>
          </a:p>
        </p:txBody>
      </p:sp>
      <p:sp>
        <p:nvSpPr>
          <p:cNvPr id="45" name="p10-footer-page">
            <a:extLst xmlns:a="http://schemas.openxmlformats.org/drawingml/2006/main">
              <a:ext uri="{FF2B5EF4-FFF2-40B4-BE49-F238E27FC236}">
                <a16:creationId xmlns:a16="http://schemas.microsoft.com/office/drawing/2014/main" id="{385D4A2C-22CB-44AA-AEA0-4BCF60ED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6E6861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  ·  10</a:t>
            </a:r>
          </a:p>
        </p:txBody>
      </p:sp>
    </p:spTree>
    <p:extLst>
      <p:ext uri="{BB962C8B-B14F-4D97-AF65-F5344CB8AC3E}">
        <p14:creationId xmlns:p14="http://schemas.microsoft.com/office/powerpoint/2010/main" val="470829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2026-07-15T12:26:52.2280000Z</dcterms:created>
  <dcterms:modified xsi:type="dcterms:W3CDTF">2026-07-15T12:26:52.2280000Z</dcterms:modified>
</coreProperties>
</file>